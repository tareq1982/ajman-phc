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Jan–Aug Avg %</c:v>
                </c:pt>
              </c:strCache>
            </c:strRef>
          </c:tx>
          <c:spPr>
            <a:solidFill>
              <a:srgbClr val="325277"/>
            </a:solidFill>
          </c:spPr>
          <c:dLbls>
            <c:numFmt formatCode="0.0&quot;%&quot;" sourceLinked="0"/>
            <c:txPr>
              <a:bodyPr/>
              <a:lstStyle/>
              <a:p>
                <a:pPr>
                  <a:defRPr sz="1100">
                    <a:solidFill>
                      <a:srgbClr val="FFFFFF"/>
                    </a:solidFill>
                  </a:defRPr>
                </a:pPr>
              </a:p>
            </c:txPr>
            <c:dLblPos val="inEnd"/>
            <c:showLegendKey val="0"/>
            <c:showVal val="0"/>
            <c:showCatName val="0"/>
            <c:showSerName val="0"/>
            <c:showPercent val="0"/>
            <c:showBubbleSize val="0"/>
            <c:showLeaderLines val="1"/>
          </c:dLbls>
          <c:cat>
            <c:strRef>
              <c:f>Sheet1!$A$2:$A$6</c:f>
              <c:strCache>
                <c:ptCount val="5"/>
                <c:pt idx="0">
                  <c:v>Al Muzeirah</c:v>
                </c:pt>
                <c:pt idx="1">
                  <c:v>Al Manama</c:v>
                </c:pt>
                <c:pt idx="2">
                  <c:v>Mushairef</c:v>
                </c:pt>
                <c:pt idx="3">
                  <c:v>Al Madina</c:v>
                </c:pt>
                <c:pt idx="4">
                  <c:v>Al Hamidiya</c:v>
                </c:pt>
              </c:strCache>
            </c:strRef>
          </c:cat>
          <c:val>
            <c:numRef>
              <c:f>Sheet1!$B$2:$B$6</c:f>
              <c:numCache>
                <c:formatCode>General</c:formatCode>
                <c:ptCount val="5"/>
                <c:pt idx="0">
                  <c:v>25.8</c:v>
                </c:pt>
                <c:pt idx="1">
                  <c:v>38.7</c:v>
                </c:pt>
                <c:pt idx="2">
                  <c:v>40.8</c:v>
                </c:pt>
                <c:pt idx="3">
                  <c:v>41.8</c:v>
                </c:pt>
                <c:pt idx="4">
                  <c:v>55.2</c:v>
                </c:pt>
              </c:numCache>
            </c:numRef>
          </c:val>
        </c:ser>
        <c:gapWidth val="80"/>
        <c:axId val="-2068027336"/>
        <c:axId val="-2113994440"/>
      </c:barChart>
      <c:catAx>
        <c:axId val="-2068027336"/>
        <c:scaling>
          <c:orientation val="minMax"/>
        </c:scaling>
        <c:delete val="0"/>
        <c:axPos val="l"/>
        <c:majorTickMark val="out"/>
        <c:minorTickMark val="none"/>
        <c:tickLblPos val="nextTo"/>
        <c:txPr>
          <a:bodyPr/>
          <a:lstStyle/>
          <a:p>
            <a:pPr>
              <a:defRPr sz="1100">
                <a:solidFill>
                  <a:srgbClr val="595959"/>
                </a:solidFill>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Staff Nurse / Midwife</c:v>
                </c:pt>
              </c:strCache>
            </c:strRef>
          </c:tx>
          <c:spPr>
            <a:solidFill>
              <a:srgbClr val="325277"/>
            </a:solidFill>
          </c:spPr>
          <c:cat>
            <c:strRef>
              <c:f>Sheet1!$A$2:$A$6</c:f>
              <c:strCache>
                <c:ptCount val="5"/>
                <c:pt idx="0">
                  <c:v>Mushairef</c:v>
                </c:pt>
                <c:pt idx="1">
                  <c:v>Al Madina</c:v>
                </c:pt>
                <c:pt idx="2">
                  <c:v>Al Hamidiya</c:v>
                </c:pt>
                <c:pt idx="3">
                  <c:v>Al Manama</c:v>
                </c:pt>
                <c:pt idx="4">
                  <c:v>Al Muzeirah</c:v>
                </c:pt>
              </c:strCache>
            </c:strRef>
          </c:cat>
          <c:val>
            <c:numRef>
              <c:f>Sheet1!$B$2:$B$6</c:f>
              <c:numCache>
                <c:formatCode>General</c:formatCode>
                <c:ptCount val="5"/>
                <c:pt idx="0">
                  <c:v>11.0</c:v>
                </c:pt>
                <c:pt idx="1">
                  <c:v>9.0</c:v>
                </c:pt>
                <c:pt idx="2">
                  <c:v>8.0</c:v>
                </c:pt>
                <c:pt idx="3">
                  <c:v>3.0</c:v>
                </c:pt>
                <c:pt idx="4">
                  <c:v>0.0</c:v>
                </c:pt>
              </c:numCache>
            </c:numRef>
          </c:val>
        </c:ser>
        <c:ser>
          <c:idx val="1"/>
          <c:order val="1"/>
          <c:tx>
            <c:strRef>
              <c:f>Sheet1!$C$1</c:f>
              <c:strCache>
                <c:ptCount val="1"/>
                <c:pt idx="0">
                  <c:v>Charge Nurse / UM</c:v>
                </c:pt>
              </c:strCache>
            </c:strRef>
          </c:tx>
          <c:spPr>
            <a:solidFill>
              <a:srgbClr val="A9B4C6"/>
            </a:solidFill>
          </c:spPr>
          <c:cat>
            <c:strRef>
              <c:f>Sheet1!$A$2:$A$6</c:f>
              <c:strCache>
                <c:ptCount val="5"/>
                <c:pt idx="0">
                  <c:v>Mushairef</c:v>
                </c:pt>
                <c:pt idx="1">
                  <c:v>Al Madina</c:v>
                </c:pt>
                <c:pt idx="2">
                  <c:v>Al Hamidiya</c:v>
                </c:pt>
                <c:pt idx="3">
                  <c:v>Al Manama</c:v>
                </c:pt>
                <c:pt idx="4">
                  <c:v>Al Muzeirah</c:v>
                </c:pt>
              </c:strCache>
            </c:strRef>
          </c:cat>
          <c:val>
            <c:numRef>
              <c:f>Sheet1!$C$2:$C$6</c:f>
              <c:numCache>
                <c:formatCode>General</c:formatCode>
                <c:ptCount val="5"/>
                <c:pt idx="0">
                  <c:v>2.0</c:v>
                </c:pt>
                <c:pt idx="1">
                  <c:v>3.0</c:v>
                </c:pt>
                <c:pt idx="2">
                  <c:v>4.0</c:v>
                </c:pt>
                <c:pt idx="3">
                  <c:v>1.0</c:v>
                </c:pt>
                <c:pt idx="4">
                  <c:v>1.0</c:v>
                </c:pt>
              </c:numCache>
            </c:numRef>
          </c:val>
        </c:ser>
        <c:ser>
          <c:idx val="2"/>
          <c:order val="2"/>
          <c:tx>
            <c:strRef>
              <c:f>Sheet1!$D$1</c:f>
              <c:strCache>
                <c:ptCount val="1"/>
                <c:pt idx="0">
                  <c:v>Assistant Nurse</c:v>
                </c:pt>
              </c:strCache>
            </c:strRef>
          </c:tx>
          <c:spPr>
            <a:solidFill>
              <a:srgbClr val="B7791F"/>
            </a:solidFill>
          </c:spPr>
          <c:cat>
            <c:strRef>
              <c:f>Sheet1!$A$2:$A$6</c:f>
              <c:strCache>
                <c:ptCount val="5"/>
                <c:pt idx="0">
                  <c:v>Mushairef</c:v>
                </c:pt>
                <c:pt idx="1">
                  <c:v>Al Madina</c:v>
                </c:pt>
                <c:pt idx="2">
                  <c:v>Al Hamidiya</c:v>
                </c:pt>
                <c:pt idx="3">
                  <c:v>Al Manama</c:v>
                </c:pt>
                <c:pt idx="4">
                  <c:v>Al Muzeirah</c:v>
                </c:pt>
              </c:strCache>
            </c:strRef>
          </c:cat>
          <c:val>
            <c:numRef>
              <c:f>Sheet1!$D$2:$D$6</c:f>
              <c:numCache>
                <c:formatCode>General</c:formatCode>
                <c:ptCount val="5"/>
                <c:pt idx="0">
                  <c:v>2.0</c:v>
                </c:pt>
                <c:pt idx="1">
                  <c:v>2.0</c:v>
                </c:pt>
                <c:pt idx="2">
                  <c:v>1.0</c:v>
                </c:pt>
                <c:pt idx="3">
                  <c:v>2.0</c:v>
                </c:pt>
                <c:pt idx="4">
                  <c:v>1.0</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95959"/>
                </a:solidFill>
                <a:latin typeface="Aria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595959"/>
                </a:solidFill>
                <a:latin typeface="Arial"/>
              </a:defRPr>
            </a:pPr>
          </a:p>
        </c:txPr>
        <c:crossAx val="-2068027336"/>
        <c:crosses val="autoZero"/>
      </c:valAx>
    </c:plotArea>
    <c:legend>
      <c:legendPos val="b"/>
      <c:txPr>
        <a:bodyPr/>
        <a:lstStyle/>
        <a:p>
          <a:pPr>
            <a:defRPr sz="1000">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Jan–Aug 2026 Avg %</c:v>
                </c:pt>
              </c:strCache>
            </c:strRef>
          </c:tx>
          <c:spPr>
            <a:solidFill>
              <a:srgbClr val="325277"/>
            </a:solidFill>
          </c:spPr>
          <c:dLbls>
            <c:numFmt formatCode="0.0&quot;%&quot;" sourceLinked="0"/>
            <c:txPr>
              <a:bodyPr/>
              <a:lstStyle/>
              <a:p>
                <a:pPr>
                  <a:defRPr sz="900">
                    <a:solidFill>
                      <a:srgbClr val="595959"/>
                    </a:solidFill>
                  </a:defRPr>
                </a:pPr>
              </a:p>
            </c:txPr>
            <c:dLblPos val="outEnd"/>
            <c:showLegendKey val="0"/>
            <c:showVal val="0"/>
            <c:showCatName val="0"/>
            <c:showSerName val="0"/>
            <c:showPercent val="0"/>
            <c:showBubbleSize val="0"/>
            <c:showLeaderLines val="1"/>
          </c:dLbls>
          <c:cat>
            <c:strRef>
              <c:f>Sheet1!$A$2:$A$10</c:f>
              <c:strCache>
                <c:ptCount val="9"/>
                <c:pt idx="0">
                  <c:v>Al Muzeirah</c:v>
                </c:pt>
                <c:pt idx="1">
                  <c:v>Ajman PHS</c:v>
                </c:pt>
                <c:pt idx="2">
                  <c:v>Al Manama</c:v>
                </c:pt>
                <c:pt idx="3">
                  <c:v>Mushairef</c:v>
                </c:pt>
                <c:pt idx="4">
                  <c:v>Al Madina</c:v>
                </c:pt>
                <c:pt idx="5">
                  <c:v>Al Hamidiya</c:v>
                </c:pt>
                <c:pt idx="6">
                  <c:v>MFC Nuaimiya</c:v>
                </c:pt>
                <c:pt idx="7">
                  <c:v>MFC PHS</c:v>
                </c:pt>
                <c:pt idx="8">
                  <c:v>MFC Mushrif</c:v>
                </c:pt>
              </c:strCache>
            </c:strRef>
          </c:cat>
          <c:val>
            <c:numRef>
              <c:f>Sheet1!$B$2:$B$10</c:f>
              <c:numCache>
                <c:formatCode>General</c:formatCode>
                <c:ptCount val="9"/>
                <c:pt idx="0">
                  <c:v>25.8</c:v>
                </c:pt>
                <c:pt idx="1">
                  <c:v>27.2</c:v>
                </c:pt>
                <c:pt idx="2">
                  <c:v>38.7</c:v>
                </c:pt>
                <c:pt idx="3">
                  <c:v>40.8</c:v>
                </c:pt>
                <c:pt idx="4">
                  <c:v>41.8</c:v>
                </c:pt>
                <c:pt idx="5">
                  <c:v>55.2</c:v>
                </c:pt>
                <c:pt idx="6">
                  <c:v>98.6</c:v>
                </c:pt>
                <c:pt idx="7">
                  <c:v>103.8</c:v>
                </c:pt>
                <c:pt idx="8">
                  <c:v>120.8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595959"/>
                </a:solidFill>
                <a:latin typeface="Aria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Schools</c:v>
                </c:pt>
              </c:strCache>
            </c:strRef>
          </c:tx>
          <c:cat>
            <c:strRef>
              <c:f>Sheet1!$A$2:$A$4</c:f>
              <c:strCache>
                <c:ptCount val="3"/>
                <c:pt idx="0">
                  <c:v>Mixed</c:v>
                </c:pt>
                <c:pt idx="1">
                  <c:v>Female</c:v>
                </c:pt>
                <c:pt idx="2">
                  <c:v>Male</c:v>
                </c:pt>
              </c:strCache>
            </c:strRef>
          </c:cat>
          <c:val>
            <c:numRef>
              <c:f>Sheet1!$B$2:$B$4</c:f>
              <c:numCache>
                <c:formatCode>General</c:formatCode>
                <c:ptCount val="3"/>
                <c:pt idx="0">
                  <c:v>16.0</c:v>
                </c:pt>
                <c:pt idx="1">
                  <c:v>9.0</c:v>
                </c:pt>
                <c:pt idx="2">
                  <c:v>8.0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000"/>
          </a:pPr>
        </a:p>
      </c:txPr>
    </c:legend>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Schools</c:v>
                </c:pt>
              </c:strCache>
            </c:strRef>
          </c:tx>
          <c:spPr>
            <a:solidFill>
              <a:srgbClr val="325277"/>
            </a:solidFill>
          </c:spPr>
          <c:dLbls>
            <c:txPr>
              <a:bodyPr/>
              <a:lstStyle/>
              <a:p>
                <a:pPr>
                  <a:defRPr sz="1100">
                    <a:solidFill>
                      <a:srgbClr val="595959"/>
                    </a:solidFill>
                  </a:defRPr>
                </a:pPr>
              </a:p>
            </c:txPr>
            <c:dLblPos val="outEnd"/>
            <c:showLegendKey val="0"/>
            <c:showVal val="0"/>
            <c:showCatName val="0"/>
            <c:showSerName val="0"/>
            <c:showPercent val="0"/>
            <c:showBubbleSize val="0"/>
            <c:showLeaderLines val="1"/>
          </c:dLbls>
          <c:cat>
            <c:strRef>
              <c:f>Sheet1!$A$2:$A$6</c:f>
              <c:strCache>
                <c:ptCount val="5"/>
                <c:pt idx="0">
                  <c:v>KG</c:v>
                </c:pt>
                <c:pt idx="1">
                  <c:v>Cycle 1</c:v>
                </c:pt>
                <c:pt idx="2">
                  <c:v>Cycle 2</c:v>
                </c:pt>
                <c:pt idx="3">
                  <c:v>Cycle 3</c:v>
                </c:pt>
                <c:pt idx="4">
                  <c:v>Multi-cycle</c:v>
                </c:pt>
              </c:strCache>
            </c:strRef>
          </c:cat>
          <c:val>
            <c:numRef>
              <c:f>Sheet1!$B$2:$B$6</c:f>
              <c:numCache>
                <c:formatCode>General</c:formatCode>
                <c:ptCount val="5"/>
                <c:pt idx="0">
                  <c:v>7.0</c:v>
                </c:pt>
                <c:pt idx="1">
                  <c:v>7.0</c:v>
                </c:pt>
                <c:pt idx="2">
                  <c:v>7.0</c:v>
                </c:pt>
                <c:pt idx="3">
                  <c:v>7.0</c:v>
                </c:pt>
                <c:pt idx="4">
                  <c:v>5.0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95959"/>
                </a:solidFill>
                <a:latin typeface="Aria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Centres at 100%</c:v>
                </c:pt>
              </c:strCache>
            </c:strRef>
          </c:tx>
          <c:spPr>
            <a:solidFill>
              <a:srgbClr val="325277"/>
            </a:solidFill>
          </c:spPr>
          <c:dLbls>
            <c:txPr>
              <a:bodyPr/>
              <a:lstStyle/>
              <a:p>
                <a:pPr>
                  <a:defRPr sz="1100">
                    <a:solidFill>
                      <a:srgbClr val="595959"/>
                    </a:solidFill>
                  </a:defRPr>
                </a:pPr>
              </a:p>
            </c:txPr>
            <c:dLblPos val="outEnd"/>
            <c:showLegendKey val="0"/>
            <c:showVal val="0"/>
            <c:showCatName val="0"/>
            <c:showSerName val="0"/>
            <c:showPercent val="0"/>
            <c:showBubbleSize val="0"/>
            <c:showLeaderLines val="1"/>
          </c:dLbls>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3.0</c:v>
                </c:pt>
                <c:pt idx="1">
                  <c:v>2.0</c:v>
                </c:pt>
                <c:pt idx="2">
                  <c:v>4.0</c:v>
                </c:pt>
                <c:pt idx="3">
                  <c:v>5.0</c:v>
                </c:pt>
                <c:pt idx="4">
                  <c:v>5.0</c:v>
                </c:pt>
                <c:pt idx="5">
                  <c:v>6.0</c:v>
                </c:pt>
                <c:pt idx="6">
                  <c:v>3.0</c:v>
                </c:pt>
                <c:pt idx="7">
                  <c:v>4.0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95959"/>
                </a:solidFill>
                <a:latin typeface="Aria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c:v>
                </c:pt>
              </c:strCache>
            </c:strRef>
          </c:tx>
          <c:spPr>
            <a:solidFill>
              <a:srgbClr val="A9B4C6"/>
            </a:solidFill>
          </c:spPr>
          <c:cat>
            <c:strRef>
              <c:f>Sheet1!$A$2:$A$3</c:f>
              <c:strCache>
                <c:ptCount val="2"/>
                <c:pt idx="0">
                  <c:v>Average score</c:v>
                </c:pt>
                <c:pt idx="1">
                  <c:v>Pass rate (≥80%)</c:v>
                </c:pt>
              </c:strCache>
            </c:strRef>
          </c:cat>
          <c:val>
            <c:numRef>
              <c:f>Sheet1!$B$2:$B$3</c:f>
              <c:numCache>
                <c:formatCode>General</c:formatCode>
                <c:ptCount val="2"/>
                <c:pt idx="0">
                  <c:v>83.2</c:v>
                </c:pt>
                <c:pt idx="1">
                  <c:v>60.7</c:v>
                </c:pt>
              </c:numCache>
            </c:numRef>
          </c:val>
        </c:ser>
        <c:ser>
          <c:idx val="1"/>
          <c:order val="1"/>
          <c:tx>
            <c:strRef>
              <c:f>Sheet1!$C$1</c:f>
              <c:strCache>
                <c:ptCount val="1"/>
                <c:pt idx="0">
                  <c:v>After</c:v>
                </c:pt>
              </c:strCache>
            </c:strRef>
          </c:tx>
          <c:spPr>
            <a:solidFill>
              <a:srgbClr val="325277"/>
            </a:solidFill>
          </c:spPr>
          <c:cat>
            <c:strRef>
              <c:f>Sheet1!$A$2:$A$3</c:f>
              <c:strCache>
                <c:ptCount val="2"/>
                <c:pt idx="0">
                  <c:v>Average score</c:v>
                </c:pt>
                <c:pt idx="1">
                  <c:v>Pass rate (≥80%)</c:v>
                </c:pt>
              </c:strCache>
            </c:strRef>
          </c:cat>
          <c:val>
            <c:numRef>
              <c:f>Sheet1!$C$2:$C$3</c:f>
              <c:numCache>
                <c:formatCode>General</c:formatCode>
                <c:ptCount val="2"/>
                <c:pt idx="0">
                  <c:v>94.8</c:v>
                </c:pt>
                <c:pt idx="1">
                  <c:v>86.7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9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Scope: five Primary Healthcare Centres (Al Madina, Al Hamidiya, Mushairef, Al Manama, Al Muzeirah), Ajman Public Health Services (PHS) with three Medical Fitness Centres, and School Health. Evidence base: the Ajman PHC &amp; PHS Nursing Department Dashboard (OneDrive). Latest complete data month: August 2026. Every figure in this deck is traceable in the companion file 'Ajman_Nursing_2026_Source_Data_Inventory.xlsx'.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nurse counts are NQS 'Nurses &amp; Midwives Direct &amp; Indirect', August 2026 (excludes Nursing Admin Assistants). Visits are the 'Patient Volume' column of the profile's productivity sheet — the same sheet that produces the August productivity percentages published in the August KPI report, so the period is August 2026.</a:t>
            </a:r>
            <a:br/>
            <a:r>
              <a:t>MFC split: Nuaimiya 2 nurses / 863 visits; Mushrif 2 / 1,039; PHS MFC 1 / 636.</a:t>
            </a:r>
            <a:br/>
            <a:r>
              <a:t>School Health: 42 staff = 41 School Health Nurses + 1 Acting Unit Manager for Schools. 33 schools = distinct school names on the profile (see slide 16). Departmental deck (Aug 2026) says 34 — REQUIRES CONFIRMATION.</a:t>
            </a:r>
            <a:br/>
            <a:r>
              <a:t>Layout is schematic; no geographic map data exists in the source folder.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 = active records in the Profile sheet (includes 4 Nursing Admin Assistants). 109 = NQS 'Total Number of Nurses &amp; Midwives Direct &amp; Indirect', August 2026 (113 − 4 admin assistants = 109, reconciles).</a:t>
            </a:r>
            <a:br/>
            <a:r>
              <a:t>9 sites: Al Madina, Al Hamidiya, Mushairef, Al Manama, Al Muzeirah, Ajman PHS, and Medical Fitness Centres at Nuaimiya, Mushrif and PHS (profile productivity sheet; KPI report Aug 2026 refers to 'all 9 facilities').</a:t>
            </a:r>
            <a:br/>
            <a:r>
              <a:t>33 schools and 19,464 students: CALCULATED from the School Name / student-count columns of the profile. Two Zayed Education Complexes both show 2,249 students — possible duplicate entry; the departmental deck (Aug 2026) says 34 schools. REQUIRES CONFIRMATION.</a:t>
            </a:r>
            <a:br/>
            <a:r>
              <a:t>11,911 visits = sum of August 2026 patient volume on the profile productivity sheet (PHCs 8,774; PHS 599; MFCs 2,538). Single month.</a:t>
            </a:r>
            <a:br/>
            <a:r>
              <a:t>BSN 83/113 = 55 BSN + 28 BSN-bridging. Emirati 14/113 (profile) — NQS shows 14 of 109 in August. Age and experience are the profile's formula columns, averaged.</a:t>
            </a:r>
            <a:br/>
            <a:r>
              <a:t>Movement: NQS Data Summary 'New Recruited' and 'leaving' sections, Jan–Aug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109 nurses &amp; midwives = NQS Data Summary, August 2026 Ajman PHC Nursing Profile (EHS template). 42 School Health staff and 33 schools = Profile sheet, active staff (41 School Health Nurses + 1 Acting Unit Manager for Schools; 33 distinct school names). The departmental deck of Aug 2026 states 34 schools — flagged for confirmation.</a:t>
            </a:r>
            <a:br/>
            <a:r>
              <a:t>FACT: KPI centre-month counts calculated from the eight monthly KPI reports (6 centres x 8 months = 48 readings).</a:t>
            </a:r>
            <a:br/>
            <a:r>
              <a:t>FACT: Productivity band 95%–115% confirmed by the Nursing Department 11/09/2026 (Productivity_Standard_Correction_2026.xlsx). The Jan–Jun reports originally printed 70%.</a:t>
            </a:r>
            <a:br/>
            <a:r>
              <a:t>FACT: PID knowledge scores from Patient_ID_QIP_Deep_Analysis_ROI_Audit_Readiness_Report.docx (8 Sep 2026).</a:t>
            </a:r>
            <a:br/>
            <a:r>
              <a:t>FACT: 11 of 23 facility-owned oversight criteria empty — live folder scan 25 Sep 2026 (criteria 02, 03, 04, 10, 11, 13–18). Evidence present does not mean 'Met'.</a:t>
            </a:r>
            <a:br/>
            <a:r>
              <a:t>The right-hand box is RECOMMENDATION, not fact.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Touchpoints and their sources: campaigns (Op Plan obj. 20) and labour-camp flu vaccination by the PHS team (EHS Nursing Department email, 7 Nov 2024); Year of the Family (obj. 23); school screening vision/hearing/BMI/dental and at-risk referral ≥90% (obj. 15); periodic care screening, GP/Family Medicine, urgent care, NCD/chronic clinic, adult immunisation, smoking cessation, well-baby (Al Hamidiya New/Expansion Service form 2025); treatment rooms, vaccination clinics, GP assessment and NCD (centre productivity RCA files, Sep 2026); home visits (Al Hamidiya RCA); occupational-health pathway nurse → doctor → lab or vaccination (Ajman PHS New/Expansion Service form 2025).</a:t>
            </a:r>
            <a:br/>
            <a:r>
              <a:t>11,911 visits = August 2026 only (profile productivity sheet) — the only month with visit counts in the source folder.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Jan–Aug averages per centre = 'YTD Avg' column of the APMaster Productivity sheet (same values printed in the August KPI report). 40.5% = unweighted mean of the five PHC averages (calculated).</a:t>
            </a:r>
            <a:br/>
            <a:r>
              <a:t>8,774 visits = August 2026 only — monthly visit counts for January–July are not held in the source folder (only the August Nursing Profile carries patient volume), so a Jan–Aug visit average cannot be computed.</a:t>
            </a:r>
            <a:br/>
            <a:r>
              <a:t>50 nurses = NQS August 2026; School Health nurses attached to these centres are counted in School Health.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 / Family Medicine': the Al Hamidiya New/Expansion Service form 2025 lists the centre's services as Periodic Care Screening, General Practice / Family Medicine Service, Urgent Care, Non-Communicable Disease / Chronic Clinic, Adult Immunization, Nursing Service, Smoking Cessation Clinic, Well Baby and Immunization Services. This resolves the brief's 'PHS / Family Medicine' label: in the source, Family Medicine is a PHC service, not a PHS one.</a:t>
            </a:r>
            <a:br/>
            <a:r>
              <a:t>Vaccination clinic as main caseload, GP assessment, NCD and Treatment Room: Al Madina and Al Mushrif _04_Productivity_JanAug2026 RCA sheets. Home visits and Treatment Room: Al Hamidiya RCA.</a:t>
            </a:r>
            <a:br/>
            <a:r>
              <a:t>The Al Madina 2025 expansion form (dermatology, ENT, ophthalmology, emergency unit, antenatal clinic — 'approved, waiting for delivery') is not shown because its 2026 operating status is not evidenced.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Jan–Aug averages: August 2026 KPI report, sections 3.1–3.3 (also APMaster YTD column).</a:t>
            </a:r>
            <a:br/>
            <a:r>
              <a:t>Visits: August 2026 only — the only month with patient volume in the source folder.</a:t>
            </a:r>
            <a:br/>
            <a:r>
              <a:t>School nurses attached = School Health staff whose 'Department' on the profile is the centre.</a:t>
            </a:r>
            <a:br/>
            <a:r>
              <a:t>Leads: Actual Work column of the profile (UM = Unit Manager; AUM = Acting Unit Manager; ACN = Acting Charge Nurse).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from the Profile sheet (active staff, Actual Work by Department), School Health nurses and the Mushairef admin assistant excluded. Leads = Unit Manager, Acting Unit Manager, Acting Charge Nurse.</a:t>
            </a:r>
            <a:br/>
            <a:r>
              <a:t>INTERPRETATION (from source): the Jan 2026 Workforce Optimization plan states 'Higher Assistant Nurse ratios correlate with lower productivity due to limited scope under current policies'.</a:t>
            </a:r>
            <a:br/>
            <a:r>
              <a:t>The 2025 baseline (114 staff, 95 RN/M, 15 AN, 4 unlicensed) is a different period and population definition — shown for context only, not compared numerically with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Jan–Aug averages: APMaster Productivity sheet 'YTD Avg' — Numiya MFC 98.625%, Mushrif MFC 120.75%, PHS MFC 103.75%, Ajman PHS 27.25%, and the five PHCs as in the KPI report. MFC monthly values: Numiya 111,123,128,86,82,81,89,89; Mushrif 116,115,118,99,97,168,123,130; PHS MFC 143,149,69,64,73,147,104,81.</a:t>
            </a:r>
            <a:br/>
            <a:r>
              <a:t>Formula: stated in the centre _04_Productivity_JanAug2026 files — '(Patient Volume × NHPPD/V 0.33) ÷ Direct Nursing Care Hours'.</a:t>
            </a:r>
            <a:br/>
            <a:r>
              <a:t>DISCREPANCY (minor): the APMaster Productivity sheet header still reads 'Target: ≥70%' while its target row is 95 — the 95%–115% band (confirmed 11 Sep 2026) is used here.</a:t>
            </a:r>
            <a:br/>
            <a:r>
              <a:t>DISCREPANCY: the Aug 2026 departmental deck shows a different 2025 baseline (e.g., Al Madina 62%); the trend analysis values are used.</a:t>
            </a:r>
            <a:br/>
            <a:r>
              <a:t>MFC Mushrif above 115% = above the band (demand exceeds budgeted hours) —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Facility name on the EHS profile: 'Ajman Public Health Services'; department code 'PHJH'. 'Four separate PHS clinics': PHS_04_Productivity_JanAug2026 RCA.</a:t>
            </a:r>
            <a:br/>
            <a:r>
              <a:t>Patient ID Jan–Aug average 94.9% = August KPI report. PHS clinic productivity 27.25% and MFC averages = APMaster YTD column.</a:t>
            </a:r>
            <a:br/>
            <a:r>
              <a:t>Visits: August 2026 only (only month with volumes in the source).</a:t>
            </a:r>
            <a:br/>
            <a:r>
              <a:t>The brief's 'PHS / Family Medicine' label: the source lists Family Medicine among PHC services — flagged in the discrepancy log as resolved by source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quoted from the EHS Nursing Department email forwarded 7 Nov 2024 (Anelia Bouwer, Nursing Care Policy Specialist): 'Current scope of service at the PH center: 1 Medical fitness services, 2 Travel clinic, 3 TB and other communicable diseases, 4 Occupational Health screening will be newly added'; the PHS team 'is also responsible for vaccination campaign example flu vaccination in the labor camps'.</a:t>
            </a:r>
            <a:br/>
            <a:r>
              <a:t>Occupational Health Clinic: New/Expansion Service 2025 form — services: medical evaluation, confidential consultation, vaccination or immunization, health education, medical care; forecast 100–150 visits/day; planned opening January 2025; the form's remarks note it had not yet been activated and needed Wareed training and a clear workflow. Its 2026 operating status is not stated in the folder — treat the service as expansion in progress.</a:t>
            </a:r>
            <a:br/>
            <a:r>
              <a:t>Public-health activities and 'not captured in the KPI numerator': PHS_04 RCA. SAD screening documentation: PHS MOM 16 May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Averages and ranges: APMaster Productivity sheet, January–August 2026. Visits: August 2026 only.</a:t>
            </a:r>
            <a:br/>
            <a:r>
              <a:t>Planned actions from PHS_04 action plan: monthly public-health activity log live by 15 Oct 2026; clinic-level productivity tracking sheet by 31 Oct 2026.</a:t>
            </a:r>
            <a:br/>
            <a:r>
              <a:t>Satisfaction 75.5% → 61.9%: SSIP 2026 Q2 Achievement Report, Part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FACT with its source. 12 strategic projects: NOC MOM 08/05/2026 and SSIP intervention I-1. School nurses join PHC centres from 20.07.2026: School Health MOM 17 Jul 2026. Cover of PHS: Staff Coverage Register 2026. Fall project at PHS: PHS MOM 24 Aug 2026 item 2. Workshop attendance: Leadership ROI report (92 attended).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 41 'School Health Nurse' + 1 'Act. Unit Manager for Schools' (Actual Work, active). NQS lists School Health = 42 in August (41 Jan–Jul).</a:t>
            </a:r>
            <a:br/>
            <a:r>
              <a:t>Registration: 41 RN, 1 AN (the AN is posted at Masfout Kindergarten).</a:t>
            </a:r>
            <a:br/>
            <a:r>
              <a:t>38.5% = 42 / 109 (calculated). The Aug 2026 departmental deck says 36.8% (= 42 / 114, the 2025 total) — a different denominator; not comparable.</a:t>
            </a:r>
            <a:br/>
            <a:r>
              <a:t>33 vs 34 schools: REQUIRES CONFIRMATION with the Unit Manager.</a:t>
            </a:r>
            <a:br/>
            <a:r>
              <a:t>Nurse Manager for School Health confirmed by the user as Nadia Qasem (25 Sep 2026); Unit Manager Hanadi Husein Mohammad Amoorah.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CALCULATED from the profile: distinct school names after normalising spelling. 33 distinct schools; 7 KG, 7 Cycle 1, 7 Cycle 2, 7 Cycle 3, 5 multi-cycle. Gender: 16 mixed, 9 female, 8 male.</a:t>
            </a:r>
            <a:br/>
            <a:r>
              <a:t>Student total 19,464 = sum of each school's recorded enrolment, counted once per school. Both Zayed complexes carry 2,249 students — possible entry duplication (see discrepancy log). The departmental deck (Aug 2026) states 34 schools.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service is evidenced: HPV schedule (under 15: two doses at 0 and 6 months; Grade 9 second dose from Oct 2026) — MOM 26 Aug 2026. Meningococcal vaccine schedule — MOM 15 May 2026. Annual physical examination — MOM 15 May 2026. ADHD (suspected only) and anaemia — MOM 06 Feb 2026. Diabetic form — MOM 26 Aug 2026. Emergency medication 'HAM checking in schools' template and clinic readiness visits (Asma'a Bint Omais 06/08/2026; Al Nuaimiya Cycle 1 03/09/2026; Zayed Complex Al Raqayeb) — SH_02/SH_03 action plans. Consent — SH_02.</a:t>
            </a:r>
            <a:br/>
            <a:r>
              <a:t>Screening scope (vision, hearing, BMI, dental) and referral ≥90% — Op Plan objective 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Dates from the minutes: nurses join PHC centres 20.07.2026; return to schools 26.08.2026; clinics ready by 31.08.2026 (MOM 17 Jul 2026). HPV second dose for Grade 9 from October 2026 (MOM 26 Aug 2026). Pending vaccines and annual physical exam (MOM 15 May). Vaccination action plans submitted because all schools were below target (MOM 17 Jun). Term allocation of screening follows the Op Plan ('per term, Q1 &amp; Q3').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88.4% (July 2026) and 90.90% (November) are as written in the School Health action plans; the underlying counts are not held in the folder (see discrepancy log). The action plans set 100% targets; the Op Plan sets ≥95% per term.</a:t>
            </a:r>
            <a:br/>
            <a:r>
              <a:t>Actions are the corrective actions listed in SH_01 and SH_02.</a:t>
            </a:r>
            <a:br/>
            <a:r>
              <a:t>Leadership: 38 of 41 School Health Nurses validated on/after 12 Nov 2025. Workshop: School Health matched pairs n=38, 6.92 → 9.89.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KPI reports state targets Documentation 85%, Pain Assessment 100%, Pain Reassessment 100%, Hand Hygiene 90%, Patient ID 100%, Productivity 95%–115%. The Operational Plan 2026 states ≥95% pain documentation (obj. 12), ≥90% HH (obj. 13), ≥98% PID (obj. 18) and documentation-related objectives; the Jan–Jun reports originally printed 70% for productivity (corrected 11 Sep 2026).</a:t>
            </a:r>
            <a:br/>
            <a:r>
              <a:t>Corrective actions within 15 days: Op Plan objective 3.3. Master Action Plan Tracker = AjmanNursing_APMaster (named as KPI source in the reports).</a:t>
            </a:r>
            <a:br/>
            <a:r>
              <a:t>The discrepancy is flagged, not resolved: results in this deck are judged against the KPI-report targets because those are what the monthly reports use.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all statuses are from the August 2026 KPI report except medication safety (no KPI in the report; evidence from Op Plan objective 3 and the School Health emergency-medication template) and the fall pilot status (post-pilot report).</a:t>
            </a:r>
            <a:br/>
            <a:r>
              <a:t>OVR (FACT): 58 OVRs recorded Jan–Aug 2026 in the centres' own OVR sheets (unit folders '02. OVR Sheet'): Mushairef 31, Al Manama 10, Al Muzeirah 9, Al Hamidiya 5, Ajman PHS 3, Al Madina 0 (no sheet filed in any month). By type: equipment/facility/IT/supplies 32, workflow/communication 11, patient care/safety 7, medication/vaccine 5, documentation/registration 3. 51 of 58 closed ('Complete'). The monthly KPI reports and the APMaster OVR sheet state zero — the centre sheets are not being consolidated. Full list: companion inventory, sheet 'OVR 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Excellence: NOC 08/05/2026 discussed the 'Nursing Documentation Excellence Initiative' among 12 strategic projects; the 48/48 figure is the documentation KPI, an association, not proof of effect.</a:t>
            </a:r>
            <a:br/>
            <a:r>
              <a:t>Culture score 4.07 → 4.15: EHS Nursing Culture Survey 2026 (received 19 Aug 2026). SSIP: 5 of 49 actions completed at Q2 (23 Jun 2026).</a:t>
            </a:r>
            <a:br/>
            <a:r>
              <a:t>The Pain Assessment QIP (Op Plan obj. 19) and the corporate Scripting/Service Goal workstreams are not listed because no results are held in the folder.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'centres at 100%' is CALCULATED from the six centres in the monthly KPI reports (Madina, Hamidiya, Muzairah, Mushrif, Manama, PHS). The QIP covers 9 sites incl. 3 MFCs; MFC August data were 'NA' in the QIP report.</a:t>
            </a:r>
            <a:br/>
            <a:r>
              <a:t>Aim/timeline: intervention Aug–Dec 2026 (originally scoped for April); baseline Jan–Mar 2026 showed drops at 7 of 9 sites.</a:t>
            </a:r>
            <a:br/>
            <a:r>
              <a:t>Target: 100% at every site every month (QIP report and KPI reports). The Op Plan states ≥98% — flagged on slide 20.</a:t>
            </a:r>
            <a:br/>
            <a:r>
              <a:t>Pre/post: 84 pre-tests, 83 post-tests. Reaction: 65 forms — 53×5/5, 8×4/5, 4×3/5.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Council list = the five subfolders of 1. Cross-PHC/18. Shared Governance. Executive, EBP and Professional Development council folders contain no documents (only desktop.ini) — 'None found' means not in the shared library, not necessarily not held.</a:t>
            </a:r>
            <a:br/>
            <a:r>
              <a:t>Chairs/cadence: Executive (ADNA, monthly), Operations (NMs, monthly), EBP (CRNs, quarterly) are from the Aug 2026 departmental deck (level 3).</a:t>
            </a:r>
            <a:br/>
            <a:r>
              <a:t>Wellbeing &amp; Happiness Council: 9 members, full 2026 calendar, active in 4 of 5 PHCs (SSIP I-3); launched 26 Jan 2026 (departmental deck).</a:t>
            </a:r>
            <a:br/>
            <a:r>
              <a:t>Nadia Qasem signs as 'Nurse Manager, Ajman PHS &amp; School Dep.' in the Workforce Optimization Plan.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scope (96) = active ADNA, NM, CRN, NI, UM, Charge Nurse, Staff Nurse, School Health Nurse (assistant nurses and admin assistants excluded — Nurse Manager ruling 14 Sep 2026). 'Current' = validated on/after 12 Nov 2025. 55 = 96 − 41 (includes 6 never validated, 3 of them new or transferred in).</a:t>
            </a:r>
            <a:br/>
            <a:r>
              <a:t>Workshop: 92 attended in total (88 of the 96 in scope); satisfaction n=93; matched pairs n=88, t=15.32, Cohen's d 1.63.</a:t>
            </a:r>
            <a:br/>
            <a:r>
              <a:t>IDPs: file count in Oversight Evidence 4. Workforce/27. IDPs per centre; no School Health subfolder there.</a:t>
            </a:r>
            <a:br/>
            <a:r>
              <a:t>Mentor candidates: Bismi Surumi Riyas, Fariba Haji Hussain Mohamad, Hanadi Husein Mohammad Amoorah, Tareq Mohammed Abu Alkhair, Tintu James.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KPI dashboard: the APMaster workbook holds a Dashboard, a Monthly Snapshot for 9 facilities and one sheet per KPI; the monthly KPI reports cite it as their source.</a:t>
            </a:r>
            <a:br/>
            <a:r>
              <a:t>'Open' = no research topic approval, pilot, research training record or EBP outcome was found in the shared library (18. Shared Governance/Evidence-Based Council is empty; Oversight Evidence 3. Prof Development/13 and /14 are empty).</a:t>
            </a:r>
            <a:br/>
            <a:r>
              <a:t>QR codes: SSIP intervention I-8, Completed. Culture scores: AjmanNursing_Culture2026_Action_Plan.xlsx.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eight monthly KPI reports (regenerated Sep 2026 with the 95%–115% productivity band). Centre-months = 6 centres × 8 months.</a:t>
            </a:r>
            <a:br/>
            <a:r>
              <a:t>Network averages are CALCULATED as simple means of the six centre values for January and for August — not weighted by volume.</a:t>
            </a:r>
            <a:br/>
            <a:r>
              <a:t>School Health and the Medical Fitness Centres are not in the monthly KPI report. Patient satisfaction (Op Plan target ≥90%) has no 2026 result on file — [DATA NOT AVAILABLE IN SOURCE FOLDER].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 2025 result: 'Current Performance: 30% (Target: 80%)' — AjmanNursing_Oversight_2025-10_Action_Pl.xlsx (RCA sheet), based on the Nursing Oversight Report October 2025. The original report itself was not located in the folder; 23 findings (9 High, 13 Medium, 1 Low) per the Aug 2026 readiness briefing (level 3).</a:t>
            </a:r>
            <a:br/>
            <a:r>
              <a:t>Risk levels are the author's assessment (INTERPRETATION).</a:t>
            </a:r>
            <a:br/>
            <a:r>
              <a:t>Context line: AjmanNursing_Oversight_2026-11_Nursing_D.pptx slide 20 (departmental presentation, level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RECOMMENDATIONS derived from the evidence on slides 6–28, not approved decisions.</a:t>
            </a:r>
            <a:br/>
            <a:r>
              <a:t>55 lapsed/unvalidated = 96 in scope − 41 current (completion-rate scan). Oversight criteria list from the 25 Sep 2026 evidence scan.</a:t>
            </a:r>
            <a:br/>
            <a:r>
              <a:t>AN pilot: 2 Assistant Nurses redeployed from PHC to School Health for the 2026–27 academic year; prepared by Tareq Mohammed Abu Alkhair, reviewed by Nadia Qasem, submitted to Anelia Bouwer (Nursing Care Policy Specialist) — approval status REQUIRES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statements map to the evidence in the deck: patient identification (slides 21–23), school coverage (15–19), leadership validation and culture (25, 28), and data traceability (the companion inventory and the target conflicts on slide 20). This is a RECOMMENDED vision statement, not an approved EHS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394960"/>
            <a:ext cx="12192000" cy="146304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11480"/>
            <a:ext cx="2103120" cy="9144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hs_logo.png"/>
          <p:cNvPicPr>
            <a:picLocks noChangeAspect="1"/>
          </p:cNvPicPr>
          <p:nvPr/>
        </p:nvPicPr>
        <p:blipFill>
          <a:blip r:embed="rId2"/>
          <a:stretch>
            <a:fillRect/>
          </a:stretch>
        </p:blipFill>
        <p:spPr>
          <a:xfrm>
            <a:off x="594360" y="475488"/>
            <a:ext cx="1920240" cy="786384"/>
          </a:xfrm>
          <a:prstGeom prst="rect">
            <a:avLst/>
          </a:prstGeom>
        </p:spPr>
      </p:pic>
      <p:pic>
        <p:nvPicPr>
          <p:cNvPr id="5" name="Picture 4" descr="uae_emblem.png"/>
          <p:cNvPicPr>
            <a:picLocks noChangeAspect="1"/>
          </p:cNvPicPr>
          <p:nvPr/>
        </p:nvPicPr>
        <p:blipFill>
          <a:blip r:embed="rId3"/>
          <a:stretch>
            <a:fillRect/>
          </a:stretch>
        </p:blipFill>
        <p:spPr>
          <a:xfrm>
            <a:off x="10591495" y="411480"/>
            <a:ext cx="1005840" cy="1005840"/>
          </a:xfrm>
          <a:prstGeom prst="rect">
            <a:avLst/>
          </a:prstGeom>
        </p:spPr>
      </p:pic>
      <p:sp>
        <p:nvSpPr>
          <p:cNvPr id="6" name="TextBox 5"/>
          <p:cNvSpPr txBox="1"/>
          <p:nvPr/>
        </p:nvSpPr>
        <p:spPr>
          <a:xfrm>
            <a:off x="822960" y="1874520"/>
            <a:ext cx="10515600" cy="868680"/>
          </a:xfrm>
          <a:prstGeom prst="rect">
            <a:avLst/>
          </a:prstGeom>
          <a:noFill/>
        </p:spPr>
        <p:txBody>
          <a:bodyPr wrap="square"/>
          <a:lstStyle/>
          <a:p>
            <a:pPr algn="l"/>
            <a:r>
              <a:rPr sz="3600" b="1">
                <a:solidFill>
                  <a:srgbClr val="325277"/>
                </a:solidFill>
                <a:latin typeface="Arial"/>
              </a:rPr>
              <a:t>AJMAN NURSING SERVICES</a:t>
            </a:r>
          </a:p>
        </p:txBody>
      </p:sp>
      <p:sp>
        <p:nvSpPr>
          <p:cNvPr id="7" name="TextBox 6"/>
          <p:cNvSpPr txBox="1"/>
          <p:nvPr/>
        </p:nvSpPr>
        <p:spPr>
          <a:xfrm>
            <a:off x="822960" y="2743200"/>
            <a:ext cx="10515600" cy="502920"/>
          </a:xfrm>
          <a:prstGeom prst="rect">
            <a:avLst/>
          </a:prstGeom>
          <a:noFill/>
        </p:spPr>
        <p:txBody>
          <a:bodyPr wrap="square"/>
          <a:lstStyle/>
          <a:p>
            <a:pPr algn="l"/>
            <a:r>
              <a:rPr sz="2000" b="0">
                <a:solidFill>
                  <a:srgbClr val="3B577A"/>
                </a:solidFill>
                <a:latin typeface="Arial"/>
              </a:rPr>
              <a:t>PHC  |  PHS  |  SCHOOL HEALTH</a:t>
            </a:r>
          </a:p>
        </p:txBody>
      </p:sp>
      <p:sp>
        <p:nvSpPr>
          <p:cNvPr id="8" name="TextBox 7"/>
          <p:cNvSpPr txBox="1"/>
          <p:nvPr/>
        </p:nvSpPr>
        <p:spPr>
          <a:xfrm>
            <a:off x="822960" y="3291840"/>
            <a:ext cx="10515600" cy="502920"/>
          </a:xfrm>
          <a:prstGeom prst="rect">
            <a:avLst/>
          </a:prstGeom>
          <a:noFill/>
        </p:spPr>
        <p:txBody>
          <a:bodyPr wrap="square"/>
          <a:lstStyle/>
          <a:p>
            <a:pPr algn="l"/>
            <a:r>
              <a:rPr sz="1800" b="0">
                <a:solidFill>
                  <a:srgbClr val="A9B4C6"/>
                </a:solidFill>
                <a:latin typeface="Arial"/>
              </a:rPr>
              <a:t>2026 Executive Overview</a:t>
            </a:r>
          </a:p>
        </p:txBody>
      </p:sp>
      <p:sp>
        <p:nvSpPr>
          <p:cNvPr id="9" name="TextBox 8"/>
          <p:cNvSpPr txBox="1"/>
          <p:nvPr/>
        </p:nvSpPr>
        <p:spPr>
          <a:xfrm>
            <a:off x="822960" y="3977640"/>
            <a:ext cx="9601200" cy="731520"/>
          </a:xfrm>
          <a:prstGeom prst="rect">
            <a:avLst/>
          </a:prstGeom>
          <a:noFill/>
        </p:spPr>
        <p:txBody>
          <a:bodyPr wrap="square"/>
          <a:lstStyle/>
          <a:p>
            <a:pPr algn="l"/>
            <a:r>
              <a:rPr sz="1400" b="0">
                <a:solidFill>
                  <a:srgbClr val="595959"/>
                </a:solidFill>
                <a:latin typeface="Arial"/>
              </a:rPr>
              <a:t>An integrated community nursing system — prevention, early detection, primary care, family and school health, patient safety and continuity of care.</a:t>
            </a:r>
          </a:p>
        </p:txBody>
      </p:sp>
      <p:sp>
        <p:nvSpPr>
          <p:cNvPr id="10" name="TextBox 9"/>
          <p:cNvSpPr txBox="1"/>
          <p:nvPr/>
        </p:nvSpPr>
        <p:spPr>
          <a:xfrm>
            <a:off x="822960" y="5623560"/>
            <a:ext cx="10515600" cy="822960"/>
          </a:xfrm>
          <a:prstGeom prst="rect">
            <a:avLst/>
          </a:prstGeom>
          <a:noFill/>
        </p:spPr>
        <p:txBody>
          <a:bodyPr wrap="square"/>
          <a:lstStyle/>
          <a:p>
            <a:pPr algn="l"/>
            <a:r>
              <a:rPr sz="1100" b="0">
                <a:solidFill>
                  <a:srgbClr val="FFFFFF"/>
                </a:solidFill>
                <a:latin typeface="Arial"/>
              </a:rPr>
              <a:t>Prepared by: Nursing Administration — Ajman PHC, PHS &amp; School Health  |  Tareq Mohammed Abu Alkhair, Nurse Manager
Data period: January – August 2026 (latest available)  |  Issued September 2026  |  Classification: Internal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Nursing Department Organizational Structure – Ajman PHC</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Reporting lines and centre leadership — August 2026</a:t>
            </a:r>
          </a:p>
        </p:txBody>
      </p:sp>
      <p:sp>
        <p:nvSpPr>
          <p:cNvPr id="4" name="Rounded Rectangle 3"/>
          <p:cNvSpPr/>
          <p:nvPr/>
        </p:nvSpPr>
        <p:spPr>
          <a:xfrm>
            <a:off x="4300000" y="1500000"/>
            <a:ext cx="3500000" cy="55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00000" y="1500000"/>
            <a:ext cx="3500000" cy="550000"/>
          </a:xfrm>
          <a:prstGeom prst="rect">
            <a:avLst/>
          </a:prstGeom>
          <a:noFill/>
        </p:spPr>
        <p:txBody>
          <a:bodyPr wrap="square"/>
          <a:lstStyle/>
          <a:p>
            <a:pPr algn="ctr"/>
            <a:r>
              <a:rPr sz="1100" b="1">
                <a:solidFill>
                  <a:srgbClr val="FFFFFF"/>
                </a:solidFill>
                <a:latin typeface="Arial"/>
              </a:rPr>
              <a:t>Jihan Salem Marzooq | Assistant Director of Nursing Affairs (ADNA)</a:t>
            </a:r>
          </a:p>
        </p:txBody>
      </p:sp>
      <p:cxnSp>
        <p:nvCxnSpPr>
          <p:cNvPr id="6" name="Connector 5"/>
          <p:cNvCxnSpPr/>
          <p:nvPr/>
        </p:nvCxnSpPr>
        <p:spPr>
          <a:xfrm>
            <a:off x="6050000" y="2050000"/>
            <a:ext cx="0" cy="250000"/>
          </a:xfrm>
          <a:prstGeom prst="line">
            <a:avLst/>
          </a:prstGeom>
          <a:ln w="19050">
            <a:solidFill>
              <a:srgbClr val="A9B4C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00000" y="2300000"/>
            <a:ext cx="9800000" cy="0"/>
          </a:xfrm>
          <a:prstGeom prst="line">
            <a:avLst/>
          </a:prstGeom>
          <a:ln w="19050">
            <a:solidFill>
              <a:srgbClr val="A9B4C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0000" y="2400000"/>
            <a:ext cx="1900000" cy="500000"/>
          </a:xfrm>
          <a:prstGeom prst="roundRect">
            <a:avLst>
              <a:gd name="adj" fmla="val 5000"/>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00" y="2400000"/>
            <a:ext cx="1900000" cy="500000"/>
          </a:xfrm>
          <a:prstGeom prst="rect">
            <a:avLst/>
          </a:prstGeom>
          <a:noFill/>
        </p:spPr>
        <p:txBody>
          <a:bodyPr wrap="square"/>
          <a:lstStyle/>
          <a:p>
            <a:pPr algn="ctr"/>
            <a:r>
              <a:rPr sz="1000" b="1">
                <a:solidFill>
                  <a:srgbClr val="FFFFFF"/>
                </a:solidFill>
                <a:latin typeface="Arial"/>
              </a:rPr>
              <a:t>Nursing Administration Team</a:t>
            </a:r>
          </a:p>
        </p:txBody>
      </p:sp>
      <p:sp>
        <p:nvSpPr>
          <p:cNvPr id="10" name="Rounded Rectangle 9"/>
          <p:cNvSpPr/>
          <p:nvPr/>
        </p:nvSpPr>
        <p:spPr>
          <a:xfrm>
            <a:off x="300000" y="3050000"/>
            <a:ext cx="1700000" cy="52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000" y="3050000"/>
            <a:ext cx="1700000" cy="520000"/>
          </a:xfrm>
          <a:prstGeom prst="rect">
            <a:avLst/>
          </a:prstGeom>
          <a:noFill/>
        </p:spPr>
        <p:txBody>
          <a:bodyPr wrap="square"/>
          <a:lstStyle/>
          <a:p>
            <a:pPr algn="ctr"/>
            <a:r>
              <a:rPr sz="900" b="0">
                <a:solidFill>
                  <a:srgbClr val="595959"/>
                </a:solidFill>
                <a:latin typeface="Arial"/>
              </a:rPr>
              <a:t>Mansour Samir Almansour | Nursing Admin Assistant</a:t>
            </a:r>
          </a:p>
        </p:txBody>
      </p:sp>
      <p:sp>
        <p:nvSpPr>
          <p:cNvPr id="12" name="Rounded Rectangle 11"/>
          <p:cNvSpPr/>
          <p:nvPr/>
        </p:nvSpPr>
        <p:spPr>
          <a:xfrm>
            <a:off x="300000" y="3670000"/>
            <a:ext cx="1700000" cy="52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000" y="3670000"/>
            <a:ext cx="1700000" cy="520000"/>
          </a:xfrm>
          <a:prstGeom prst="rect">
            <a:avLst/>
          </a:prstGeom>
          <a:noFill/>
        </p:spPr>
        <p:txBody>
          <a:bodyPr wrap="square"/>
          <a:lstStyle/>
          <a:p>
            <a:pPr algn="ctr"/>
            <a:r>
              <a:rPr sz="900" b="0">
                <a:solidFill>
                  <a:srgbClr val="595959"/>
                </a:solidFill>
                <a:latin typeface="Arial"/>
              </a:rPr>
              <a:t>Manal Awad Alhariri | Nursing Admin Assistant</a:t>
            </a:r>
          </a:p>
        </p:txBody>
      </p:sp>
      <p:sp>
        <p:nvSpPr>
          <p:cNvPr id="14" name="Rounded Rectangle 13"/>
          <p:cNvSpPr/>
          <p:nvPr/>
        </p:nvSpPr>
        <p:spPr>
          <a:xfrm>
            <a:off x="300000" y="4290000"/>
            <a:ext cx="1700000" cy="52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000" y="4290000"/>
            <a:ext cx="1700000" cy="520000"/>
          </a:xfrm>
          <a:prstGeom prst="rect">
            <a:avLst/>
          </a:prstGeom>
          <a:noFill/>
        </p:spPr>
        <p:txBody>
          <a:bodyPr wrap="square"/>
          <a:lstStyle/>
          <a:p>
            <a:pPr algn="ctr"/>
            <a:r>
              <a:rPr sz="900" b="0">
                <a:solidFill>
                  <a:srgbClr val="595959"/>
                </a:solidFill>
                <a:latin typeface="Arial"/>
              </a:rPr>
              <a:t>Bismi Surumi Riyas | Clinical Resource Nurse</a:t>
            </a:r>
          </a:p>
        </p:txBody>
      </p:sp>
      <p:sp>
        <p:nvSpPr>
          <p:cNvPr id="16" name="Rounded Rectangle 15"/>
          <p:cNvSpPr/>
          <p:nvPr/>
        </p:nvSpPr>
        <p:spPr>
          <a:xfrm>
            <a:off x="300000" y="4910000"/>
            <a:ext cx="1700000" cy="52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0000" y="4910000"/>
            <a:ext cx="1700000" cy="520000"/>
          </a:xfrm>
          <a:prstGeom prst="rect">
            <a:avLst/>
          </a:prstGeom>
          <a:noFill/>
        </p:spPr>
        <p:txBody>
          <a:bodyPr wrap="square"/>
          <a:lstStyle/>
          <a:p>
            <a:pPr algn="ctr"/>
            <a:r>
              <a:rPr sz="900" b="0">
                <a:solidFill>
                  <a:srgbClr val="595959"/>
                </a:solidFill>
                <a:latin typeface="Arial"/>
              </a:rPr>
              <a:t>Abida Abdul Majeed Rahmat Ullah Albulushi | Clinical Resource Nurse</a:t>
            </a:r>
          </a:p>
        </p:txBody>
      </p:sp>
      <p:sp>
        <p:nvSpPr>
          <p:cNvPr id="18" name="Rounded Rectangle 17"/>
          <p:cNvSpPr/>
          <p:nvPr/>
        </p:nvSpPr>
        <p:spPr>
          <a:xfrm>
            <a:off x="300000" y="5530000"/>
            <a:ext cx="1700000" cy="52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0000" y="5530000"/>
            <a:ext cx="1700000" cy="520000"/>
          </a:xfrm>
          <a:prstGeom prst="rect">
            <a:avLst/>
          </a:prstGeom>
          <a:noFill/>
        </p:spPr>
        <p:txBody>
          <a:bodyPr wrap="square"/>
          <a:lstStyle/>
          <a:p>
            <a:pPr algn="ctr"/>
            <a:r>
              <a:rPr sz="900" b="0">
                <a:solidFill>
                  <a:srgbClr val="595959"/>
                </a:solidFill>
                <a:latin typeface="Arial"/>
              </a:rPr>
              <a:t>Maryam Salim Saeed | Informatics Nurse</a:t>
            </a:r>
          </a:p>
        </p:txBody>
      </p:sp>
      <p:sp>
        <p:nvSpPr>
          <p:cNvPr id="20" name="Rounded Rectangle 19"/>
          <p:cNvSpPr/>
          <p:nvPr/>
        </p:nvSpPr>
        <p:spPr>
          <a:xfrm>
            <a:off x="4300000" y="2400000"/>
            <a:ext cx="3500000" cy="5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00000" y="2400000"/>
            <a:ext cx="3500000" cy="500000"/>
          </a:xfrm>
          <a:prstGeom prst="rect">
            <a:avLst/>
          </a:prstGeom>
          <a:noFill/>
        </p:spPr>
        <p:txBody>
          <a:bodyPr wrap="square"/>
          <a:lstStyle/>
          <a:p>
            <a:pPr algn="ctr"/>
            <a:r>
              <a:rPr sz="1100" b="1">
                <a:solidFill>
                  <a:srgbClr val="FFFFFF"/>
                </a:solidFill>
                <a:latin typeface="Arial"/>
              </a:rPr>
              <a:t>Tareq Mohammed Abu Alkhair | Nurse Manager, Ajman PHC</a:t>
            </a:r>
          </a:p>
        </p:txBody>
      </p:sp>
      <p:sp>
        <p:nvSpPr>
          <p:cNvPr id="22" name="Rounded Rectangle 21"/>
          <p:cNvSpPr/>
          <p:nvPr/>
        </p:nvSpPr>
        <p:spPr>
          <a:xfrm>
            <a:off x="2200000" y="3200000"/>
            <a:ext cx="145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00000" y="3200000"/>
            <a:ext cx="1450000" cy="400000"/>
          </a:xfrm>
          <a:prstGeom prst="rect">
            <a:avLst/>
          </a:prstGeom>
          <a:noFill/>
        </p:spPr>
        <p:txBody>
          <a:bodyPr wrap="square"/>
          <a:lstStyle/>
          <a:p>
            <a:pPr algn="ctr"/>
            <a:r>
              <a:rPr sz="1000" b="1">
                <a:solidFill>
                  <a:srgbClr val="FFFFFF"/>
                </a:solidFill>
                <a:latin typeface="Arial"/>
              </a:rPr>
              <a:t>Al Madina PHC</a:t>
            </a:r>
          </a:p>
        </p:txBody>
      </p:sp>
      <p:sp>
        <p:nvSpPr>
          <p:cNvPr id="24" name="TextBox 23"/>
          <p:cNvSpPr txBox="1"/>
          <p:nvPr/>
        </p:nvSpPr>
        <p:spPr>
          <a:xfrm>
            <a:off x="2200000" y="3700000"/>
            <a:ext cx="1450000" cy="900000"/>
          </a:xfrm>
          <a:prstGeom prst="rect">
            <a:avLst/>
          </a:prstGeom>
          <a:noFill/>
        </p:spPr>
        <p:txBody>
          <a:bodyPr wrap="square"/>
          <a:lstStyle/>
          <a:p>
            <a:pPr algn="l"/>
            <a:r>
              <a:rPr sz="800" b="0">
                <a:solidFill>
                  <a:srgbClr val="595959"/>
                </a:solidFill>
                <a:latin typeface="Arial"/>
              </a:rPr>
              <a:t>Massoma Hussain Qamber | Unit Manager
Fariba Haji Hussain Mohamad | Acting Charge Nurse</a:t>
            </a:r>
          </a:p>
        </p:txBody>
      </p:sp>
      <p:sp>
        <p:nvSpPr>
          <p:cNvPr id="25" name="Rounded Rectangle 24"/>
          <p:cNvSpPr/>
          <p:nvPr/>
        </p:nvSpPr>
        <p:spPr>
          <a:xfrm>
            <a:off x="3800000" y="3200000"/>
            <a:ext cx="145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00000" y="3200000"/>
            <a:ext cx="1450000" cy="400000"/>
          </a:xfrm>
          <a:prstGeom prst="rect">
            <a:avLst/>
          </a:prstGeom>
          <a:noFill/>
        </p:spPr>
        <p:txBody>
          <a:bodyPr wrap="square"/>
          <a:lstStyle/>
          <a:p>
            <a:pPr algn="ctr"/>
            <a:r>
              <a:rPr sz="1000" b="1">
                <a:solidFill>
                  <a:srgbClr val="FFFFFF"/>
                </a:solidFill>
                <a:latin typeface="Arial"/>
              </a:rPr>
              <a:t>Mushairef PHC</a:t>
            </a:r>
          </a:p>
        </p:txBody>
      </p:sp>
      <p:sp>
        <p:nvSpPr>
          <p:cNvPr id="27" name="TextBox 26"/>
          <p:cNvSpPr txBox="1"/>
          <p:nvPr/>
        </p:nvSpPr>
        <p:spPr>
          <a:xfrm>
            <a:off x="3800000" y="3700000"/>
            <a:ext cx="1450000" cy="900000"/>
          </a:xfrm>
          <a:prstGeom prst="rect">
            <a:avLst/>
          </a:prstGeom>
          <a:noFill/>
        </p:spPr>
        <p:txBody>
          <a:bodyPr wrap="square"/>
          <a:lstStyle/>
          <a:p>
            <a:pPr algn="l"/>
            <a:r>
              <a:rPr sz="800" b="0">
                <a:solidFill>
                  <a:srgbClr val="595959"/>
                </a:solidFill>
                <a:latin typeface="Arial"/>
              </a:rPr>
              <a:t>Amna Saif Humaid Saif Al Baghash | Acting Unit Manager
Manju Thomas | Acting Charge Nurse</a:t>
            </a:r>
          </a:p>
        </p:txBody>
      </p:sp>
      <p:sp>
        <p:nvSpPr>
          <p:cNvPr id="28" name="Rounded Rectangle 27"/>
          <p:cNvSpPr/>
          <p:nvPr/>
        </p:nvSpPr>
        <p:spPr>
          <a:xfrm>
            <a:off x="5400000" y="3200000"/>
            <a:ext cx="145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00000" y="3200000"/>
            <a:ext cx="1450000" cy="400000"/>
          </a:xfrm>
          <a:prstGeom prst="rect">
            <a:avLst/>
          </a:prstGeom>
          <a:noFill/>
        </p:spPr>
        <p:txBody>
          <a:bodyPr wrap="square"/>
          <a:lstStyle/>
          <a:p>
            <a:pPr algn="ctr"/>
            <a:r>
              <a:rPr sz="1000" b="1">
                <a:solidFill>
                  <a:srgbClr val="FFFFFF"/>
                </a:solidFill>
                <a:latin typeface="Arial"/>
              </a:rPr>
              <a:t>Al Manama PHC</a:t>
            </a:r>
          </a:p>
        </p:txBody>
      </p:sp>
      <p:sp>
        <p:nvSpPr>
          <p:cNvPr id="30" name="TextBox 29"/>
          <p:cNvSpPr txBox="1"/>
          <p:nvPr/>
        </p:nvSpPr>
        <p:spPr>
          <a:xfrm>
            <a:off x="5400000" y="3700000"/>
            <a:ext cx="1450000" cy="900000"/>
          </a:xfrm>
          <a:prstGeom prst="rect">
            <a:avLst/>
          </a:prstGeom>
          <a:noFill/>
        </p:spPr>
        <p:txBody>
          <a:bodyPr wrap="square"/>
          <a:lstStyle/>
          <a:p>
            <a:pPr algn="l"/>
            <a:r>
              <a:rPr sz="800" b="0">
                <a:solidFill>
                  <a:srgbClr val="595959"/>
                </a:solidFill>
                <a:latin typeface="Arial"/>
              </a:rPr>
              <a:t>Mozah Rashed Mohammed Al Zahmi | Unit Manager
Neema Madappamthottu Thomas | Acting Charge Nurse</a:t>
            </a:r>
          </a:p>
        </p:txBody>
      </p:sp>
      <p:sp>
        <p:nvSpPr>
          <p:cNvPr id="31" name="Rounded Rectangle 30"/>
          <p:cNvSpPr/>
          <p:nvPr/>
        </p:nvSpPr>
        <p:spPr>
          <a:xfrm>
            <a:off x="7000000" y="3200000"/>
            <a:ext cx="145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00000" y="3200000"/>
            <a:ext cx="1450000" cy="400000"/>
          </a:xfrm>
          <a:prstGeom prst="rect">
            <a:avLst/>
          </a:prstGeom>
          <a:noFill/>
        </p:spPr>
        <p:txBody>
          <a:bodyPr wrap="square"/>
          <a:lstStyle/>
          <a:p>
            <a:pPr algn="ctr"/>
            <a:r>
              <a:rPr sz="1000" b="1">
                <a:solidFill>
                  <a:srgbClr val="FFFFFF"/>
                </a:solidFill>
                <a:latin typeface="Arial"/>
              </a:rPr>
              <a:t>Al Hamidiya PHC</a:t>
            </a:r>
          </a:p>
        </p:txBody>
      </p:sp>
      <p:sp>
        <p:nvSpPr>
          <p:cNvPr id="33" name="TextBox 32"/>
          <p:cNvSpPr txBox="1"/>
          <p:nvPr/>
        </p:nvSpPr>
        <p:spPr>
          <a:xfrm>
            <a:off x="7000000" y="3700000"/>
            <a:ext cx="1450000" cy="900000"/>
          </a:xfrm>
          <a:prstGeom prst="rect">
            <a:avLst/>
          </a:prstGeom>
          <a:noFill/>
        </p:spPr>
        <p:txBody>
          <a:bodyPr wrap="square"/>
          <a:lstStyle/>
          <a:p>
            <a:pPr algn="l"/>
            <a:r>
              <a:rPr sz="800" b="0">
                <a:solidFill>
                  <a:srgbClr val="595959"/>
                </a:solidFill>
                <a:latin typeface="Arial"/>
              </a:rPr>
              <a:t>Massoma Hussain Qamber | Unit Manager
Pauline Jhoanna Espina | Acting Charge Nurse</a:t>
            </a:r>
          </a:p>
        </p:txBody>
      </p:sp>
      <p:sp>
        <p:nvSpPr>
          <p:cNvPr id="34" name="Rounded Rectangle 33"/>
          <p:cNvSpPr/>
          <p:nvPr/>
        </p:nvSpPr>
        <p:spPr>
          <a:xfrm>
            <a:off x="8600000" y="3200000"/>
            <a:ext cx="145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00000" y="3200000"/>
            <a:ext cx="1450000" cy="400000"/>
          </a:xfrm>
          <a:prstGeom prst="rect">
            <a:avLst/>
          </a:prstGeom>
          <a:noFill/>
        </p:spPr>
        <p:txBody>
          <a:bodyPr wrap="square"/>
          <a:lstStyle/>
          <a:p>
            <a:pPr algn="ctr"/>
            <a:r>
              <a:rPr sz="1000" b="1">
                <a:solidFill>
                  <a:srgbClr val="FFFFFF"/>
                </a:solidFill>
                <a:latin typeface="Arial"/>
              </a:rPr>
              <a:t>Muzeirah PHC</a:t>
            </a:r>
          </a:p>
        </p:txBody>
      </p:sp>
      <p:sp>
        <p:nvSpPr>
          <p:cNvPr id="36" name="TextBox 35"/>
          <p:cNvSpPr txBox="1"/>
          <p:nvPr/>
        </p:nvSpPr>
        <p:spPr>
          <a:xfrm>
            <a:off x="8600000" y="3700000"/>
            <a:ext cx="1450000" cy="900000"/>
          </a:xfrm>
          <a:prstGeom prst="rect">
            <a:avLst/>
          </a:prstGeom>
          <a:noFill/>
        </p:spPr>
        <p:txBody>
          <a:bodyPr wrap="square"/>
          <a:lstStyle/>
          <a:p>
            <a:pPr algn="l"/>
            <a:r>
              <a:rPr sz="800" b="0">
                <a:solidFill>
                  <a:srgbClr val="595959"/>
                </a:solidFill>
                <a:latin typeface="Arial"/>
              </a:rPr>
              <a:t>Amna Saif Humaid Saif Al Baghash | Acting Unit Manager
Rohini Balachandran | Acting Charge Nurse</a:t>
            </a:r>
          </a:p>
        </p:txBody>
      </p:sp>
      <p:sp>
        <p:nvSpPr>
          <p:cNvPr id="37" name="Rounded Rectangle 36"/>
          <p:cNvSpPr/>
          <p:nvPr/>
        </p:nvSpPr>
        <p:spPr>
          <a:xfrm>
            <a:off x="10100000" y="2400000"/>
            <a:ext cx="1900000" cy="500000"/>
          </a:xfrm>
          <a:prstGeom prst="roundRect">
            <a:avLst>
              <a:gd name="adj" fmla="val 5000"/>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0000" y="2400000"/>
            <a:ext cx="1900000" cy="500000"/>
          </a:xfrm>
          <a:prstGeom prst="rect">
            <a:avLst/>
          </a:prstGeom>
          <a:noFill/>
        </p:spPr>
        <p:txBody>
          <a:bodyPr wrap="square"/>
          <a:lstStyle/>
          <a:p>
            <a:pPr algn="ctr"/>
            <a:r>
              <a:rPr sz="900" b="1">
                <a:solidFill>
                  <a:srgbClr val="FFFFFF"/>
                </a:solidFill>
                <a:latin typeface="Arial"/>
              </a:rPr>
              <a:t>Nadia Qasem | Nurse Manager, Public Health and School Health</a:t>
            </a:r>
          </a:p>
        </p:txBody>
      </p:sp>
      <p:sp>
        <p:nvSpPr>
          <p:cNvPr id="39" name="Rounded Rectangle 38"/>
          <p:cNvSpPr/>
          <p:nvPr/>
        </p:nvSpPr>
        <p:spPr>
          <a:xfrm>
            <a:off x="10200000" y="3100000"/>
            <a:ext cx="170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00000" y="3100000"/>
            <a:ext cx="1700000" cy="400000"/>
          </a:xfrm>
          <a:prstGeom prst="rect">
            <a:avLst/>
          </a:prstGeom>
          <a:noFill/>
        </p:spPr>
        <p:txBody>
          <a:bodyPr wrap="square"/>
          <a:lstStyle/>
          <a:p>
            <a:pPr algn="ctr"/>
            <a:r>
              <a:rPr sz="1000" b="1">
                <a:solidFill>
                  <a:srgbClr val="FFFFFF"/>
                </a:solidFill>
                <a:latin typeface="Arial"/>
              </a:rPr>
              <a:t>School Health</a:t>
            </a:r>
          </a:p>
        </p:txBody>
      </p:sp>
      <p:sp>
        <p:nvSpPr>
          <p:cNvPr id="41" name="TextBox 40"/>
          <p:cNvSpPr txBox="1"/>
          <p:nvPr/>
        </p:nvSpPr>
        <p:spPr>
          <a:xfrm>
            <a:off x="10200000" y="3600000"/>
            <a:ext cx="1700000" cy="500000"/>
          </a:xfrm>
          <a:prstGeom prst="rect">
            <a:avLst/>
          </a:prstGeom>
          <a:noFill/>
        </p:spPr>
        <p:txBody>
          <a:bodyPr wrap="square"/>
          <a:lstStyle/>
          <a:p>
            <a:pPr algn="l"/>
            <a:r>
              <a:rPr sz="800" b="0">
                <a:solidFill>
                  <a:srgbClr val="595959"/>
                </a:solidFill>
                <a:latin typeface="Arial"/>
              </a:rPr>
              <a:t>Hanadi Housein Ammourah | Act. Unit Manager</a:t>
            </a:r>
          </a:p>
        </p:txBody>
      </p:sp>
      <p:sp>
        <p:nvSpPr>
          <p:cNvPr id="42" name="Rounded Rectangle 41"/>
          <p:cNvSpPr/>
          <p:nvPr/>
        </p:nvSpPr>
        <p:spPr>
          <a:xfrm>
            <a:off x="10200000" y="4300000"/>
            <a:ext cx="1700000" cy="40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00000" y="4300000"/>
            <a:ext cx="1700000" cy="400000"/>
          </a:xfrm>
          <a:prstGeom prst="rect">
            <a:avLst/>
          </a:prstGeom>
          <a:noFill/>
        </p:spPr>
        <p:txBody>
          <a:bodyPr wrap="square"/>
          <a:lstStyle/>
          <a:p>
            <a:pPr algn="ctr"/>
            <a:r>
              <a:rPr sz="900" b="1">
                <a:solidFill>
                  <a:srgbClr val="FFFFFF"/>
                </a:solidFill>
                <a:latin typeface="Arial"/>
              </a:rPr>
              <a:t>Public Health | (Ajman Public Health Services)</a:t>
            </a:r>
          </a:p>
        </p:txBody>
      </p:sp>
      <p:sp>
        <p:nvSpPr>
          <p:cNvPr id="44" name="TextBox 43"/>
          <p:cNvSpPr txBox="1"/>
          <p:nvPr/>
        </p:nvSpPr>
        <p:spPr>
          <a:xfrm>
            <a:off x="10200000" y="4800000"/>
            <a:ext cx="1700000" cy="500000"/>
          </a:xfrm>
          <a:prstGeom prst="rect">
            <a:avLst/>
          </a:prstGeom>
          <a:noFill/>
        </p:spPr>
        <p:txBody>
          <a:bodyPr wrap="square"/>
          <a:lstStyle/>
          <a:p>
            <a:pPr algn="l"/>
            <a:r>
              <a:rPr sz="800" b="0">
                <a:solidFill>
                  <a:srgbClr val="595959"/>
                </a:solidFill>
                <a:latin typeface="Arial"/>
              </a:rPr>
              <a:t>Fawzia Abdul Rab | Acting Charge Nurse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AJMAN SERVICE NETWORK</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Nine clinical sites and 33 schools, one nursing administration</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Schematic — not to scale. Nurses &amp; midwives and patient visits, 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4</a:t>
            </a:r>
          </a:p>
        </p:txBody>
      </p:sp>
      <p:sp>
        <p:nvSpPr>
          <p:cNvPr id="8" name="Rounded Rectangle 7"/>
          <p:cNvSpPr/>
          <p:nvPr/>
        </p:nvSpPr>
        <p:spPr>
          <a:xfrm>
            <a:off x="4700000" y="2700000"/>
            <a:ext cx="2800000" cy="12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00" y="2700000"/>
            <a:ext cx="2800000" cy="1200000"/>
          </a:xfrm>
          <a:prstGeom prst="rect">
            <a:avLst/>
          </a:prstGeom>
          <a:noFill/>
        </p:spPr>
        <p:txBody>
          <a:bodyPr wrap="square"/>
          <a:lstStyle/>
          <a:p>
            <a:pPr algn="ctr"/>
            <a:r>
              <a:rPr sz="1300" b="1">
                <a:solidFill>
                  <a:srgbClr val="FFFFFF"/>
                </a:solidFill>
                <a:latin typeface="Arial"/>
              </a:rPr>
              <a:t>Nursing Administration
ADNA · 2 NMs · 2 CRNs · NI</a:t>
            </a:r>
          </a:p>
        </p:txBody>
      </p:sp>
      <p:sp>
        <p:nvSpPr>
          <p:cNvPr id="10" name="Rounded Rectangle 9"/>
          <p:cNvSpPr/>
          <p:nvPr/>
        </p:nvSpPr>
        <p:spPr>
          <a:xfrm>
            <a:off x="548640" y="16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645920"/>
            <a:ext cx="100000" cy="900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0000" y="1745920"/>
            <a:ext cx="2200000" cy="300000"/>
          </a:xfrm>
          <a:prstGeom prst="rect">
            <a:avLst/>
          </a:prstGeom>
          <a:noFill/>
        </p:spPr>
        <p:txBody>
          <a:bodyPr wrap="square"/>
          <a:lstStyle/>
          <a:p>
            <a:pPr algn="l"/>
            <a:r>
              <a:rPr sz="1400" b="1">
                <a:solidFill>
                  <a:srgbClr val="325277"/>
                </a:solidFill>
                <a:latin typeface="Arial"/>
              </a:rPr>
              <a:t>Al Madina PHC</a:t>
            </a:r>
          </a:p>
        </p:txBody>
      </p:sp>
      <p:sp>
        <p:nvSpPr>
          <p:cNvPr id="13" name="TextBox 12"/>
          <p:cNvSpPr txBox="1"/>
          <p:nvPr/>
        </p:nvSpPr>
        <p:spPr>
          <a:xfrm>
            <a:off x="750000" y="2085920"/>
            <a:ext cx="2200000" cy="300000"/>
          </a:xfrm>
          <a:prstGeom prst="rect">
            <a:avLst/>
          </a:prstGeom>
          <a:noFill/>
        </p:spPr>
        <p:txBody>
          <a:bodyPr wrap="square"/>
          <a:lstStyle/>
          <a:p>
            <a:pPr algn="l"/>
            <a:r>
              <a:rPr sz="1200" b="0">
                <a:solidFill>
                  <a:srgbClr val="595959"/>
                </a:solidFill>
                <a:latin typeface="Arial"/>
              </a:rPr>
              <a:t>14 nurses · 2,301 visits</a:t>
            </a:r>
          </a:p>
        </p:txBody>
      </p:sp>
      <p:sp>
        <p:nvSpPr>
          <p:cNvPr id="14" name="Rounded Rectangle 13"/>
          <p:cNvSpPr/>
          <p:nvPr/>
        </p:nvSpPr>
        <p:spPr>
          <a:xfrm>
            <a:off x="548640" y="27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5920"/>
            <a:ext cx="100000" cy="900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0000" y="2845920"/>
            <a:ext cx="2200000" cy="300000"/>
          </a:xfrm>
          <a:prstGeom prst="rect">
            <a:avLst/>
          </a:prstGeom>
          <a:noFill/>
        </p:spPr>
        <p:txBody>
          <a:bodyPr wrap="square"/>
          <a:lstStyle/>
          <a:p>
            <a:pPr algn="l"/>
            <a:r>
              <a:rPr sz="1400" b="1">
                <a:solidFill>
                  <a:srgbClr val="325277"/>
                </a:solidFill>
                <a:latin typeface="Arial"/>
              </a:rPr>
              <a:t>Al Hamidiya PHC</a:t>
            </a:r>
          </a:p>
        </p:txBody>
      </p:sp>
      <p:sp>
        <p:nvSpPr>
          <p:cNvPr id="17" name="TextBox 16"/>
          <p:cNvSpPr txBox="1"/>
          <p:nvPr/>
        </p:nvSpPr>
        <p:spPr>
          <a:xfrm>
            <a:off x="750000" y="3185920"/>
            <a:ext cx="2200000" cy="300000"/>
          </a:xfrm>
          <a:prstGeom prst="rect">
            <a:avLst/>
          </a:prstGeom>
          <a:noFill/>
        </p:spPr>
        <p:txBody>
          <a:bodyPr wrap="square"/>
          <a:lstStyle/>
          <a:p>
            <a:pPr algn="l"/>
            <a:r>
              <a:rPr sz="1200" b="0">
                <a:solidFill>
                  <a:srgbClr val="595959"/>
                </a:solidFill>
                <a:latin typeface="Arial"/>
              </a:rPr>
              <a:t>13 nurses · 3,203 visits</a:t>
            </a:r>
          </a:p>
        </p:txBody>
      </p:sp>
      <p:sp>
        <p:nvSpPr>
          <p:cNvPr id="18" name="Rounded Rectangle 17"/>
          <p:cNvSpPr/>
          <p:nvPr/>
        </p:nvSpPr>
        <p:spPr>
          <a:xfrm>
            <a:off x="548640" y="38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5920"/>
            <a:ext cx="100000" cy="900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0000" y="3945920"/>
            <a:ext cx="2200000" cy="300000"/>
          </a:xfrm>
          <a:prstGeom prst="rect">
            <a:avLst/>
          </a:prstGeom>
          <a:noFill/>
        </p:spPr>
        <p:txBody>
          <a:bodyPr wrap="square"/>
          <a:lstStyle/>
          <a:p>
            <a:pPr algn="l"/>
            <a:r>
              <a:rPr sz="1400" b="1">
                <a:solidFill>
                  <a:srgbClr val="325277"/>
                </a:solidFill>
                <a:latin typeface="Arial"/>
              </a:rPr>
              <a:t>Mushairef PHC</a:t>
            </a:r>
          </a:p>
        </p:txBody>
      </p:sp>
      <p:sp>
        <p:nvSpPr>
          <p:cNvPr id="21" name="TextBox 20"/>
          <p:cNvSpPr txBox="1"/>
          <p:nvPr/>
        </p:nvSpPr>
        <p:spPr>
          <a:xfrm>
            <a:off x="750000" y="4285920"/>
            <a:ext cx="2200000" cy="300000"/>
          </a:xfrm>
          <a:prstGeom prst="rect">
            <a:avLst/>
          </a:prstGeom>
          <a:noFill/>
        </p:spPr>
        <p:txBody>
          <a:bodyPr wrap="square"/>
          <a:lstStyle/>
          <a:p>
            <a:pPr algn="l"/>
            <a:r>
              <a:rPr sz="1200" b="0">
                <a:solidFill>
                  <a:srgbClr val="595959"/>
                </a:solidFill>
                <a:latin typeface="Arial"/>
              </a:rPr>
              <a:t>15 nurses · 2,424 visits</a:t>
            </a:r>
          </a:p>
        </p:txBody>
      </p:sp>
      <p:sp>
        <p:nvSpPr>
          <p:cNvPr id="22" name="Rounded Rectangle 21"/>
          <p:cNvSpPr/>
          <p:nvPr/>
        </p:nvSpPr>
        <p:spPr>
          <a:xfrm>
            <a:off x="3154680" y="498348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54680" y="4983480"/>
            <a:ext cx="100000" cy="900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54680" y="5083480"/>
            <a:ext cx="2200000" cy="300000"/>
          </a:xfrm>
          <a:prstGeom prst="rect">
            <a:avLst/>
          </a:prstGeom>
          <a:noFill/>
        </p:spPr>
        <p:txBody>
          <a:bodyPr wrap="square"/>
          <a:lstStyle/>
          <a:p>
            <a:pPr algn="l"/>
            <a:r>
              <a:rPr sz="1400" b="1">
                <a:solidFill>
                  <a:srgbClr val="325277"/>
                </a:solidFill>
                <a:latin typeface="Arial"/>
              </a:rPr>
              <a:t>Al Manama PHC</a:t>
            </a:r>
          </a:p>
        </p:txBody>
      </p:sp>
      <p:sp>
        <p:nvSpPr>
          <p:cNvPr id="25" name="TextBox 24"/>
          <p:cNvSpPr txBox="1"/>
          <p:nvPr/>
        </p:nvSpPr>
        <p:spPr>
          <a:xfrm>
            <a:off x="3354680" y="5423480"/>
            <a:ext cx="2200000" cy="300000"/>
          </a:xfrm>
          <a:prstGeom prst="rect">
            <a:avLst/>
          </a:prstGeom>
          <a:noFill/>
        </p:spPr>
        <p:txBody>
          <a:bodyPr wrap="square"/>
          <a:lstStyle/>
          <a:p>
            <a:pPr algn="l"/>
            <a:r>
              <a:rPr sz="1200" b="0">
                <a:solidFill>
                  <a:srgbClr val="595959"/>
                </a:solidFill>
                <a:latin typeface="Arial"/>
              </a:rPr>
              <a:t>6 nurses · 602 visits</a:t>
            </a:r>
          </a:p>
        </p:txBody>
      </p:sp>
      <p:sp>
        <p:nvSpPr>
          <p:cNvPr id="26" name="Rounded Rectangle 25"/>
          <p:cNvSpPr/>
          <p:nvPr/>
        </p:nvSpPr>
        <p:spPr>
          <a:xfrm>
            <a:off x="5954680" y="498348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54680" y="4983480"/>
            <a:ext cx="100000" cy="900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54680" y="5083480"/>
            <a:ext cx="2200000" cy="300000"/>
          </a:xfrm>
          <a:prstGeom prst="rect">
            <a:avLst/>
          </a:prstGeom>
          <a:noFill/>
        </p:spPr>
        <p:txBody>
          <a:bodyPr wrap="square"/>
          <a:lstStyle/>
          <a:p>
            <a:pPr algn="l"/>
            <a:r>
              <a:rPr sz="1400" b="1">
                <a:solidFill>
                  <a:srgbClr val="325277"/>
                </a:solidFill>
                <a:latin typeface="Arial"/>
              </a:rPr>
              <a:t>Al Muzeirah PHC</a:t>
            </a:r>
          </a:p>
        </p:txBody>
      </p:sp>
      <p:sp>
        <p:nvSpPr>
          <p:cNvPr id="29" name="TextBox 28"/>
          <p:cNvSpPr txBox="1"/>
          <p:nvPr/>
        </p:nvSpPr>
        <p:spPr>
          <a:xfrm>
            <a:off x="6154680" y="5423480"/>
            <a:ext cx="2200000" cy="300000"/>
          </a:xfrm>
          <a:prstGeom prst="rect">
            <a:avLst/>
          </a:prstGeom>
          <a:noFill/>
        </p:spPr>
        <p:txBody>
          <a:bodyPr wrap="square"/>
          <a:lstStyle/>
          <a:p>
            <a:pPr algn="l"/>
            <a:r>
              <a:rPr sz="1200" b="0">
                <a:solidFill>
                  <a:srgbClr val="595959"/>
                </a:solidFill>
                <a:latin typeface="Arial"/>
              </a:rPr>
              <a:t>2 nurses · 244 visits</a:t>
            </a:r>
          </a:p>
        </p:txBody>
      </p:sp>
      <p:sp>
        <p:nvSpPr>
          <p:cNvPr id="30" name="Rounded Rectangle 29"/>
          <p:cNvSpPr/>
          <p:nvPr/>
        </p:nvSpPr>
        <p:spPr>
          <a:xfrm>
            <a:off x="9052560" y="16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60" y="1645920"/>
            <a:ext cx="100000" cy="900000"/>
          </a:xfrm>
          <a:prstGeom prst="rect">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0000" y="1745920"/>
            <a:ext cx="2200000" cy="300000"/>
          </a:xfrm>
          <a:prstGeom prst="rect">
            <a:avLst/>
          </a:prstGeom>
          <a:noFill/>
        </p:spPr>
        <p:txBody>
          <a:bodyPr wrap="square"/>
          <a:lstStyle/>
          <a:p>
            <a:pPr algn="l"/>
            <a:r>
              <a:rPr sz="1400" b="1">
                <a:solidFill>
                  <a:srgbClr val="325277"/>
                </a:solidFill>
                <a:latin typeface="Arial"/>
              </a:rPr>
              <a:t>Ajman PHS</a:t>
            </a:r>
          </a:p>
        </p:txBody>
      </p:sp>
      <p:sp>
        <p:nvSpPr>
          <p:cNvPr id="33" name="TextBox 32"/>
          <p:cNvSpPr txBox="1"/>
          <p:nvPr/>
        </p:nvSpPr>
        <p:spPr>
          <a:xfrm>
            <a:off x="9250000" y="2085920"/>
            <a:ext cx="2200000" cy="300000"/>
          </a:xfrm>
          <a:prstGeom prst="rect">
            <a:avLst/>
          </a:prstGeom>
          <a:noFill/>
        </p:spPr>
        <p:txBody>
          <a:bodyPr wrap="square"/>
          <a:lstStyle/>
          <a:p>
            <a:pPr algn="l"/>
            <a:r>
              <a:rPr sz="1200" b="0">
                <a:solidFill>
                  <a:srgbClr val="595959"/>
                </a:solidFill>
                <a:latin typeface="Arial"/>
              </a:rPr>
              <a:t>6 nurses · 599 visits</a:t>
            </a:r>
          </a:p>
        </p:txBody>
      </p:sp>
      <p:sp>
        <p:nvSpPr>
          <p:cNvPr id="34" name="Rounded Rectangle 33"/>
          <p:cNvSpPr/>
          <p:nvPr/>
        </p:nvSpPr>
        <p:spPr>
          <a:xfrm>
            <a:off x="9052560" y="27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52560" y="2745920"/>
            <a:ext cx="100000" cy="900000"/>
          </a:xfrm>
          <a:prstGeom prst="rect">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50000" y="2845920"/>
            <a:ext cx="2200000" cy="300000"/>
          </a:xfrm>
          <a:prstGeom prst="rect">
            <a:avLst/>
          </a:prstGeom>
          <a:noFill/>
        </p:spPr>
        <p:txBody>
          <a:bodyPr wrap="square"/>
          <a:lstStyle/>
          <a:p>
            <a:pPr algn="l"/>
            <a:r>
              <a:rPr sz="1400" b="1">
                <a:solidFill>
                  <a:srgbClr val="325277"/>
                </a:solidFill>
                <a:latin typeface="Arial"/>
              </a:rPr>
              <a:t>3 Medical Fitness Centres</a:t>
            </a:r>
          </a:p>
        </p:txBody>
      </p:sp>
      <p:sp>
        <p:nvSpPr>
          <p:cNvPr id="37" name="TextBox 36"/>
          <p:cNvSpPr txBox="1"/>
          <p:nvPr/>
        </p:nvSpPr>
        <p:spPr>
          <a:xfrm>
            <a:off x="9250000" y="3185920"/>
            <a:ext cx="2200000" cy="300000"/>
          </a:xfrm>
          <a:prstGeom prst="rect">
            <a:avLst/>
          </a:prstGeom>
          <a:noFill/>
        </p:spPr>
        <p:txBody>
          <a:bodyPr wrap="square"/>
          <a:lstStyle/>
          <a:p>
            <a:pPr algn="l"/>
            <a:r>
              <a:rPr sz="1200" b="0">
                <a:solidFill>
                  <a:srgbClr val="595959"/>
                </a:solidFill>
                <a:latin typeface="Arial"/>
              </a:rPr>
              <a:t>5 nurses · 2,538 visits</a:t>
            </a:r>
          </a:p>
        </p:txBody>
      </p:sp>
      <p:sp>
        <p:nvSpPr>
          <p:cNvPr id="38" name="Rounded Rectangle 37"/>
          <p:cNvSpPr/>
          <p:nvPr/>
        </p:nvSpPr>
        <p:spPr>
          <a:xfrm>
            <a:off x="9052560" y="3845920"/>
            <a:ext cx="2560320" cy="9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52560" y="3845920"/>
            <a:ext cx="100000" cy="900000"/>
          </a:xfrm>
          <a:prstGeom prst="rect">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50000" y="3945920"/>
            <a:ext cx="2200000" cy="300000"/>
          </a:xfrm>
          <a:prstGeom prst="rect">
            <a:avLst/>
          </a:prstGeom>
          <a:noFill/>
        </p:spPr>
        <p:txBody>
          <a:bodyPr wrap="square"/>
          <a:lstStyle/>
          <a:p>
            <a:pPr algn="l"/>
            <a:r>
              <a:rPr sz="1400" b="1">
                <a:solidFill>
                  <a:srgbClr val="325277"/>
                </a:solidFill>
                <a:latin typeface="Arial"/>
              </a:rPr>
              <a:t>School Health</a:t>
            </a:r>
          </a:p>
        </p:txBody>
      </p:sp>
      <p:sp>
        <p:nvSpPr>
          <p:cNvPr id="41" name="TextBox 40"/>
          <p:cNvSpPr txBox="1"/>
          <p:nvPr/>
        </p:nvSpPr>
        <p:spPr>
          <a:xfrm>
            <a:off x="9250000" y="4285920"/>
            <a:ext cx="2200000" cy="300000"/>
          </a:xfrm>
          <a:prstGeom prst="rect">
            <a:avLst/>
          </a:prstGeom>
          <a:noFill/>
        </p:spPr>
        <p:txBody>
          <a:bodyPr wrap="square"/>
          <a:lstStyle/>
          <a:p>
            <a:pPr algn="l"/>
            <a:r>
              <a:rPr sz="1200" b="0">
                <a:solidFill>
                  <a:srgbClr val="595959"/>
                </a:solidFill>
                <a:latin typeface="Arial"/>
              </a:rPr>
              <a:t>42 staff · 33 schools</a:t>
            </a:r>
          </a:p>
        </p:txBody>
      </p:sp>
      <p:sp>
        <p:nvSpPr>
          <p:cNvPr id="42" name="Rounded Rectangle 41"/>
          <p:cNvSpPr/>
          <p:nvPr/>
        </p:nvSpPr>
        <p:spPr>
          <a:xfrm>
            <a:off x="8595360" y="4983480"/>
            <a:ext cx="306324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0" y="5029200"/>
            <a:ext cx="2880360" cy="1005840"/>
          </a:xfrm>
          <a:prstGeom prst="rect">
            <a:avLst/>
          </a:prstGeom>
          <a:noFill/>
        </p:spPr>
        <p:txBody>
          <a:bodyPr wrap="square"/>
          <a:lstStyle/>
          <a:p>
            <a:pPr algn="l"/>
            <a:r>
              <a:rPr sz="900" b="0">
                <a:solidFill>
                  <a:srgbClr val="595959"/>
                </a:solidFill>
                <a:latin typeface="Arial"/>
              </a:rPr>
              <a:t>Line management: 5 PHCs → Nurse Manager Tareq Mohammed Abu Alkhair. PHS, MFCs and School Health → Nurse Manager Nadia Qasem. Both report to ADNA Jihan Salem Marzooq.</a:t>
            </a:r>
          </a:p>
        </p:txBody>
      </p:sp>
      <p:sp>
        <p:nvSpPr>
          <p:cNvPr id="44" name="TextBox 43"/>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August Ajman PHC Nursing Profile 2026 — NQS Data Summary (nurses &amp; midwives) and productivity sheet (patient volumes). School count: distinct school names in the 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AJMAN NURSING AT A GLANCE</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One department, three service lines, nine clinical sites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August 2026 snapshot unless stated</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3</a:t>
            </a:r>
          </a:p>
        </p:txBody>
      </p:sp>
      <p:sp>
        <p:nvSpPr>
          <p:cNvPr id="8" name="Rounded Rectangle 7"/>
          <p:cNvSpPr/>
          <p:nvPr/>
        </p:nvSpPr>
        <p:spPr>
          <a:xfrm>
            <a:off x="548640" y="164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5920"/>
            <a:ext cx="2606040" cy="500000"/>
          </a:xfrm>
          <a:prstGeom prst="rect">
            <a:avLst/>
          </a:prstGeom>
          <a:noFill/>
        </p:spPr>
        <p:txBody>
          <a:bodyPr wrap="square"/>
          <a:lstStyle/>
          <a:p>
            <a:pPr algn="ctr"/>
            <a:r>
              <a:rPr sz="4000" b="1">
                <a:solidFill>
                  <a:srgbClr val="325277"/>
                </a:solidFill>
                <a:latin typeface="Arial"/>
              </a:rPr>
              <a:t>109</a:t>
            </a:r>
          </a:p>
        </p:txBody>
      </p:sp>
      <p:sp>
        <p:nvSpPr>
          <p:cNvPr id="10" name="TextBox 9"/>
          <p:cNvSpPr txBox="1"/>
          <p:nvPr/>
        </p:nvSpPr>
        <p:spPr>
          <a:xfrm>
            <a:off x="628640" y="2195920"/>
            <a:ext cx="2446040" cy="400000"/>
          </a:xfrm>
          <a:prstGeom prst="rect">
            <a:avLst/>
          </a:prstGeom>
          <a:noFill/>
        </p:spPr>
        <p:txBody>
          <a:bodyPr wrap="square"/>
          <a:lstStyle/>
          <a:p>
            <a:pPr algn="ctr"/>
            <a:r>
              <a:rPr sz="1200" b="0">
                <a:solidFill>
                  <a:srgbClr val="595959"/>
                </a:solidFill>
                <a:latin typeface="Arial"/>
              </a:rPr>
              <a:t>nurses &amp; midwives</a:t>
            </a:r>
          </a:p>
        </p:txBody>
      </p:sp>
      <p:sp>
        <p:nvSpPr>
          <p:cNvPr id="11" name="TextBox 10"/>
          <p:cNvSpPr txBox="1"/>
          <p:nvPr/>
        </p:nvSpPr>
        <p:spPr>
          <a:xfrm>
            <a:off x="628640" y="2515920"/>
            <a:ext cx="2446040" cy="200000"/>
          </a:xfrm>
          <a:prstGeom prst="rect">
            <a:avLst/>
          </a:prstGeom>
          <a:noFill/>
        </p:spPr>
        <p:txBody>
          <a:bodyPr wrap="square"/>
          <a:lstStyle/>
          <a:p>
            <a:pPr algn="ctr"/>
            <a:r>
              <a:rPr sz="900" b="0">
                <a:solidFill>
                  <a:srgbClr val="A9B4C6"/>
                </a:solidFill>
                <a:latin typeface="Arial"/>
              </a:rPr>
              <a:t>Aug 2026</a:t>
            </a:r>
          </a:p>
        </p:txBody>
      </p:sp>
      <p:sp>
        <p:nvSpPr>
          <p:cNvPr id="12" name="Rounded Rectangle 11"/>
          <p:cNvSpPr/>
          <p:nvPr/>
        </p:nvSpPr>
        <p:spPr>
          <a:xfrm>
            <a:off x="3364680" y="164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680" y="1695920"/>
            <a:ext cx="2606040" cy="500000"/>
          </a:xfrm>
          <a:prstGeom prst="rect">
            <a:avLst/>
          </a:prstGeom>
          <a:noFill/>
        </p:spPr>
        <p:txBody>
          <a:bodyPr wrap="square"/>
          <a:lstStyle/>
          <a:p>
            <a:pPr algn="ctr"/>
            <a:r>
              <a:rPr sz="4000" b="1">
                <a:solidFill>
                  <a:srgbClr val="325277"/>
                </a:solidFill>
                <a:latin typeface="Arial"/>
              </a:rPr>
              <a:t>9</a:t>
            </a:r>
          </a:p>
        </p:txBody>
      </p:sp>
      <p:sp>
        <p:nvSpPr>
          <p:cNvPr id="14" name="TextBox 13"/>
          <p:cNvSpPr txBox="1"/>
          <p:nvPr/>
        </p:nvSpPr>
        <p:spPr>
          <a:xfrm>
            <a:off x="3444680" y="2195920"/>
            <a:ext cx="2446040" cy="400000"/>
          </a:xfrm>
          <a:prstGeom prst="rect">
            <a:avLst/>
          </a:prstGeom>
          <a:noFill/>
        </p:spPr>
        <p:txBody>
          <a:bodyPr wrap="square"/>
          <a:lstStyle/>
          <a:p>
            <a:pPr algn="ctr"/>
            <a:r>
              <a:rPr sz="1200" b="0">
                <a:solidFill>
                  <a:srgbClr val="595959"/>
                </a:solidFill>
                <a:latin typeface="Arial"/>
              </a:rPr>
              <a:t>clinical sites: 5 PHCs, PHS, 3 Medical Fitness Centres</a:t>
            </a:r>
          </a:p>
        </p:txBody>
      </p:sp>
      <p:sp>
        <p:nvSpPr>
          <p:cNvPr id="15" name="Rounded Rectangle 14"/>
          <p:cNvSpPr/>
          <p:nvPr/>
        </p:nvSpPr>
        <p:spPr>
          <a:xfrm>
            <a:off x="6180720" y="164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0720" y="1695920"/>
            <a:ext cx="2606040" cy="500000"/>
          </a:xfrm>
          <a:prstGeom prst="rect">
            <a:avLst/>
          </a:prstGeom>
          <a:noFill/>
        </p:spPr>
        <p:txBody>
          <a:bodyPr wrap="square"/>
          <a:lstStyle/>
          <a:p>
            <a:pPr algn="ctr"/>
            <a:r>
              <a:rPr sz="4000" b="1">
                <a:solidFill>
                  <a:srgbClr val="325277"/>
                </a:solidFill>
                <a:latin typeface="Arial"/>
              </a:rPr>
              <a:t>42</a:t>
            </a:r>
          </a:p>
        </p:txBody>
      </p:sp>
      <p:sp>
        <p:nvSpPr>
          <p:cNvPr id="17" name="TextBox 16"/>
          <p:cNvSpPr txBox="1"/>
          <p:nvPr/>
        </p:nvSpPr>
        <p:spPr>
          <a:xfrm>
            <a:off x="6260720" y="2195920"/>
            <a:ext cx="2446040" cy="400000"/>
          </a:xfrm>
          <a:prstGeom prst="rect">
            <a:avLst/>
          </a:prstGeom>
          <a:noFill/>
        </p:spPr>
        <p:txBody>
          <a:bodyPr wrap="square"/>
          <a:lstStyle/>
          <a:p>
            <a:pPr algn="ctr"/>
            <a:r>
              <a:rPr sz="1200" b="0">
                <a:solidFill>
                  <a:srgbClr val="595959"/>
                </a:solidFill>
                <a:latin typeface="Arial"/>
              </a:rPr>
              <a:t>School Health staff (38.5% of nurses &amp; midwives)</a:t>
            </a:r>
          </a:p>
        </p:txBody>
      </p:sp>
      <p:sp>
        <p:nvSpPr>
          <p:cNvPr id="18" name="TextBox 17"/>
          <p:cNvSpPr txBox="1"/>
          <p:nvPr/>
        </p:nvSpPr>
        <p:spPr>
          <a:xfrm>
            <a:off x="6260720" y="2515920"/>
            <a:ext cx="2446040" cy="200000"/>
          </a:xfrm>
          <a:prstGeom prst="rect">
            <a:avLst/>
          </a:prstGeom>
          <a:noFill/>
        </p:spPr>
        <p:txBody>
          <a:bodyPr wrap="square"/>
          <a:lstStyle/>
          <a:p>
            <a:pPr algn="ctr"/>
            <a:r>
              <a:rPr sz="900" b="0">
                <a:solidFill>
                  <a:srgbClr val="A9B4C6"/>
                </a:solidFill>
                <a:latin typeface="Arial"/>
              </a:rPr>
              <a:t>calculated</a:t>
            </a:r>
          </a:p>
        </p:txBody>
      </p:sp>
      <p:sp>
        <p:nvSpPr>
          <p:cNvPr id="19" name="Rounded Rectangle 18"/>
          <p:cNvSpPr/>
          <p:nvPr/>
        </p:nvSpPr>
        <p:spPr>
          <a:xfrm>
            <a:off x="8996760" y="164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96760" y="1695920"/>
            <a:ext cx="2606040" cy="500000"/>
          </a:xfrm>
          <a:prstGeom prst="rect">
            <a:avLst/>
          </a:prstGeom>
          <a:noFill/>
        </p:spPr>
        <p:txBody>
          <a:bodyPr wrap="square"/>
          <a:lstStyle/>
          <a:p>
            <a:pPr algn="ctr"/>
            <a:r>
              <a:rPr sz="4000" b="1">
                <a:solidFill>
                  <a:srgbClr val="325277"/>
                </a:solidFill>
                <a:latin typeface="Arial"/>
              </a:rPr>
              <a:t>33</a:t>
            </a:r>
          </a:p>
        </p:txBody>
      </p:sp>
      <p:sp>
        <p:nvSpPr>
          <p:cNvPr id="21" name="TextBox 20"/>
          <p:cNvSpPr txBox="1"/>
          <p:nvPr/>
        </p:nvSpPr>
        <p:spPr>
          <a:xfrm>
            <a:off x="9076760" y="2195920"/>
            <a:ext cx="2446040" cy="400000"/>
          </a:xfrm>
          <a:prstGeom prst="rect">
            <a:avLst/>
          </a:prstGeom>
          <a:noFill/>
        </p:spPr>
        <p:txBody>
          <a:bodyPr wrap="square"/>
          <a:lstStyle/>
          <a:p>
            <a:pPr algn="ctr"/>
            <a:r>
              <a:rPr sz="1200" b="0">
                <a:solidFill>
                  <a:srgbClr val="595959"/>
                </a:solidFill>
                <a:latin typeface="Arial"/>
              </a:rPr>
              <a:t>schools on the staff profile · 19,464 students recorded</a:t>
            </a:r>
          </a:p>
        </p:txBody>
      </p:sp>
      <p:sp>
        <p:nvSpPr>
          <p:cNvPr id="22" name="TextBox 21"/>
          <p:cNvSpPr txBox="1"/>
          <p:nvPr/>
        </p:nvSpPr>
        <p:spPr>
          <a:xfrm>
            <a:off x="9076760" y="2515920"/>
            <a:ext cx="2446040" cy="200000"/>
          </a:xfrm>
          <a:prstGeom prst="rect">
            <a:avLst/>
          </a:prstGeom>
          <a:noFill/>
        </p:spPr>
        <p:txBody>
          <a:bodyPr wrap="square"/>
          <a:lstStyle/>
          <a:p>
            <a:pPr algn="ctr"/>
            <a:r>
              <a:rPr sz="900" b="0">
                <a:solidFill>
                  <a:srgbClr val="A9B4C6"/>
                </a:solidFill>
                <a:latin typeface="Arial"/>
              </a:rPr>
              <a:t>staff profile, Aug 2026</a:t>
            </a:r>
          </a:p>
        </p:txBody>
      </p:sp>
      <p:sp>
        <p:nvSpPr>
          <p:cNvPr id="23" name="Rounded Rectangle 22"/>
          <p:cNvSpPr/>
          <p:nvPr/>
        </p:nvSpPr>
        <p:spPr>
          <a:xfrm>
            <a:off x="548640" y="315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205920"/>
            <a:ext cx="2606040" cy="500000"/>
          </a:xfrm>
          <a:prstGeom prst="rect">
            <a:avLst/>
          </a:prstGeom>
          <a:noFill/>
        </p:spPr>
        <p:txBody>
          <a:bodyPr wrap="square"/>
          <a:lstStyle/>
          <a:p>
            <a:pPr algn="ctr"/>
            <a:r>
              <a:rPr sz="4000" b="1">
                <a:solidFill>
                  <a:srgbClr val="325277"/>
                </a:solidFill>
                <a:latin typeface="Arial"/>
              </a:rPr>
              <a:t>11,911</a:t>
            </a:r>
          </a:p>
        </p:txBody>
      </p:sp>
      <p:sp>
        <p:nvSpPr>
          <p:cNvPr id="25" name="TextBox 24"/>
          <p:cNvSpPr txBox="1"/>
          <p:nvPr/>
        </p:nvSpPr>
        <p:spPr>
          <a:xfrm>
            <a:off x="628640" y="3705920"/>
            <a:ext cx="2446040" cy="400000"/>
          </a:xfrm>
          <a:prstGeom prst="rect">
            <a:avLst/>
          </a:prstGeom>
          <a:noFill/>
        </p:spPr>
        <p:txBody>
          <a:bodyPr wrap="square"/>
          <a:lstStyle/>
          <a:p>
            <a:pPr algn="ctr"/>
            <a:r>
              <a:rPr sz="1200" b="0">
                <a:solidFill>
                  <a:srgbClr val="595959"/>
                </a:solidFill>
                <a:latin typeface="Arial"/>
              </a:rPr>
              <a:t>patient visits across the 9 sites</a:t>
            </a:r>
          </a:p>
        </p:txBody>
      </p:sp>
      <p:sp>
        <p:nvSpPr>
          <p:cNvPr id="26" name="TextBox 25"/>
          <p:cNvSpPr txBox="1"/>
          <p:nvPr/>
        </p:nvSpPr>
        <p:spPr>
          <a:xfrm>
            <a:off x="628640" y="4025920"/>
            <a:ext cx="2446040" cy="200000"/>
          </a:xfrm>
          <a:prstGeom prst="rect">
            <a:avLst/>
          </a:prstGeom>
          <a:noFill/>
        </p:spPr>
        <p:txBody>
          <a:bodyPr wrap="square"/>
          <a:lstStyle/>
          <a:p>
            <a:pPr algn="ctr"/>
            <a:r>
              <a:rPr sz="900" b="0">
                <a:solidFill>
                  <a:srgbClr val="A9B4C6"/>
                </a:solidFill>
                <a:latin typeface="Arial"/>
              </a:rPr>
              <a:t>August 2026 (latest month)</a:t>
            </a:r>
          </a:p>
        </p:txBody>
      </p:sp>
      <p:sp>
        <p:nvSpPr>
          <p:cNvPr id="27" name="Rounded Rectangle 26"/>
          <p:cNvSpPr/>
          <p:nvPr/>
        </p:nvSpPr>
        <p:spPr>
          <a:xfrm>
            <a:off x="3364680" y="315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64680" y="3205920"/>
            <a:ext cx="2606040" cy="500000"/>
          </a:xfrm>
          <a:prstGeom prst="rect">
            <a:avLst/>
          </a:prstGeom>
          <a:noFill/>
        </p:spPr>
        <p:txBody>
          <a:bodyPr wrap="square"/>
          <a:lstStyle/>
          <a:p>
            <a:pPr algn="ctr"/>
            <a:r>
              <a:rPr sz="4000" b="1">
                <a:solidFill>
                  <a:srgbClr val="325277"/>
                </a:solidFill>
                <a:latin typeface="Arial"/>
              </a:rPr>
              <a:t>73%</a:t>
            </a:r>
          </a:p>
        </p:txBody>
      </p:sp>
      <p:sp>
        <p:nvSpPr>
          <p:cNvPr id="29" name="TextBox 28"/>
          <p:cNvSpPr txBox="1"/>
          <p:nvPr/>
        </p:nvSpPr>
        <p:spPr>
          <a:xfrm>
            <a:off x="3444680" y="3705920"/>
            <a:ext cx="2446040" cy="400000"/>
          </a:xfrm>
          <a:prstGeom prst="rect">
            <a:avLst/>
          </a:prstGeom>
          <a:noFill/>
        </p:spPr>
        <p:txBody>
          <a:bodyPr wrap="square"/>
          <a:lstStyle/>
          <a:p>
            <a:pPr algn="ctr"/>
            <a:r>
              <a:rPr sz="1200" b="0">
                <a:solidFill>
                  <a:srgbClr val="595959"/>
                </a:solidFill>
                <a:latin typeface="Arial"/>
              </a:rPr>
              <a:t>hold a BSN (incl. bridging) · 83 of 113 staff</a:t>
            </a:r>
          </a:p>
        </p:txBody>
      </p:sp>
      <p:sp>
        <p:nvSpPr>
          <p:cNvPr id="30" name="Rounded Rectangle 29"/>
          <p:cNvSpPr/>
          <p:nvPr/>
        </p:nvSpPr>
        <p:spPr>
          <a:xfrm>
            <a:off x="6180720" y="315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80720" y="3205920"/>
            <a:ext cx="2606040" cy="500000"/>
          </a:xfrm>
          <a:prstGeom prst="rect">
            <a:avLst/>
          </a:prstGeom>
          <a:noFill/>
        </p:spPr>
        <p:txBody>
          <a:bodyPr wrap="square"/>
          <a:lstStyle/>
          <a:p>
            <a:pPr algn="ctr"/>
            <a:r>
              <a:rPr sz="4000" b="1">
                <a:solidFill>
                  <a:srgbClr val="325277"/>
                </a:solidFill>
                <a:latin typeface="Arial"/>
              </a:rPr>
              <a:t>12.4%</a:t>
            </a:r>
          </a:p>
        </p:txBody>
      </p:sp>
      <p:sp>
        <p:nvSpPr>
          <p:cNvPr id="32" name="TextBox 31"/>
          <p:cNvSpPr txBox="1"/>
          <p:nvPr/>
        </p:nvSpPr>
        <p:spPr>
          <a:xfrm>
            <a:off x="6260720" y="3705920"/>
            <a:ext cx="2446040" cy="400000"/>
          </a:xfrm>
          <a:prstGeom prst="rect">
            <a:avLst/>
          </a:prstGeom>
          <a:noFill/>
        </p:spPr>
        <p:txBody>
          <a:bodyPr wrap="square"/>
          <a:lstStyle/>
          <a:p>
            <a:pPr algn="ctr"/>
            <a:r>
              <a:rPr sz="1200" b="0">
                <a:solidFill>
                  <a:srgbClr val="595959"/>
                </a:solidFill>
                <a:latin typeface="Arial"/>
              </a:rPr>
              <a:t>Emirati · 14 of 113 staff</a:t>
            </a:r>
          </a:p>
        </p:txBody>
      </p:sp>
      <p:sp>
        <p:nvSpPr>
          <p:cNvPr id="33" name="TextBox 32"/>
          <p:cNvSpPr txBox="1"/>
          <p:nvPr/>
        </p:nvSpPr>
        <p:spPr>
          <a:xfrm>
            <a:off x="6260720" y="4025920"/>
            <a:ext cx="2446040" cy="200000"/>
          </a:xfrm>
          <a:prstGeom prst="rect">
            <a:avLst/>
          </a:prstGeom>
          <a:noFill/>
        </p:spPr>
        <p:txBody>
          <a:bodyPr wrap="square"/>
          <a:lstStyle/>
          <a:p>
            <a:pPr algn="ctr"/>
            <a:r>
              <a:rPr sz="900" b="0">
                <a:solidFill>
                  <a:srgbClr val="A9B4C6"/>
                </a:solidFill>
                <a:latin typeface="Arial"/>
              </a:rPr>
              <a:t>target +2 pp vs 2025</a:t>
            </a:r>
          </a:p>
        </p:txBody>
      </p:sp>
      <p:sp>
        <p:nvSpPr>
          <p:cNvPr id="34" name="Rounded Rectangle 33"/>
          <p:cNvSpPr/>
          <p:nvPr/>
        </p:nvSpPr>
        <p:spPr>
          <a:xfrm>
            <a:off x="8996760" y="3155920"/>
            <a:ext cx="260604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96760" y="3205920"/>
            <a:ext cx="2606040" cy="500000"/>
          </a:xfrm>
          <a:prstGeom prst="rect">
            <a:avLst/>
          </a:prstGeom>
          <a:noFill/>
        </p:spPr>
        <p:txBody>
          <a:bodyPr wrap="square"/>
          <a:lstStyle/>
          <a:p>
            <a:pPr algn="ctr"/>
            <a:r>
              <a:rPr sz="4000" b="1">
                <a:solidFill>
                  <a:srgbClr val="325277"/>
                </a:solidFill>
                <a:latin typeface="Arial"/>
              </a:rPr>
              <a:t>12.2 yrs</a:t>
            </a:r>
          </a:p>
        </p:txBody>
      </p:sp>
      <p:sp>
        <p:nvSpPr>
          <p:cNvPr id="36" name="TextBox 35"/>
          <p:cNvSpPr txBox="1"/>
          <p:nvPr/>
        </p:nvSpPr>
        <p:spPr>
          <a:xfrm>
            <a:off x="9076760" y="3705920"/>
            <a:ext cx="2446040" cy="400000"/>
          </a:xfrm>
          <a:prstGeom prst="rect">
            <a:avLst/>
          </a:prstGeom>
          <a:noFill/>
        </p:spPr>
        <p:txBody>
          <a:bodyPr wrap="square"/>
          <a:lstStyle/>
          <a:p>
            <a:pPr algn="ctr"/>
            <a:r>
              <a:rPr sz="1200" b="0">
                <a:solidFill>
                  <a:srgbClr val="595959"/>
                </a:solidFill>
                <a:latin typeface="Arial"/>
              </a:rPr>
              <a:t>average experience · mean age 41.9</a:t>
            </a:r>
          </a:p>
        </p:txBody>
      </p:sp>
      <p:sp>
        <p:nvSpPr>
          <p:cNvPr id="37" name="TextBox 36"/>
          <p:cNvSpPr txBox="1"/>
          <p:nvPr/>
        </p:nvSpPr>
        <p:spPr>
          <a:xfrm>
            <a:off x="9076760" y="4025920"/>
            <a:ext cx="2446040" cy="200000"/>
          </a:xfrm>
          <a:prstGeom prst="rect">
            <a:avLst/>
          </a:prstGeom>
          <a:noFill/>
        </p:spPr>
        <p:txBody>
          <a:bodyPr wrap="square"/>
          <a:lstStyle/>
          <a:p>
            <a:pPr algn="ctr"/>
            <a:r>
              <a:rPr sz="900" b="0">
                <a:solidFill>
                  <a:srgbClr val="A9B4C6"/>
                </a:solidFill>
                <a:latin typeface="Arial"/>
              </a:rPr>
              <a:t>calculated</a:t>
            </a:r>
          </a:p>
        </p:txBody>
      </p:sp>
      <p:sp>
        <p:nvSpPr>
          <p:cNvPr id="38" name="TextBox 37"/>
          <p:cNvSpPr txBox="1"/>
          <p:nvPr/>
        </p:nvSpPr>
        <p:spPr>
          <a:xfrm>
            <a:off x="548640" y="4700000"/>
            <a:ext cx="11064240" cy="640080"/>
          </a:xfrm>
          <a:prstGeom prst="rect">
            <a:avLst/>
          </a:prstGeom>
          <a:noFill/>
        </p:spPr>
        <p:txBody>
          <a:bodyPr wrap="square"/>
          <a:lstStyle/>
          <a:p>
            <a:pPr algn="l"/>
            <a:r>
              <a:rPr sz="1100" b="0">
                <a:solidFill>
                  <a:srgbClr val="595959"/>
                </a:solidFill>
                <a:latin typeface="Arial"/>
              </a:rPr>
              <a:t>Leadership: ADNA Jihan Salem Marzooq · Nurse Managers Tareq Mohammed Abu Alkhair (5 PHCs) and Nadia Qasem (PHS &amp; School Health)
Movement Jan–Aug 2026: 4 new recruits, 6 leavers (4 resigned, 1 end of contract, 1 transfer out) · headcount 110 → 109</a:t>
            </a:r>
          </a:p>
        </p:txBody>
      </p:sp>
      <p:sp>
        <p:nvSpPr>
          <p:cNvPr id="39" name="Rectangle 38"/>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School Health is the largest single nursing group, yet it is the only service line without a line in the monthly KPI report.</a:t>
            </a:r>
          </a:p>
        </p:txBody>
      </p:sp>
      <p:sp>
        <p:nvSpPr>
          <p:cNvPr id="41" name="TextBox 40"/>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August Ajman PHC Nursing Profile 2026 (Profile, NQS Data Summary, Productivity sheets); Nursing Operational Plan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EXECUTIVE SUMMARY</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Strong clinical compliance, a structural productivity gap</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Five facts leadership should hold — and the decisions they point to</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a:t>
            </a:r>
          </a:p>
        </p:txBody>
      </p:sp>
      <p:sp>
        <p:nvSpPr>
          <p:cNvPr id="8" name="Oval 7"/>
          <p:cNvSpPr/>
          <p:nvPr/>
        </p:nvSpPr>
        <p:spPr>
          <a:xfrm>
            <a:off x="548640" y="1645920"/>
            <a:ext cx="380000" cy="38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45920"/>
            <a:ext cx="380000" cy="380000"/>
          </a:xfrm>
          <a:prstGeom prst="rect">
            <a:avLst/>
          </a:prstGeom>
          <a:noFill/>
        </p:spPr>
        <p:txBody>
          <a:bodyPr wrap="square"/>
          <a:lstStyle/>
          <a:p>
            <a:pPr algn="ctr"/>
            <a:r>
              <a:rPr sz="1600" b="1">
                <a:solidFill>
                  <a:srgbClr val="FFFFFF"/>
                </a:solidFill>
                <a:latin typeface="Arial"/>
              </a:rPr>
              <a:t>1</a:t>
            </a:r>
          </a:p>
        </p:txBody>
      </p:sp>
      <p:sp>
        <p:nvSpPr>
          <p:cNvPr id="10" name="TextBox 9"/>
          <p:cNvSpPr txBox="1"/>
          <p:nvPr/>
        </p:nvSpPr>
        <p:spPr>
          <a:xfrm>
            <a:off x="1100000" y="1645920"/>
            <a:ext cx="6000000" cy="240000"/>
          </a:xfrm>
          <a:prstGeom prst="rect">
            <a:avLst/>
          </a:prstGeom>
          <a:noFill/>
        </p:spPr>
        <p:txBody>
          <a:bodyPr wrap="square"/>
          <a:lstStyle/>
          <a:p>
            <a:pPr algn="l"/>
            <a:r>
              <a:rPr sz="1400" b="1">
                <a:solidFill>
                  <a:srgbClr val="325277"/>
                </a:solidFill>
                <a:latin typeface="Arial"/>
              </a:rPr>
              <a:t>One integrated service</a:t>
            </a:r>
          </a:p>
        </p:txBody>
      </p:sp>
      <p:sp>
        <p:nvSpPr>
          <p:cNvPr id="11" name="TextBox 10"/>
          <p:cNvSpPr txBox="1"/>
          <p:nvPr/>
        </p:nvSpPr>
        <p:spPr>
          <a:xfrm>
            <a:off x="1100000" y="1905920"/>
            <a:ext cx="6000000" cy="420000"/>
          </a:xfrm>
          <a:prstGeom prst="rect">
            <a:avLst/>
          </a:prstGeom>
          <a:noFill/>
        </p:spPr>
        <p:txBody>
          <a:bodyPr wrap="square"/>
          <a:lstStyle/>
          <a:p>
            <a:pPr algn="l"/>
            <a:r>
              <a:rPr sz="1100" b="0">
                <a:solidFill>
                  <a:srgbClr val="595959"/>
                </a:solidFill>
                <a:latin typeface="Arial"/>
              </a:rPr>
              <a:t>109 nurses &amp; midwives (Aug 2026) across 5 PHCs, Ajman PHS with 3 Medical Fitness Centres, and School Health — 42 School Health staff covering 33 schools on the staff profile.</a:t>
            </a:r>
          </a:p>
        </p:txBody>
      </p:sp>
      <p:sp>
        <p:nvSpPr>
          <p:cNvPr id="12" name="Oval 11"/>
          <p:cNvSpPr/>
          <p:nvPr/>
        </p:nvSpPr>
        <p:spPr>
          <a:xfrm>
            <a:off x="548640" y="2375920"/>
            <a:ext cx="380000" cy="38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375920"/>
            <a:ext cx="380000" cy="380000"/>
          </a:xfrm>
          <a:prstGeom prst="rect">
            <a:avLst/>
          </a:prstGeom>
          <a:noFill/>
        </p:spPr>
        <p:txBody>
          <a:bodyPr wrap="square"/>
          <a:lstStyle/>
          <a:p>
            <a:pPr algn="ctr"/>
            <a:r>
              <a:rPr sz="1600" b="1">
                <a:solidFill>
                  <a:srgbClr val="FFFFFF"/>
                </a:solidFill>
                <a:latin typeface="Arial"/>
              </a:rPr>
              <a:t>2</a:t>
            </a:r>
          </a:p>
        </p:txBody>
      </p:sp>
      <p:sp>
        <p:nvSpPr>
          <p:cNvPr id="14" name="TextBox 13"/>
          <p:cNvSpPr txBox="1"/>
          <p:nvPr/>
        </p:nvSpPr>
        <p:spPr>
          <a:xfrm>
            <a:off x="1100000" y="2375920"/>
            <a:ext cx="6000000" cy="240000"/>
          </a:xfrm>
          <a:prstGeom prst="rect">
            <a:avLst/>
          </a:prstGeom>
          <a:noFill/>
        </p:spPr>
        <p:txBody>
          <a:bodyPr wrap="square"/>
          <a:lstStyle/>
          <a:p>
            <a:pPr algn="l"/>
            <a:r>
              <a:rPr sz="1400" b="1">
                <a:solidFill>
                  <a:srgbClr val="325277"/>
                </a:solidFill>
                <a:latin typeface="Arial"/>
              </a:rPr>
              <a:t>Clinical compliance is strong</a:t>
            </a:r>
          </a:p>
        </p:txBody>
      </p:sp>
      <p:sp>
        <p:nvSpPr>
          <p:cNvPr id="15" name="TextBox 14"/>
          <p:cNvSpPr txBox="1"/>
          <p:nvPr/>
        </p:nvSpPr>
        <p:spPr>
          <a:xfrm>
            <a:off x="1100000" y="2635920"/>
            <a:ext cx="6000000" cy="420000"/>
          </a:xfrm>
          <a:prstGeom prst="rect">
            <a:avLst/>
          </a:prstGeom>
          <a:noFill/>
        </p:spPr>
        <p:txBody>
          <a:bodyPr wrap="square"/>
          <a:lstStyle/>
          <a:p>
            <a:pPr algn="l"/>
            <a:r>
              <a:rPr sz="1100" b="0">
                <a:solidFill>
                  <a:srgbClr val="595959"/>
                </a:solidFill>
                <a:latin typeface="Arial"/>
              </a:rPr>
              <a:t>Documentation met target in 48 of 48 centre-months (Jan–Aug 2026); Hand Hygiene 46 of 48; Pain Reassessment 100% at all six centres since July.</a:t>
            </a:r>
          </a:p>
        </p:txBody>
      </p:sp>
      <p:sp>
        <p:nvSpPr>
          <p:cNvPr id="16" name="Oval 15"/>
          <p:cNvSpPr/>
          <p:nvPr/>
        </p:nvSpPr>
        <p:spPr>
          <a:xfrm>
            <a:off x="548640" y="3105920"/>
            <a:ext cx="380000" cy="38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105920"/>
            <a:ext cx="380000" cy="380000"/>
          </a:xfrm>
          <a:prstGeom prst="rect">
            <a:avLst/>
          </a:prstGeom>
          <a:noFill/>
        </p:spPr>
        <p:txBody>
          <a:bodyPr wrap="square"/>
          <a:lstStyle/>
          <a:p>
            <a:pPr algn="ctr"/>
            <a:r>
              <a:rPr sz="1600" b="1">
                <a:solidFill>
                  <a:srgbClr val="FFFFFF"/>
                </a:solidFill>
                <a:latin typeface="Arial"/>
              </a:rPr>
              <a:t>3</a:t>
            </a:r>
          </a:p>
        </p:txBody>
      </p:sp>
      <p:sp>
        <p:nvSpPr>
          <p:cNvPr id="18" name="TextBox 17"/>
          <p:cNvSpPr txBox="1"/>
          <p:nvPr/>
        </p:nvSpPr>
        <p:spPr>
          <a:xfrm>
            <a:off x="1100000" y="3105920"/>
            <a:ext cx="6000000" cy="240000"/>
          </a:xfrm>
          <a:prstGeom prst="rect">
            <a:avLst/>
          </a:prstGeom>
          <a:noFill/>
        </p:spPr>
        <p:txBody>
          <a:bodyPr wrap="square"/>
          <a:lstStyle/>
          <a:p>
            <a:pPr algn="l"/>
            <a:r>
              <a:rPr sz="1400" b="1">
                <a:solidFill>
                  <a:srgbClr val="325277"/>
                </a:solidFill>
                <a:latin typeface="Arial"/>
              </a:rPr>
              <a:t>Productivity is the structural gap</a:t>
            </a:r>
          </a:p>
        </p:txBody>
      </p:sp>
      <p:sp>
        <p:nvSpPr>
          <p:cNvPr id="19" name="TextBox 18"/>
          <p:cNvSpPr txBox="1"/>
          <p:nvPr/>
        </p:nvSpPr>
        <p:spPr>
          <a:xfrm>
            <a:off x="1100000" y="3365920"/>
            <a:ext cx="6000000" cy="420000"/>
          </a:xfrm>
          <a:prstGeom prst="rect">
            <a:avLst/>
          </a:prstGeom>
          <a:noFill/>
        </p:spPr>
        <p:txBody>
          <a:bodyPr wrap="square"/>
          <a:lstStyle/>
          <a:p>
            <a:pPr algn="l"/>
            <a:r>
              <a:rPr sz="1100" b="0">
                <a:solidFill>
                  <a:srgbClr val="595959"/>
                </a:solidFill>
                <a:latin typeface="Arial"/>
              </a:rPr>
              <a:t>0 of 48 clinic readings reached the 95% lower limit. Jan–Aug averages: 25.8%–55.2% in the clinics, 98.6%–120.8% in the fitness centres.</a:t>
            </a:r>
          </a:p>
        </p:txBody>
      </p:sp>
      <p:sp>
        <p:nvSpPr>
          <p:cNvPr id="20" name="Oval 19"/>
          <p:cNvSpPr/>
          <p:nvPr/>
        </p:nvSpPr>
        <p:spPr>
          <a:xfrm>
            <a:off x="548640" y="3835920"/>
            <a:ext cx="380000" cy="38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835920"/>
            <a:ext cx="380000" cy="380000"/>
          </a:xfrm>
          <a:prstGeom prst="rect">
            <a:avLst/>
          </a:prstGeom>
          <a:noFill/>
        </p:spPr>
        <p:txBody>
          <a:bodyPr wrap="square"/>
          <a:lstStyle/>
          <a:p>
            <a:pPr algn="ctr"/>
            <a:r>
              <a:rPr sz="1600" b="1">
                <a:solidFill>
                  <a:srgbClr val="FFFFFF"/>
                </a:solidFill>
                <a:latin typeface="Arial"/>
              </a:rPr>
              <a:t>4</a:t>
            </a:r>
          </a:p>
        </p:txBody>
      </p:sp>
      <p:sp>
        <p:nvSpPr>
          <p:cNvPr id="22" name="TextBox 21"/>
          <p:cNvSpPr txBox="1"/>
          <p:nvPr/>
        </p:nvSpPr>
        <p:spPr>
          <a:xfrm>
            <a:off x="1100000" y="3835920"/>
            <a:ext cx="6000000" cy="240000"/>
          </a:xfrm>
          <a:prstGeom prst="rect">
            <a:avLst/>
          </a:prstGeom>
          <a:noFill/>
        </p:spPr>
        <p:txBody>
          <a:bodyPr wrap="square"/>
          <a:lstStyle/>
          <a:p>
            <a:pPr algn="l"/>
            <a:r>
              <a:rPr sz="1400" b="1">
                <a:solidFill>
                  <a:srgbClr val="325277"/>
                </a:solidFill>
                <a:latin typeface="Arial"/>
              </a:rPr>
              <a:t>Patient Identification is the live safety priority</a:t>
            </a:r>
          </a:p>
        </p:txBody>
      </p:sp>
      <p:sp>
        <p:nvSpPr>
          <p:cNvPr id="23" name="TextBox 22"/>
          <p:cNvSpPr txBox="1"/>
          <p:nvPr/>
        </p:nvSpPr>
        <p:spPr>
          <a:xfrm>
            <a:off x="1100000" y="4095920"/>
            <a:ext cx="6000000" cy="420000"/>
          </a:xfrm>
          <a:prstGeom prst="rect">
            <a:avLst/>
          </a:prstGeom>
          <a:noFill/>
        </p:spPr>
        <p:txBody>
          <a:bodyPr wrap="square"/>
          <a:lstStyle/>
          <a:p>
            <a:pPr algn="l"/>
            <a:r>
              <a:rPr sz="1100" b="0">
                <a:solidFill>
                  <a:srgbClr val="595959"/>
                </a:solidFill>
                <a:latin typeface="Arial"/>
              </a:rPr>
              <a:t>QIP across 9 sites: staff knowledge 83.2% → 94.8% (Aug–Sep 2026). In August, 2 of 6 centres were still below the 100% target.</a:t>
            </a:r>
          </a:p>
        </p:txBody>
      </p:sp>
      <p:sp>
        <p:nvSpPr>
          <p:cNvPr id="24" name="Oval 23"/>
          <p:cNvSpPr/>
          <p:nvPr/>
        </p:nvSpPr>
        <p:spPr>
          <a:xfrm>
            <a:off x="548640" y="4565920"/>
            <a:ext cx="380000" cy="38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565920"/>
            <a:ext cx="380000" cy="380000"/>
          </a:xfrm>
          <a:prstGeom prst="rect">
            <a:avLst/>
          </a:prstGeom>
          <a:noFill/>
        </p:spPr>
        <p:txBody>
          <a:bodyPr wrap="square"/>
          <a:lstStyle/>
          <a:p>
            <a:pPr algn="ctr"/>
            <a:r>
              <a:rPr sz="1600" b="1">
                <a:solidFill>
                  <a:srgbClr val="FFFFFF"/>
                </a:solidFill>
                <a:latin typeface="Arial"/>
              </a:rPr>
              <a:t>5</a:t>
            </a:r>
          </a:p>
        </p:txBody>
      </p:sp>
      <p:sp>
        <p:nvSpPr>
          <p:cNvPr id="26" name="TextBox 25"/>
          <p:cNvSpPr txBox="1"/>
          <p:nvPr/>
        </p:nvSpPr>
        <p:spPr>
          <a:xfrm>
            <a:off x="1100000" y="4565920"/>
            <a:ext cx="6000000" cy="240000"/>
          </a:xfrm>
          <a:prstGeom prst="rect">
            <a:avLst/>
          </a:prstGeom>
          <a:noFill/>
        </p:spPr>
        <p:txBody>
          <a:bodyPr wrap="square"/>
          <a:lstStyle/>
          <a:p>
            <a:pPr algn="l"/>
            <a:r>
              <a:rPr sz="1400" b="1">
                <a:solidFill>
                  <a:srgbClr val="325277"/>
                </a:solidFill>
                <a:latin typeface="Arial"/>
              </a:rPr>
              <a:t>Oversight visit — 12 Nov 2026</a:t>
            </a:r>
          </a:p>
        </p:txBody>
      </p:sp>
      <p:sp>
        <p:nvSpPr>
          <p:cNvPr id="27" name="TextBox 26"/>
          <p:cNvSpPr txBox="1"/>
          <p:nvPr/>
        </p:nvSpPr>
        <p:spPr>
          <a:xfrm>
            <a:off x="1100000" y="4825920"/>
            <a:ext cx="6000000" cy="420000"/>
          </a:xfrm>
          <a:prstGeom prst="rect">
            <a:avLst/>
          </a:prstGeom>
          <a:noFill/>
        </p:spPr>
        <p:txBody>
          <a:bodyPr wrap="square"/>
          <a:lstStyle/>
          <a:p>
            <a:pPr algn="l"/>
            <a:r>
              <a:rPr sz="1100" b="0">
                <a:solidFill>
                  <a:srgbClr val="595959"/>
                </a:solidFill>
                <a:latin typeface="Arial"/>
              </a:rPr>
              <a:t>11 of 23 facility-owned criteria have no evidence on file (25 Sep 2026 scan); Professional Development is the widest gap.</a:t>
            </a:r>
          </a:p>
        </p:txBody>
      </p:sp>
      <p:sp>
        <p:nvSpPr>
          <p:cNvPr id="28" name="Rounded Rectangle 27"/>
          <p:cNvSpPr/>
          <p:nvPr/>
        </p:nvSpPr>
        <p:spPr>
          <a:xfrm>
            <a:off x="7635240" y="1645920"/>
            <a:ext cx="4023360" cy="4480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1783080"/>
            <a:ext cx="3657600" cy="274320"/>
          </a:xfrm>
          <a:prstGeom prst="rect">
            <a:avLst/>
          </a:prstGeom>
          <a:noFill/>
        </p:spPr>
        <p:txBody>
          <a:bodyPr wrap="square"/>
          <a:lstStyle/>
          <a:p>
            <a:pPr algn="l"/>
            <a:r>
              <a:rPr sz="1400" b="1">
                <a:solidFill>
                  <a:srgbClr val="325277"/>
                </a:solidFill>
                <a:latin typeface="Arial"/>
              </a:rPr>
              <a:t>DECISIONS REQUESTED</a:t>
            </a:r>
          </a:p>
        </p:txBody>
      </p:sp>
      <p:sp>
        <p:nvSpPr>
          <p:cNvPr id="30" name="TextBox 29"/>
          <p:cNvSpPr txBox="1"/>
          <p:nvPr/>
        </p:nvSpPr>
        <p:spPr>
          <a:xfrm>
            <a:off x="7863840" y="2057400"/>
            <a:ext cx="3657600" cy="256032"/>
          </a:xfrm>
          <a:prstGeom prst="rect">
            <a:avLst/>
          </a:prstGeom>
          <a:noFill/>
        </p:spPr>
        <p:txBody>
          <a:bodyPr wrap="square"/>
          <a:lstStyle/>
          <a:p>
            <a:pPr algn="l"/>
            <a:r>
              <a:rPr sz="1100" b="0">
                <a:solidFill>
                  <a:srgbClr val="A9B4C6"/>
                </a:solidFill>
                <a:latin typeface="Arial"/>
              </a:rPr>
              <a:t>Recommendation — for leadership decision</a:t>
            </a:r>
          </a:p>
        </p:txBody>
      </p:sp>
      <p:sp>
        <p:nvSpPr>
          <p:cNvPr id="31" name="TextBox 30"/>
          <p:cNvSpPr txBox="1"/>
          <p:nvPr/>
        </p:nvSpPr>
        <p:spPr>
          <a:xfrm>
            <a:off x="7863840" y="2377440"/>
            <a:ext cx="3611880" cy="3566160"/>
          </a:xfrm>
          <a:prstGeom prst="rect">
            <a:avLst/>
          </a:prstGeom>
          <a:noFill/>
        </p:spPr>
        <p:txBody>
          <a:bodyPr wrap="square"/>
          <a:lstStyle/>
          <a:p>
            <a:pPr algn="l"/>
            <a:r>
              <a:rPr sz="1100" b="0">
                <a:solidFill>
                  <a:srgbClr val="595959"/>
                </a:solidFill>
                <a:latin typeface="Arial"/>
              </a:rPr>
              <a:t>Confirm how the 95%–115% productivity band applies to low-volume sites (Al Muzeirah, Al Manama, PHS clinic).
Protect staff time to close the 11 empty oversight criteria before 12 Nov 2026.
Re-validate the leadership records that have lapsed (41 of 96 current).
Decide on the Assistant Nurse School Health pilot (2 ANs, 2026–27).
Adopt one approved KPI target register — monthly reports and the Operational Plan differ.</a:t>
            </a:r>
          </a:p>
        </p:txBody>
      </p:sp>
      <p:sp>
        <p:nvSpPr>
          <p:cNvPr id="32" name="TextBox 3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 PHC KPI Reports Jan–Aug 2026; August 2026 Nursing Profile (NQS Data Summary); QIP-PTID-AJM-2026 report (8 Sep 2026); Oversight evidence folder scan (25 Sep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NURSING SERVICE MODEL</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Nursing is present at every step of the community journey</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Conceptual model — each touchpoint taken from a 2026 plan, report or service record</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5</a:t>
            </a:r>
          </a:p>
        </p:txBody>
      </p:sp>
      <p:sp>
        <p:nvSpPr>
          <p:cNvPr id="8" name="Rectangle 7"/>
          <p:cNvSpPr/>
          <p:nvPr/>
        </p:nvSpPr>
        <p:spPr>
          <a:xfrm>
            <a:off x="0" y="0"/>
            <a:ext cx="91440" cy="6858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00000" y="347472"/>
            <a:ext cx="1800000" cy="365760"/>
          </a:xfrm>
          <a:prstGeom prst="roundRect">
            <a:avLst>
              <a:gd name="adj" fmla="val 1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PHC</a:t>
            </a:r>
          </a:p>
        </p:txBody>
      </p:sp>
      <p:sp>
        <p:nvSpPr>
          <p:cNvPr id="10" name="Oval 9"/>
          <p:cNvSpPr/>
          <p:nvPr/>
        </p:nvSpPr>
        <p:spPr>
          <a:xfrm>
            <a:off x="548640" y="1828800"/>
            <a:ext cx="1371600" cy="96012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28800"/>
            <a:ext cx="1371600" cy="960120"/>
          </a:xfrm>
          <a:prstGeom prst="rect">
            <a:avLst/>
          </a:prstGeom>
          <a:noFill/>
        </p:spPr>
        <p:txBody>
          <a:bodyPr wrap="square"/>
          <a:lstStyle/>
          <a:p>
            <a:pPr algn="ctr"/>
            <a:r>
              <a:rPr sz="1100" b="1">
                <a:solidFill>
                  <a:srgbClr val="FFFFFF"/>
                </a:solidFill>
                <a:latin typeface="Arial"/>
              </a:rPr>
              <a:t>Community</a:t>
            </a:r>
          </a:p>
        </p:txBody>
      </p:sp>
      <p:sp>
        <p:nvSpPr>
          <p:cNvPr id="12" name="TextBox 11"/>
          <p:cNvSpPr txBox="1"/>
          <p:nvPr/>
        </p:nvSpPr>
        <p:spPr>
          <a:xfrm>
            <a:off x="498640" y="2926080"/>
            <a:ext cx="1471600" cy="1100000"/>
          </a:xfrm>
          <a:prstGeom prst="rect">
            <a:avLst/>
          </a:prstGeom>
          <a:noFill/>
        </p:spPr>
        <p:txBody>
          <a:bodyPr wrap="square"/>
          <a:lstStyle/>
          <a:p>
            <a:pPr algn="ctr"/>
            <a:r>
              <a:rPr sz="1000" b="0">
                <a:solidFill>
                  <a:srgbClr val="595959"/>
                </a:solidFill>
                <a:latin typeface="Arial"/>
              </a:rPr>
              <a:t>Families, students, workers across Ajman</a:t>
            </a:r>
          </a:p>
        </p:txBody>
      </p:sp>
      <p:sp>
        <p:nvSpPr>
          <p:cNvPr id="13" name="Oval 12"/>
          <p:cNvSpPr/>
          <p:nvPr/>
        </p:nvSpPr>
        <p:spPr>
          <a:xfrm>
            <a:off x="19572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57240" y="1828800"/>
            <a:ext cx="1371600" cy="960120"/>
          </a:xfrm>
          <a:prstGeom prst="rect">
            <a:avLst/>
          </a:prstGeom>
          <a:noFill/>
        </p:spPr>
        <p:txBody>
          <a:bodyPr wrap="square"/>
          <a:lstStyle/>
          <a:p>
            <a:pPr algn="ctr"/>
            <a:r>
              <a:rPr sz="1100" b="1">
                <a:solidFill>
                  <a:srgbClr val="FFFFFF"/>
                </a:solidFill>
                <a:latin typeface="Arial"/>
              </a:rPr>
              <a:t>Prevention</a:t>
            </a:r>
          </a:p>
        </p:txBody>
      </p:sp>
      <p:sp>
        <p:nvSpPr>
          <p:cNvPr id="15" name="TextBox 14"/>
          <p:cNvSpPr txBox="1"/>
          <p:nvPr/>
        </p:nvSpPr>
        <p:spPr>
          <a:xfrm>
            <a:off x="1907240" y="2926080"/>
            <a:ext cx="1471600" cy="1100000"/>
          </a:xfrm>
          <a:prstGeom prst="rect">
            <a:avLst/>
          </a:prstGeom>
          <a:noFill/>
        </p:spPr>
        <p:txBody>
          <a:bodyPr wrap="square"/>
          <a:lstStyle/>
          <a:p>
            <a:pPr algn="ctr"/>
            <a:r>
              <a:rPr sz="1000" b="0">
                <a:solidFill>
                  <a:srgbClr val="595959"/>
                </a:solidFill>
                <a:latin typeface="Arial"/>
              </a:rPr>
              <a:t>Community campaigns; labour-camp flu vaccination (PHS); Year of the Family 2026</a:t>
            </a:r>
          </a:p>
        </p:txBody>
      </p:sp>
      <p:sp>
        <p:nvSpPr>
          <p:cNvPr id="16" name="Oval 15"/>
          <p:cNvSpPr/>
          <p:nvPr/>
        </p:nvSpPr>
        <p:spPr>
          <a:xfrm>
            <a:off x="33658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5840" y="1828800"/>
            <a:ext cx="1371600" cy="960120"/>
          </a:xfrm>
          <a:prstGeom prst="rect">
            <a:avLst/>
          </a:prstGeom>
          <a:noFill/>
        </p:spPr>
        <p:txBody>
          <a:bodyPr wrap="square"/>
          <a:lstStyle/>
          <a:p>
            <a:pPr algn="ctr"/>
            <a:r>
              <a:rPr sz="1100" b="1">
                <a:solidFill>
                  <a:srgbClr val="FFFFFF"/>
                </a:solidFill>
                <a:latin typeface="Arial"/>
              </a:rPr>
              <a:t>Screening</a:t>
            </a:r>
          </a:p>
        </p:txBody>
      </p:sp>
      <p:sp>
        <p:nvSpPr>
          <p:cNvPr id="18" name="TextBox 17"/>
          <p:cNvSpPr txBox="1"/>
          <p:nvPr/>
        </p:nvSpPr>
        <p:spPr>
          <a:xfrm>
            <a:off x="3315840" y="2926080"/>
            <a:ext cx="1471600" cy="1100000"/>
          </a:xfrm>
          <a:prstGeom prst="rect">
            <a:avLst/>
          </a:prstGeom>
          <a:noFill/>
        </p:spPr>
        <p:txBody>
          <a:bodyPr wrap="square"/>
          <a:lstStyle/>
          <a:p>
            <a:pPr algn="ctr"/>
            <a:r>
              <a:rPr sz="1000" b="0">
                <a:solidFill>
                  <a:srgbClr val="595959"/>
                </a:solidFill>
                <a:latin typeface="Arial"/>
              </a:rPr>
              <a:t>School vision, hearing, BMI, dental; periodic care screening; medical fitness; fall-risk</a:t>
            </a:r>
          </a:p>
        </p:txBody>
      </p:sp>
      <p:sp>
        <p:nvSpPr>
          <p:cNvPr id="19" name="Oval 18"/>
          <p:cNvSpPr/>
          <p:nvPr/>
        </p:nvSpPr>
        <p:spPr>
          <a:xfrm>
            <a:off x="47744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4440" y="1828800"/>
            <a:ext cx="1371600" cy="960120"/>
          </a:xfrm>
          <a:prstGeom prst="rect">
            <a:avLst/>
          </a:prstGeom>
          <a:noFill/>
        </p:spPr>
        <p:txBody>
          <a:bodyPr wrap="square"/>
          <a:lstStyle/>
          <a:p>
            <a:pPr algn="ctr"/>
            <a:r>
              <a:rPr sz="1100" b="1">
                <a:solidFill>
                  <a:srgbClr val="FFFFFF"/>
                </a:solidFill>
                <a:latin typeface="Arial"/>
              </a:rPr>
              <a:t>PHC · PHS
· SH</a:t>
            </a:r>
          </a:p>
        </p:txBody>
      </p:sp>
      <p:sp>
        <p:nvSpPr>
          <p:cNvPr id="21" name="TextBox 20"/>
          <p:cNvSpPr txBox="1"/>
          <p:nvPr/>
        </p:nvSpPr>
        <p:spPr>
          <a:xfrm>
            <a:off x="4724440" y="2926080"/>
            <a:ext cx="1471600" cy="1100000"/>
          </a:xfrm>
          <a:prstGeom prst="rect">
            <a:avLst/>
          </a:prstGeom>
          <a:noFill/>
        </p:spPr>
        <p:txBody>
          <a:bodyPr wrap="square"/>
          <a:lstStyle/>
          <a:p>
            <a:pPr algn="ctr"/>
            <a:r>
              <a:rPr sz="1000" b="0">
                <a:solidFill>
                  <a:srgbClr val="595959"/>
                </a:solidFill>
                <a:latin typeface="Arial"/>
              </a:rPr>
              <a:t>9 clinical sites + 33 school clinics</a:t>
            </a:r>
          </a:p>
        </p:txBody>
      </p:sp>
      <p:sp>
        <p:nvSpPr>
          <p:cNvPr id="22" name="Oval 21"/>
          <p:cNvSpPr/>
          <p:nvPr/>
        </p:nvSpPr>
        <p:spPr>
          <a:xfrm>
            <a:off x="61830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3040" y="1828800"/>
            <a:ext cx="1371600" cy="960120"/>
          </a:xfrm>
          <a:prstGeom prst="rect">
            <a:avLst/>
          </a:prstGeom>
          <a:noFill/>
        </p:spPr>
        <p:txBody>
          <a:bodyPr wrap="square"/>
          <a:lstStyle/>
          <a:p>
            <a:pPr algn="ctr"/>
            <a:r>
              <a:rPr sz="1100" b="1">
                <a:solidFill>
                  <a:srgbClr val="FFFFFF"/>
                </a:solidFill>
                <a:latin typeface="Arial"/>
              </a:rPr>
              <a:t>Treatment</a:t>
            </a:r>
          </a:p>
        </p:txBody>
      </p:sp>
      <p:sp>
        <p:nvSpPr>
          <p:cNvPr id="24" name="TextBox 23"/>
          <p:cNvSpPr txBox="1"/>
          <p:nvPr/>
        </p:nvSpPr>
        <p:spPr>
          <a:xfrm>
            <a:off x="6133040" y="2926080"/>
            <a:ext cx="1471600" cy="1100000"/>
          </a:xfrm>
          <a:prstGeom prst="rect">
            <a:avLst/>
          </a:prstGeom>
          <a:noFill/>
        </p:spPr>
        <p:txBody>
          <a:bodyPr wrap="square"/>
          <a:lstStyle/>
          <a:p>
            <a:pPr algn="ctr"/>
            <a:r>
              <a:rPr sz="1000" b="0">
                <a:solidFill>
                  <a:srgbClr val="595959"/>
                </a:solidFill>
                <a:latin typeface="Arial"/>
              </a:rPr>
              <a:t>GP / Family Medicine, NCD clinics, treatment rooms, urgent care</a:t>
            </a:r>
          </a:p>
        </p:txBody>
      </p:sp>
      <p:sp>
        <p:nvSpPr>
          <p:cNvPr id="25" name="Oval 24"/>
          <p:cNvSpPr/>
          <p:nvPr/>
        </p:nvSpPr>
        <p:spPr>
          <a:xfrm>
            <a:off x="75916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91640" y="1828800"/>
            <a:ext cx="1371600" cy="960120"/>
          </a:xfrm>
          <a:prstGeom prst="rect">
            <a:avLst/>
          </a:prstGeom>
          <a:noFill/>
        </p:spPr>
        <p:txBody>
          <a:bodyPr wrap="square"/>
          <a:lstStyle/>
          <a:p>
            <a:pPr algn="ctr"/>
            <a:r>
              <a:rPr sz="1100" b="1">
                <a:solidFill>
                  <a:srgbClr val="FFFFFF"/>
                </a:solidFill>
                <a:latin typeface="Arial"/>
              </a:rPr>
              <a:t>Referral</a:t>
            </a:r>
          </a:p>
        </p:txBody>
      </p:sp>
      <p:sp>
        <p:nvSpPr>
          <p:cNvPr id="27" name="TextBox 26"/>
          <p:cNvSpPr txBox="1"/>
          <p:nvPr/>
        </p:nvSpPr>
        <p:spPr>
          <a:xfrm>
            <a:off x="7541640" y="2926080"/>
            <a:ext cx="1471600" cy="1100000"/>
          </a:xfrm>
          <a:prstGeom prst="rect">
            <a:avLst/>
          </a:prstGeom>
          <a:noFill/>
        </p:spPr>
        <p:txBody>
          <a:bodyPr wrap="square"/>
          <a:lstStyle/>
          <a:p>
            <a:pPr algn="ctr"/>
            <a:r>
              <a:rPr sz="1000" b="0">
                <a:solidFill>
                  <a:srgbClr val="595959"/>
                </a:solidFill>
                <a:latin typeface="Arial"/>
              </a:rPr>
              <a:t>At-risk students referred; occupational health to doctor, lab or vaccination</a:t>
            </a:r>
          </a:p>
        </p:txBody>
      </p:sp>
      <p:sp>
        <p:nvSpPr>
          <p:cNvPr id="28" name="Oval 27"/>
          <p:cNvSpPr/>
          <p:nvPr/>
        </p:nvSpPr>
        <p:spPr>
          <a:xfrm>
            <a:off x="9000240" y="1828800"/>
            <a:ext cx="1371600" cy="960120"/>
          </a:xfrm>
          <a:prstGeom prst="ellipse">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0240" y="1828800"/>
            <a:ext cx="1371600" cy="960120"/>
          </a:xfrm>
          <a:prstGeom prst="rect">
            <a:avLst/>
          </a:prstGeom>
          <a:noFill/>
        </p:spPr>
        <p:txBody>
          <a:bodyPr wrap="square"/>
          <a:lstStyle/>
          <a:p>
            <a:pPr algn="ctr"/>
            <a:r>
              <a:rPr sz="1100" b="1">
                <a:solidFill>
                  <a:srgbClr val="FFFFFF"/>
                </a:solidFill>
                <a:latin typeface="Arial"/>
              </a:rPr>
              <a:t>Follow-up</a:t>
            </a:r>
          </a:p>
        </p:txBody>
      </p:sp>
      <p:sp>
        <p:nvSpPr>
          <p:cNvPr id="30" name="TextBox 29"/>
          <p:cNvSpPr txBox="1"/>
          <p:nvPr/>
        </p:nvSpPr>
        <p:spPr>
          <a:xfrm>
            <a:off x="8950240" y="2926080"/>
            <a:ext cx="1471600" cy="1100000"/>
          </a:xfrm>
          <a:prstGeom prst="rect">
            <a:avLst/>
          </a:prstGeom>
          <a:noFill/>
        </p:spPr>
        <p:txBody>
          <a:bodyPr wrap="square"/>
          <a:lstStyle/>
          <a:p>
            <a:pPr algn="ctr"/>
            <a:r>
              <a:rPr sz="1000" b="0">
                <a:solidFill>
                  <a:srgbClr val="595959"/>
                </a:solidFill>
                <a:latin typeface="Arial"/>
              </a:rPr>
              <a:t>Home visits; vaccination defaulter tracing; pain reassessment</a:t>
            </a:r>
          </a:p>
        </p:txBody>
      </p:sp>
      <p:sp>
        <p:nvSpPr>
          <p:cNvPr id="31" name="Oval 30"/>
          <p:cNvSpPr/>
          <p:nvPr/>
        </p:nvSpPr>
        <p:spPr>
          <a:xfrm>
            <a:off x="10408840" y="1828800"/>
            <a:ext cx="1371600" cy="96012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08840" y="1828800"/>
            <a:ext cx="1371600" cy="960120"/>
          </a:xfrm>
          <a:prstGeom prst="rect">
            <a:avLst/>
          </a:prstGeom>
          <a:noFill/>
        </p:spPr>
        <p:txBody>
          <a:bodyPr wrap="square"/>
          <a:lstStyle/>
          <a:p>
            <a:pPr algn="ctr"/>
            <a:r>
              <a:rPr sz="1100" b="1">
                <a:solidFill>
                  <a:srgbClr val="FFFFFF"/>
                </a:solidFill>
                <a:latin typeface="Arial"/>
              </a:rPr>
              <a:t>Healthier
Ajman</a:t>
            </a:r>
          </a:p>
        </p:txBody>
      </p:sp>
      <p:sp>
        <p:nvSpPr>
          <p:cNvPr id="33" name="TextBox 32"/>
          <p:cNvSpPr txBox="1"/>
          <p:nvPr/>
        </p:nvSpPr>
        <p:spPr>
          <a:xfrm>
            <a:off x="10358840" y="2926080"/>
            <a:ext cx="1471600" cy="1100000"/>
          </a:xfrm>
          <a:prstGeom prst="rect">
            <a:avLst/>
          </a:prstGeom>
          <a:noFill/>
        </p:spPr>
        <p:txBody>
          <a:bodyPr wrap="square"/>
          <a:lstStyle/>
          <a:p>
            <a:pPr algn="ctr"/>
            <a:r>
              <a:rPr sz="1000" b="0">
                <a:solidFill>
                  <a:srgbClr val="595959"/>
                </a:solidFill>
                <a:latin typeface="Arial"/>
              </a:rPr>
              <a:t>Coverage, safety and satisfaction outcomes</a:t>
            </a:r>
          </a:p>
        </p:txBody>
      </p:sp>
      <p:sp>
        <p:nvSpPr>
          <p:cNvPr id="34" name="Rounded Rectangle 33"/>
          <p:cNvSpPr/>
          <p:nvPr/>
        </p:nvSpPr>
        <p:spPr>
          <a:xfrm>
            <a:off x="548640" y="3977640"/>
            <a:ext cx="539496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069080"/>
            <a:ext cx="5029200" cy="274320"/>
          </a:xfrm>
          <a:prstGeom prst="rect">
            <a:avLst/>
          </a:prstGeom>
          <a:noFill/>
        </p:spPr>
        <p:txBody>
          <a:bodyPr wrap="square"/>
          <a:lstStyle/>
          <a:p>
            <a:pPr algn="l"/>
            <a:r>
              <a:rPr sz="1300" b="1">
                <a:solidFill>
                  <a:srgbClr val="325277"/>
                </a:solidFill>
                <a:latin typeface="Arial"/>
              </a:rPr>
              <a:t>WHAT MAKES IT ONE SYSTEM</a:t>
            </a:r>
          </a:p>
        </p:txBody>
      </p:sp>
      <p:sp>
        <p:nvSpPr>
          <p:cNvPr id="36" name="TextBox 35"/>
          <p:cNvSpPr txBox="1"/>
          <p:nvPr/>
        </p:nvSpPr>
        <p:spPr>
          <a:xfrm>
            <a:off x="731520" y="4343400"/>
            <a:ext cx="5120640" cy="1005840"/>
          </a:xfrm>
          <a:prstGeom prst="rect">
            <a:avLst/>
          </a:prstGeom>
          <a:noFill/>
        </p:spPr>
        <p:txBody>
          <a:bodyPr wrap="square"/>
          <a:lstStyle/>
          <a:p>
            <a:pPr algn="l"/>
            <a:r>
              <a:rPr sz="1100" b="0">
                <a:solidFill>
                  <a:srgbClr val="595959"/>
                </a:solidFill>
                <a:latin typeface="Arial"/>
              </a:rPr>
              <a:t>One Nursing Operational Plan for PHC, PHS &amp; School Health (26 objectives)
One KPI master tracker covering all nine clinical sites
School nurses support PHC centres during school holidaysol holidays</a:t>
            </a:r>
          </a:p>
        </p:txBody>
      </p:sp>
      <p:sp>
        <p:nvSpPr>
          <p:cNvPr id="37" name="Rounded Rectangle 36"/>
          <p:cNvSpPr/>
          <p:nvPr/>
        </p:nvSpPr>
        <p:spPr>
          <a:xfrm>
            <a:off x="6217920" y="3977640"/>
            <a:ext cx="5394960" cy="14173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069080"/>
            <a:ext cx="5029200" cy="274320"/>
          </a:xfrm>
          <a:prstGeom prst="rect">
            <a:avLst/>
          </a:prstGeom>
          <a:noFill/>
        </p:spPr>
        <p:txBody>
          <a:bodyPr wrap="square"/>
          <a:lstStyle/>
          <a:p>
            <a:pPr algn="l"/>
            <a:r>
              <a:rPr sz="1300" b="1">
                <a:solidFill>
                  <a:srgbClr val="325277"/>
                </a:solidFill>
                <a:latin typeface="Arial"/>
              </a:rPr>
              <a:t>REACH OF THE SYSTEM</a:t>
            </a:r>
          </a:p>
        </p:txBody>
      </p:sp>
      <p:sp>
        <p:nvSpPr>
          <p:cNvPr id="39" name="TextBox 38"/>
          <p:cNvSpPr txBox="1"/>
          <p:nvPr/>
        </p:nvSpPr>
        <p:spPr>
          <a:xfrm>
            <a:off x="6400800" y="4343400"/>
            <a:ext cx="5120640" cy="1005840"/>
          </a:xfrm>
          <a:prstGeom prst="rect">
            <a:avLst/>
          </a:prstGeom>
          <a:noFill/>
        </p:spPr>
        <p:txBody>
          <a:bodyPr wrap="square"/>
          <a:lstStyle/>
          <a:p>
            <a:pPr algn="l"/>
            <a:r>
              <a:rPr sz="1100" b="0">
                <a:solidFill>
                  <a:srgbClr val="595959"/>
                </a:solidFill>
                <a:latin typeface="Arial"/>
              </a:rPr>
              <a:t>11,911 patient visits across the nine sites in August 2026
33 schools with 19,464 students recorded on the staff profile
100 nurses trained in patient identification across all sites (Aug–Sep 2026)</a:t>
            </a:r>
          </a:p>
        </p:txBody>
      </p:sp>
      <p:sp>
        <p:nvSpPr>
          <p:cNvPr id="40" name="Rectangle 39"/>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Prevention, screening and treatment run through the same nursing workforce — decisions about one service line move the others.</a:t>
            </a:r>
          </a:p>
        </p:txBody>
      </p:sp>
      <p:sp>
        <p:nvSpPr>
          <p:cNvPr id="42" name="TextBox 4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Nursing Operational Plan 2026; Hamidiya &amp; PHS New/Expansion Service forms 2025; EHS Nursing Dept email on PHS scope (7 Nov 2024); SH minutes 2026; Nursing Profile Aug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PHC NURSING OVERVIEW</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Five centres, 50 nurses, productivity averaging 25.8%–55.2%</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Primary Healthcare Centres — Al Madina, Al Hamidiya, Mushairef, Al Manama, Al Muzeirah</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6</a:t>
            </a:r>
          </a:p>
        </p:txBody>
      </p:sp>
      <p:sp>
        <p:nvSpPr>
          <p:cNvPr id="8" name="Rounded Rectangle 7"/>
          <p:cNvSpPr/>
          <p:nvPr/>
        </p:nvSpPr>
        <p:spPr>
          <a:xfrm>
            <a:off x="54864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5920"/>
            <a:ext cx="2651760" cy="500000"/>
          </a:xfrm>
          <a:prstGeom prst="rect">
            <a:avLst/>
          </a:prstGeom>
          <a:noFill/>
        </p:spPr>
        <p:txBody>
          <a:bodyPr wrap="square"/>
          <a:lstStyle/>
          <a:p>
            <a:pPr algn="ctr"/>
            <a:r>
              <a:rPr sz="4000" b="1">
                <a:solidFill>
                  <a:srgbClr val="325277"/>
                </a:solidFill>
                <a:latin typeface="Arial"/>
              </a:rPr>
              <a:t>50</a:t>
            </a:r>
          </a:p>
        </p:txBody>
      </p:sp>
      <p:sp>
        <p:nvSpPr>
          <p:cNvPr id="10" name="TextBox 9"/>
          <p:cNvSpPr txBox="1"/>
          <p:nvPr/>
        </p:nvSpPr>
        <p:spPr>
          <a:xfrm>
            <a:off x="628640" y="2195920"/>
            <a:ext cx="2491760" cy="400000"/>
          </a:xfrm>
          <a:prstGeom prst="rect">
            <a:avLst/>
          </a:prstGeom>
          <a:noFill/>
        </p:spPr>
        <p:txBody>
          <a:bodyPr wrap="square"/>
          <a:lstStyle/>
          <a:p>
            <a:pPr algn="ctr"/>
            <a:r>
              <a:rPr sz="1200" b="0">
                <a:solidFill>
                  <a:srgbClr val="595959"/>
                </a:solidFill>
                <a:latin typeface="Arial"/>
              </a:rPr>
              <a:t>nurses &amp; midwives in the 5 PHCs</a:t>
            </a:r>
          </a:p>
        </p:txBody>
      </p:sp>
      <p:sp>
        <p:nvSpPr>
          <p:cNvPr id="11" name="TextBox 10"/>
          <p:cNvSpPr txBox="1"/>
          <p:nvPr/>
        </p:nvSpPr>
        <p:spPr>
          <a:xfrm>
            <a:off x="628640" y="2515920"/>
            <a:ext cx="2491760" cy="200000"/>
          </a:xfrm>
          <a:prstGeom prst="rect">
            <a:avLst/>
          </a:prstGeom>
          <a:noFill/>
        </p:spPr>
        <p:txBody>
          <a:bodyPr wrap="square"/>
          <a:lstStyle/>
          <a:p>
            <a:pPr algn="ctr"/>
            <a:r>
              <a:rPr sz="900" b="0">
                <a:solidFill>
                  <a:srgbClr val="A9B4C6"/>
                </a:solidFill>
                <a:latin typeface="Arial"/>
              </a:rPr>
              <a:t>Aug 2026</a:t>
            </a:r>
          </a:p>
        </p:txBody>
      </p:sp>
      <p:sp>
        <p:nvSpPr>
          <p:cNvPr id="12" name="Rounded Rectangle 11"/>
          <p:cNvSpPr/>
          <p:nvPr/>
        </p:nvSpPr>
        <p:spPr>
          <a:xfrm>
            <a:off x="341040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400" y="1695920"/>
            <a:ext cx="2651760" cy="500000"/>
          </a:xfrm>
          <a:prstGeom prst="rect">
            <a:avLst/>
          </a:prstGeom>
          <a:noFill/>
        </p:spPr>
        <p:txBody>
          <a:bodyPr wrap="square"/>
          <a:lstStyle/>
          <a:p>
            <a:pPr algn="ctr"/>
            <a:r>
              <a:rPr sz="4000" b="1">
                <a:solidFill>
                  <a:srgbClr val="325277"/>
                </a:solidFill>
                <a:latin typeface="Arial"/>
              </a:rPr>
              <a:t>98–100%</a:t>
            </a:r>
          </a:p>
        </p:txBody>
      </p:sp>
      <p:sp>
        <p:nvSpPr>
          <p:cNvPr id="14" name="TextBox 13"/>
          <p:cNvSpPr txBox="1"/>
          <p:nvPr/>
        </p:nvSpPr>
        <p:spPr>
          <a:xfrm>
            <a:off x="3490400" y="2195920"/>
            <a:ext cx="2491760" cy="400000"/>
          </a:xfrm>
          <a:prstGeom prst="rect">
            <a:avLst/>
          </a:prstGeom>
          <a:noFill/>
        </p:spPr>
        <p:txBody>
          <a:bodyPr wrap="square"/>
          <a:lstStyle/>
          <a:p>
            <a:pPr algn="ctr"/>
            <a:r>
              <a:rPr sz="1200" b="0">
                <a:solidFill>
                  <a:srgbClr val="595959"/>
                </a:solidFill>
                <a:latin typeface="Arial"/>
              </a:rPr>
              <a:t>Documentation, Aug (target 85%)</a:t>
            </a:r>
          </a:p>
        </p:txBody>
      </p:sp>
      <p:sp>
        <p:nvSpPr>
          <p:cNvPr id="15" name="Rounded Rectangle 14"/>
          <p:cNvSpPr/>
          <p:nvPr/>
        </p:nvSpPr>
        <p:spPr>
          <a:xfrm>
            <a:off x="548640" y="315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05920"/>
            <a:ext cx="2651760" cy="500000"/>
          </a:xfrm>
          <a:prstGeom prst="rect">
            <a:avLst/>
          </a:prstGeom>
          <a:noFill/>
        </p:spPr>
        <p:txBody>
          <a:bodyPr wrap="square"/>
          <a:lstStyle/>
          <a:p>
            <a:pPr algn="ctr"/>
            <a:r>
              <a:rPr sz="4000" b="1">
                <a:solidFill>
                  <a:srgbClr val="325277"/>
                </a:solidFill>
                <a:latin typeface="Arial"/>
              </a:rPr>
              <a:t>8,774</a:t>
            </a:r>
          </a:p>
        </p:txBody>
      </p:sp>
      <p:sp>
        <p:nvSpPr>
          <p:cNvPr id="17" name="TextBox 16"/>
          <p:cNvSpPr txBox="1"/>
          <p:nvPr/>
        </p:nvSpPr>
        <p:spPr>
          <a:xfrm>
            <a:off x="628640" y="3705920"/>
            <a:ext cx="2491760" cy="400000"/>
          </a:xfrm>
          <a:prstGeom prst="rect">
            <a:avLst/>
          </a:prstGeom>
          <a:noFill/>
        </p:spPr>
        <p:txBody>
          <a:bodyPr wrap="square"/>
          <a:lstStyle/>
          <a:p>
            <a:pPr algn="ctr"/>
            <a:r>
              <a:rPr sz="1200" b="0">
                <a:solidFill>
                  <a:srgbClr val="595959"/>
                </a:solidFill>
                <a:latin typeface="Arial"/>
              </a:rPr>
              <a:t>patient visits in the 5 PHCs</a:t>
            </a:r>
          </a:p>
        </p:txBody>
      </p:sp>
      <p:sp>
        <p:nvSpPr>
          <p:cNvPr id="18" name="TextBox 17"/>
          <p:cNvSpPr txBox="1"/>
          <p:nvPr/>
        </p:nvSpPr>
        <p:spPr>
          <a:xfrm>
            <a:off x="628640" y="4025920"/>
            <a:ext cx="2491760" cy="200000"/>
          </a:xfrm>
          <a:prstGeom prst="rect">
            <a:avLst/>
          </a:prstGeom>
          <a:noFill/>
        </p:spPr>
        <p:txBody>
          <a:bodyPr wrap="square"/>
          <a:lstStyle/>
          <a:p>
            <a:pPr algn="ctr"/>
            <a:r>
              <a:rPr sz="900" b="0">
                <a:solidFill>
                  <a:srgbClr val="A9B4C6"/>
                </a:solidFill>
                <a:latin typeface="Arial"/>
              </a:rPr>
              <a:t>August 2026</a:t>
            </a:r>
          </a:p>
        </p:txBody>
      </p:sp>
      <p:sp>
        <p:nvSpPr>
          <p:cNvPr id="19" name="Rounded Rectangle 18"/>
          <p:cNvSpPr/>
          <p:nvPr/>
        </p:nvSpPr>
        <p:spPr>
          <a:xfrm>
            <a:off x="3410400" y="315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400" y="3205920"/>
            <a:ext cx="2651760" cy="500000"/>
          </a:xfrm>
          <a:prstGeom prst="rect">
            <a:avLst/>
          </a:prstGeom>
          <a:noFill/>
        </p:spPr>
        <p:txBody>
          <a:bodyPr wrap="square"/>
          <a:lstStyle/>
          <a:p>
            <a:pPr algn="ctr"/>
            <a:r>
              <a:rPr sz="4000" b="1">
                <a:solidFill>
                  <a:srgbClr val="325277"/>
                </a:solidFill>
                <a:latin typeface="Arial"/>
              </a:rPr>
              <a:t>40.5%</a:t>
            </a:r>
          </a:p>
        </p:txBody>
      </p:sp>
      <p:sp>
        <p:nvSpPr>
          <p:cNvPr id="21" name="TextBox 20"/>
          <p:cNvSpPr txBox="1"/>
          <p:nvPr/>
        </p:nvSpPr>
        <p:spPr>
          <a:xfrm>
            <a:off x="3490400" y="3705920"/>
            <a:ext cx="2491760" cy="400000"/>
          </a:xfrm>
          <a:prstGeom prst="rect">
            <a:avLst/>
          </a:prstGeom>
          <a:noFill/>
        </p:spPr>
        <p:txBody>
          <a:bodyPr wrap="square"/>
          <a:lstStyle/>
          <a:p>
            <a:pPr algn="ctr"/>
            <a:r>
              <a:rPr sz="1200" b="0">
                <a:solidFill>
                  <a:srgbClr val="595959"/>
                </a:solidFill>
                <a:latin typeface="Arial"/>
              </a:rPr>
              <a:t>average productivity, Jan–Aug (band 95–115%)</a:t>
            </a:r>
          </a:p>
        </p:txBody>
      </p:sp>
      <p:sp>
        <p:nvSpPr>
          <p:cNvPr id="22" name="TextBox 21"/>
          <p:cNvSpPr txBox="1"/>
          <p:nvPr/>
        </p:nvSpPr>
        <p:spPr>
          <a:xfrm>
            <a:off x="3490400" y="4025920"/>
            <a:ext cx="2491760" cy="200000"/>
          </a:xfrm>
          <a:prstGeom prst="rect">
            <a:avLst/>
          </a:prstGeom>
          <a:noFill/>
        </p:spPr>
        <p:txBody>
          <a:bodyPr wrap="square"/>
          <a:lstStyle/>
          <a:p>
            <a:pPr algn="ctr"/>
            <a:r>
              <a:rPr sz="900" b="0">
                <a:solidFill>
                  <a:srgbClr val="A9B4C6"/>
                </a:solidFill>
                <a:latin typeface="Arial"/>
              </a:rPr>
              <a:t>calculated, 5 PHCs</a:t>
            </a:r>
          </a:p>
        </p:txBody>
      </p:sp>
      <p:graphicFrame>
        <p:nvGraphicFramePr>
          <p:cNvPr id="23" name="PHC productivity bar chart Jan-Aug 2026"/>
          <p:cNvGraphicFramePr>
            <a:graphicFrameLocks noGrp="1"/>
          </p:cNvGraphicFramePr>
          <p:nvPr/>
        </p:nvGraphicFramePr>
        <p:xfrm>
          <a:off x="6309360" y="1600200"/>
          <a:ext cx="5349240" cy="2926080"/>
        </p:xfrm>
        <a:graphic>
          <a:graphicData uri="http://schemas.openxmlformats.org/drawingml/2006/chart">
            <c:chart xmlns:c="http://schemas.openxmlformats.org/drawingml/2006/chart" r:id="rId2"/>
          </a:graphicData>
        </a:graphic>
      </p:graphicFrame>
      <p:sp>
        <p:nvSpPr>
          <p:cNvPr id="24" name="TextBox 23"/>
          <p:cNvSpPr txBox="1"/>
          <p:nvPr/>
        </p:nvSpPr>
        <p:spPr>
          <a:xfrm>
            <a:off x="6309360" y="4572000"/>
            <a:ext cx="5349240" cy="548640"/>
          </a:xfrm>
          <a:prstGeom prst="rect">
            <a:avLst/>
          </a:prstGeom>
          <a:noFill/>
        </p:spPr>
        <p:txBody>
          <a:bodyPr wrap="square"/>
          <a:lstStyle/>
          <a:p>
            <a:pPr algn="l"/>
            <a:r>
              <a:rPr sz="1100" b="0">
                <a:solidFill>
                  <a:srgbClr val="595959"/>
                </a:solidFill>
                <a:latin typeface="Arial"/>
              </a:rPr>
              <a:t>No PHC reached the 95% lower limit in any month. Al Hamidiya is highest; Al Muzeirah, with 2 PHC nurses, is lowest.</a:t>
            </a:r>
          </a:p>
        </p:txBody>
      </p:sp>
      <p:sp>
        <p:nvSpPr>
          <p:cNvPr id="25" name="Rectangle 24"/>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Demand is concentrated in two centres while staffing is spread evenly — the root of the productivity pattern, confirmed in the centre RCAs.</a:t>
            </a:r>
          </a:p>
        </p:txBody>
      </p:sp>
      <p:sp>
        <p:nvSpPr>
          <p:cNvPr id="27" name="TextBox 26"/>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AjmanNursing_APMaster (Productivity sheet, Jan–Aug 2026); Ajman PHC KPI Report — August 2026; Nursing Profile Aug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PHC NURSING SERVICES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What PHC nurses deliver</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Service lines named in the centres' own 2025–2026 service and root-cause documents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7</a:t>
            </a:r>
          </a:p>
        </p:txBody>
      </p:sp>
      <p:sp>
        <p:nvSpPr>
          <p:cNvPr id="8" name="Rounded Rectangle 7"/>
          <p:cNvSpPr/>
          <p:nvPr/>
        </p:nvSpPr>
        <p:spPr>
          <a:xfrm>
            <a:off x="54864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640" y="1725920"/>
            <a:ext cx="2451760" cy="300000"/>
          </a:xfrm>
          <a:prstGeom prst="rect">
            <a:avLst/>
          </a:prstGeom>
          <a:noFill/>
        </p:spPr>
        <p:txBody>
          <a:bodyPr wrap="square"/>
          <a:lstStyle/>
          <a:p>
            <a:pPr algn="l"/>
            <a:r>
              <a:rPr sz="1300" b="1">
                <a:solidFill>
                  <a:srgbClr val="325277"/>
                </a:solidFill>
                <a:latin typeface="Arial"/>
              </a:rPr>
              <a:t>Vaccination clinics</a:t>
            </a:r>
          </a:p>
        </p:txBody>
      </p:sp>
      <p:sp>
        <p:nvSpPr>
          <p:cNvPr id="10" name="TextBox 9"/>
          <p:cNvSpPr txBox="1"/>
          <p:nvPr/>
        </p:nvSpPr>
        <p:spPr>
          <a:xfrm>
            <a:off x="648640" y="2025920"/>
            <a:ext cx="2451760" cy="600000"/>
          </a:xfrm>
          <a:prstGeom prst="rect">
            <a:avLst/>
          </a:prstGeom>
          <a:noFill/>
        </p:spPr>
        <p:txBody>
          <a:bodyPr wrap="square"/>
          <a:lstStyle/>
          <a:p>
            <a:pPr algn="l"/>
            <a:r>
              <a:rPr sz="1100" b="0">
                <a:solidFill>
                  <a:srgbClr val="595959"/>
                </a:solidFill>
                <a:latin typeface="Arial"/>
              </a:rPr>
              <a:t>Child and adult immunisation; well-baby services — the main nursing caseload at Al Madina and Mushairef</a:t>
            </a:r>
          </a:p>
        </p:txBody>
      </p:sp>
      <p:sp>
        <p:nvSpPr>
          <p:cNvPr id="11" name="Rounded Rectangle 10"/>
          <p:cNvSpPr/>
          <p:nvPr/>
        </p:nvSpPr>
        <p:spPr>
          <a:xfrm>
            <a:off x="64864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640" y="2875920"/>
            <a:ext cx="1400000" cy="220000"/>
          </a:xfrm>
          <a:prstGeom prst="rect">
            <a:avLst/>
          </a:prstGeom>
          <a:noFill/>
        </p:spPr>
        <p:txBody>
          <a:bodyPr wrap="square"/>
          <a:lstStyle/>
          <a:p>
            <a:pPr algn="ctr"/>
            <a:r>
              <a:rPr sz="900" b="0">
                <a:solidFill>
                  <a:srgbClr val="FFFFFF"/>
                </a:solidFill>
                <a:latin typeface="Arial"/>
              </a:rPr>
              <a:t>Centre RCA 2026</a:t>
            </a:r>
          </a:p>
        </p:txBody>
      </p:sp>
      <p:sp>
        <p:nvSpPr>
          <p:cNvPr id="13" name="Rounded Rectangle 12"/>
          <p:cNvSpPr/>
          <p:nvPr/>
        </p:nvSpPr>
        <p:spPr>
          <a:xfrm>
            <a:off x="338040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0400" y="1725920"/>
            <a:ext cx="2451760" cy="300000"/>
          </a:xfrm>
          <a:prstGeom prst="rect">
            <a:avLst/>
          </a:prstGeom>
          <a:noFill/>
        </p:spPr>
        <p:txBody>
          <a:bodyPr wrap="square"/>
          <a:lstStyle/>
          <a:p>
            <a:pPr algn="l"/>
            <a:r>
              <a:rPr sz="1300" b="1">
                <a:solidFill>
                  <a:srgbClr val="325277"/>
                </a:solidFill>
                <a:latin typeface="Arial"/>
              </a:rPr>
              <a:t>GP / Family Medicine</a:t>
            </a:r>
          </a:p>
        </p:txBody>
      </p:sp>
      <p:sp>
        <p:nvSpPr>
          <p:cNvPr id="15" name="TextBox 14"/>
          <p:cNvSpPr txBox="1"/>
          <p:nvPr/>
        </p:nvSpPr>
        <p:spPr>
          <a:xfrm>
            <a:off x="3480400" y="2025920"/>
            <a:ext cx="2451760" cy="600000"/>
          </a:xfrm>
          <a:prstGeom prst="rect">
            <a:avLst/>
          </a:prstGeom>
          <a:noFill/>
        </p:spPr>
        <p:txBody>
          <a:bodyPr wrap="square"/>
          <a:lstStyle/>
          <a:p>
            <a:pPr algn="l"/>
            <a:r>
              <a:rPr sz="1100" b="0">
                <a:solidFill>
                  <a:srgbClr val="595959"/>
                </a:solidFill>
                <a:latin typeface="Arial"/>
              </a:rPr>
              <a:t>Nursing assessment before the doctor in general-practice (family medicine) clinics</a:t>
            </a:r>
          </a:p>
        </p:txBody>
      </p:sp>
      <p:sp>
        <p:nvSpPr>
          <p:cNvPr id="16" name="Rounded Rectangle 15"/>
          <p:cNvSpPr/>
          <p:nvPr/>
        </p:nvSpPr>
        <p:spPr>
          <a:xfrm>
            <a:off x="348040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80400" y="2875920"/>
            <a:ext cx="1400000" cy="220000"/>
          </a:xfrm>
          <a:prstGeom prst="rect">
            <a:avLst/>
          </a:prstGeom>
          <a:noFill/>
        </p:spPr>
        <p:txBody>
          <a:bodyPr wrap="square"/>
          <a:lstStyle/>
          <a:p>
            <a:pPr algn="ctr"/>
            <a:r>
              <a:rPr sz="900" b="0">
                <a:solidFill>
                  <a:srgbClr val="FFFFFF"/>
                </a:solidFill>
                <a:latin typeface="Arial"/>
              </a:rPr>
              <a:t>Service form 2025</a:t>
            </a:r>
          </a:p>
        </p:txBody>
      </p:sp>
      <p:sp>
        <p:nvSpPr>
          <p:cNvPr id="18" name="Rounded Rectangle 17"/>
          <p:cNvSpPr/>
          <p:nvPr/>
        </p:nvSpPr>
        <p:spPr>
          <a:xfrm>
            <a:off x="621216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2160" y="1725920"/>
            <a:ext cx="2451760" cy="300000"/>
          </a:xfrm>
          <a:prstGeom prst="rect">
            <a:avLst/>
          </a:prstGeom>
          <a:noFill/>
        </p:spPr>
        <p:txBody>
          <a:bodyPr wrap="square"/>
          <a:lstStyle/>
          <a:p>
            <a:pPr algn="l"/>
            <a:r>
              <a:rPr sz="1300" b="1">
                <a:solidFill>
                  <a:srgbClr val="325277"/>
                </a:solidFill>
                <a:latin typeface="Arial"/>
              </a:rPr>
              <a:t>NCD / chronic disease</a:t>
            </a:r>
          </a:p>
        </p:txBody>
      </p:sp>
      <p:sp>
        <p:nvSpPr>
          <p:cNvPr id="20" name="TextBox 19"/>
          <p:cNvSpPr txBox="1"/>
          <p:nvPr/>
        </p:nvSpPr>
        <p:spPr>
          <a:xfrm>
            <a:off x="6312160" y="2025920"/>
            <a:ext cx="2451760" cy="600000"/>
          </a:xfrm>
          <a:prstGeom prst="rect">
            <a:avLst/>
          </a:prstGeom>
          <a:noFill/>
        </p:spPr>
        <p:txBody>
          <a:bodyPr wrap="square"/>
          <a:lstStyle/>
          <a:p>
            <a:pPr algn="l"/>
            <a:r>
              <a:rPr sz="1100" b="0">
                <a:solidFill>
                  <a:srgbClr val="595959"/>
                </a:solidFill>
                <a:latin typeface="Arial"/>
              </a:rPr>
              <a:t>Non-communicable-disease and chronic clinics staffed throughout the day</a:t>
            </a:r>
          </a:p>
        </p:txBody>
      </p:sp>
      <p:sp>
        <p:nvSpPr>
          <p:cNvPr id="21" name="Rounded Rectangle 20"/>
          <p:cNvSpPr/>
          <p:nvPr/>
        </p:nvSpPr>
        <p:spPr>
          <a:xfrm>
            <a:off x="631216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2160" y="2875920"/>
            <a:ext cx="1400000" cy="220000"/>
          </a:xfrm>
          <a:prstGeom prst="rect">
            <a:avLst/>
          </a:prstGeom>
          <a:noFill/>
        </p:spPr>
        <p:txBody>
          <a:bodyPr wrap="square"/>
          <a:lstStyle/>
          <a:p>
            <a:pPr algn="ctr"/>
            <a:r>
              <a:rPr sz="900" b="0">
                <a:solidFill>
                  <a:srgbClr val="FFFFFF"/>
                </a:solidFill>
                <a:latin typeface="Arial"/>
              </a:rPr>
              <a:t>Centre RCA 2026</a:t>
            </a:r>
          </a:p>
        </p:txBody>
      </p:sp>
      <p:sp>
        <p:nvSpPr>
          <p:cNvPr id="23" name="Rounded Rectangle 22"/>
          <p:cNvSpPr/>
          <p:nvPr/>
        </p:nvSpPr>
        <p:spPr>
          <a:xfrm>
            <a:off x="904392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20" y="1725920"/>
            <a:ext cx="2451760" cy="300000"/>
          </a:xfrm>
          <a:prstGeom prst="rect">
            <a:avLst/>
          </a:prstGeom>
          <a:noFill/>
        </p:spPr>
        <p:txBody>
          <a:bodyPr wrap="square"/>
          <a:lstStyle/>
          <a:p>
            <a:pPr algn="l"/>
            <a:r>
              <a:rPr sz="1300" b="1">
                <a:solidFill>
                  <a:srgbClr val="325277"/>
                </a:solidFill>
                <a:latin typeface="Arial"/>
              </a:rPr>
              <a:t>Treatment room &amp; urgent care</a:t>
            </a:r>
          </a:p>
        </p:txBody>
      </p:sp>
      <p:sp>
        <p:nvSpPr>
          <p:cNvPr id="25" name="TextBox 24"/>
          <p:cNvSpPr txBox="1"/>
          <p:nvPr/>
        </p:nvSpPr>
        <p:spPr>
          <a:xfrm>
            <a:off x="9143920" y="2025920"/>
            <a:ext cx="2451760" cy="600000"/>
          </a:xfrm>
          <a:prstGeom prst="rect">
            <a:avLst/>
          </a:prstGeom>
          <a:noFill/>
        </p:spPr>
        <p:txBody>
          <a:bodyPr wrap="square"/>
          <a:lstStyle/>
          <a:p>
            <a:pPr algn="l"/>
            <a:r>
              <a:rPr sz="1100" b="0">
                <a:solidFill>
                  <a:srgbClr val="595959"/>
                </a:solidFill>
                <a:latin typeface="Arial"/>
              </a:rPr>
              <a:t>Procedures, treatments and urgent-care nursing</a:t>
            </a:r>
          </a:p>
        </p:txBody>
      </p:sp>
      <p:sp>
        <p:nvSpPr>
          <p:cNvPr id="26" name="Rounded Rectangle 25"/>
          <p:cNvSpPr/>
          <p:nvPr/>
        </p:nvSpPr>
        <p:spPr>
          <a:xfrm>
            <a:off x="914392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3920" y="2875920"/>
            <a:ext cx="1400000" cy="220000"/>
          </a:xfrm>
          <a:prstGeom prst="rect">
            <a:avLst/>
          </a:prstGeom>
          <a:noFill/>
        </p:spPr>
        <p:txBody>
          <a:bodyPr wrap="square"/>
          <a:lstStyle/>
          <a:p>
            <a:pPr algn="ctr"/>
            <a:r>
              <a:rPr sz="900" b="0">
                <a:solidFill>
                  <a:srgbClr val="FFFFFF"/>
                </a:solidFill>
                <a:latin typeface="Arial"/>
              </a:rPr>
              <a:t>Service form 2025</a:t>
            </a:r>
          </a:p>
        </p:txBody>
      </p:sp>
      <p:sp>
        <p:nvSpPr>
          <p:cNvPr id="28" name="Rounded Rectangle 27"/>
          <p:cNvSpPr/>
          <p:nvPr/>
        </p:nvSpPr>
        <p:spPr>
          <a:xfrm>
            <a:off x="54864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640" y="3405920"/>
            <a:ext cx="2451760" cy="300000"/>
          </a:xfrm>
          <a:prstGeom prst="rect">
            <a:avLst/>
          </a:prstGeom>
          <a:noFill/>
        </p:spPr>
        <p:txBody>
          <a:bodyPr wrap="square"/>
          <a:lstStyle/>
          <a:p>
            <a:pPr algn="l"/>
            <a:r>
              <a:rPr sz="1300" b="1">
                <a:solidFill>
                  <a:srgbClr val="325277"/>
                </a:solidFill>
                <a:latin typeface="Arial"/>
              </a:rPr>
              <a:t>Home visits</a:t>
            </a:r>
          </a:p>
        </p:txBody>
      </p:sp>
      <p:sp>
        <p:nvSpPr>
          <p:cNvPr id="30" name="TextBox 29"/>
          <p:cNvSpPr txBox="1"/>
          <p:nvPr/>
        </p:nvSpPr>
        <p:spPr>
          <a:xfrm>
            <a:off x="648640" y="3705920"/>
            <a:ext cx="2451760" cy="600000"/>
          </a:xfrm>
          <a:prstGeom prst="rect">
            <a:avLst/>
          </a:prstGeom>
          <a:noFill/>
        </p:spPr>
        <p:txBody>
          <a:bodyPr wrap="square"/>
          <a:lstStyle/>
          <a:p>
            <a:pPr algn="l"/>
            <a:r>
              <a:rPr sz="1100" b="0">
                <a:solidFill>
                  <a:srgbClr val="595959"/>
                </a:solidFill>
                <a:latin typeface="Arial"/>
              </a:rPr>
              <a:t>Nursing home visits — assessment, care and documentation (Al Hamidiya)</a:t>
            </a:r>
          </a:p>
        </p:txBody>
      </p:sp>
      <p:sp>
        <p:nvSpPr>
          <p:cNvPr id="31" name="Rounded Rectangle 30"/>
          <p:cNvSpPr/>
          <p:nvPr/>
        </p:nvSpPr>
        <p:spPr>
          <a:xfrm>
            <a:off x="64864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8640" y="4555920"/>
            <a:ext cx="1400000" cy="220000"/>
          </a:xfrm>
          <a:prstGeom prst="rect">
            <a:avLst/>
          </a:prstGeom>
          <a:noFill/>
        </p:spPr>
        <p:txBody>
          <a:bodyPr wrap="square"/>
          <a:lstStyle/>
          <a:p>
            <a:pPr algn="ctr"/>
            <a:r>
              <a:rPr sz="900" b="0">
                <a:solidFill>
                  <a:srgbClr val="FFFFFF"/>
                </a:solidFill>
                <a:latin typeface="Arial"/>
              </a:rPr>
              <a:t>Centre RCA 2026</a:t>
            </a:r>
          </a:p>
        </p:txBody>
      </p:sp>
      <p:sp>
        <p:nvSpPr>
          <p:cNvPr id="33" name="Rounded Rectangle 32"/>
          <p:cNvSpPr/>
          <p:nvPr/>
        </p:nvSpPr>
        <p:spPr>
          <a:xfrm>
            <a:off x="338040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80400" y="3405920"/>
            <a:ext cx="2451760" cy="300000"/>
          </a:xfrm>
          <a:prstGeom prst="rect">
            <a:avLst/>
          </a:prstGeom>
          <a:noFill/>
        </p:spPr>
        <p:txBody>
          <a:bodyPr wrap="square"/>
          <a:lstStyle/>
          <a:p>
            <a:pPr algn="l"/>
            <a:r>
              <a:rPr sz="1300" b="1">
                <a:solidFill>
                  <a:srgbClr val="325277"/>
                </a:solidFill>
                <a:latin typeface="Arial"/>
              </a:rPr>
              <a:t>Periodic care screening</a:t>
            </a:r>
          </a:p>
        </p:txBody>
      </p:sp>
      <p:sp>
        <p:nvSpPr>
          <p:cNvPr id="35" name="TextBox 34"/>
          <p:cNvSpPr txBox="1"/>
          <p:nvPr/>
        </p:nvSpPr>
        <p:spPr>
          <a:xfrm>
            <a:off x="3480400" y="3705920"/>
            <a:ext cx="2451760" cy="600000"/>
          </a:xfrm>
          <a:prstGeom prst="rect">
            <a:avLst/>
          </a:prstGeom>
          <a:noFill/>
        </p:spPr>
        <p:txBody>
          <a:bodyPr wrap="square"/>
          <a:lstStyle/>
          <a:p>
            <a:pPr algn="l"/>
            <a:r>
              <a:rPr sz="1100" b="0">
                <a:solidFill>
                  <a:srgbClr val="595959"/>
                </a:solidFill>
                <a:latin typeface="Arial"/>
              </a:rPr>
              <a:t>Periodic screening and smoking-cessation clinic support</a:t>
            </a:r>
          </a:p>
        </p:txBody>
      </p:sp>
      <p:sp>
        <p:nvSpPr>
          <p:cNvPr id="36" name="Rounded Rectangle 35"/>
          <p:cNvSpPr/>
          <p:nvPr/>
        </p:nvSpPr>
        <p:spPr>
          <a:xfrm>
            <a:off x="348040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80400" y="4555920"/>
            <a:ext cx="1400000" cy="220000"/>
          </a:xfrm>
          <a:prstGeom prst="rect">
            <a:avLst/>
          </a:prstGeom>
          <a:noFill/>
        </p:spPr>
        <p:txBody>
          <a:bodyPr wrap="square"/>
          <a:lstStyle/>
          <a:p>
            <a:pPr algn="ctr"/>
            <a:r>
              <a:rPr sz="900" b="0">
                <a:solidFill>
                  <a:srgbClr val="FFFFFF"/>
                </a:solidFill>
                <a:latin typeface="Arial"/>
              </a:rPr>
              <a:t>Service form 2025</a:t>
            </a:r>
          </a:p>
        </p:txBody>
      </p:sp>
      <p:sp>
        <p:nvSpPr>
          <p:cNvPr id="38" name="Rounded Rectangle 37"/>
          <p:cNvSpPr/>
          <p:nvPr/>
        </p:nvSpPr>
        <p:spPr>
          <a:xfrm>
            <a:off x="621216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2160" y="3405920"/>
            <a:ext cx="2451760" cy="300000"/>
          </a:xfrm>
          <a:prstGeom prst="rect">
            <a:avLst/>
          </a:prstGeom>
          <a:noFill/>
        </p:spPr>
        <p:txBody>
          <a:bodyPr wrap="square"/>
          <a:lstStyle/>
          <a:p>
            <a:pPr algn="l"/>
            <a:r>
              <a:rPr sz="1300" b="1">
                <a:solidFill>
                  <a:srgbClr val="325277"/>
                </a:solidFill>
                <a:latin typeface="Arial"/>
              </a:rPr>
              <a:t>Patient safety</a:t>
            </a:r>
          </a:p>
        </p:txBody>
      </p:sp>
      <p:sp>
        <p:nvSpPr>
          <p:cNvPr id="40" name="TextBox 39"/>
          <p:cNvSpPr txBox="1"/>
          <p:nvPr/>
        </p:nvSpPr>
        <p:spPr>
          <a:xfrm>
            <a:off x="6312160" y="3705920"/>
            <a:ext cx="2451760" cy="600000"/>
          </a:xfrm>
          <a:prstGeom prst="rect">
            <a:avLst/>
          </a:prstGeom>
          <a:noFill/>
        </p:spPr>
        <p:txBody>
          <a:bodyPr wrap="square"/>
          <a:lstStyle/>
          <a:p>
            <a:pPr algn="l"/>
            <a:r>
              <a:rPr sz="1100" b="0">
                <a:solidFill>
                  <a:srgbClr val="595959"/>
                </a:solidFill>
                <a:latin typeface="Arial"/>
              </a:rPr>
              <a:t>Patient ID, pain assessment/reassessment, hand hygiene, fall-risk — audited monthly</a:t>
            </a:r>
          </a:p>
        </p:txBody>
      </p:sp>
      <p:sp>
        <p:nvSpPr>
          <p:cNvPr id="41" name="Rounded Rectangle 40"/>
          <p:cNvSpPr/>
          <p:nvPr/>
        </p:nvSpPr>
        <p:spPr>
          <a:xfrm>
            <a:off x="631216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2160" y="4555920"/>
            <a:ext cx="1400000" cy="220000"/>
          </a:xfrm>
          <a:prstGeom prst="rect">
            <a:avLst/>
          </a:prstGeom>
          <a:noFill/>
        </p:spPr>
        <p:txBody>
          <a:bodyPr wrap="square"/>
          <a:lstStyle/>
          <a:p>
            <a:pPr algn="ctr"/>
            <a:r>
              <a:rPr sz="900" b="0">
                <a:solidFill>
                  <a:srgbClr val="FFFFFF"/>
                </a:solidFill>
                <a:latin typeface="Arial"/>
              </a:rPr>
              <a:t>KPI report</a:t>
            </a:r>
          </a:p>
        </p:txBody>
      </p:sp>
      <p:sp>
        <p:nvSpPr>
          <p:cNvPr id="43" name="Rounded Rectangle 42"/>
          <p:cNvSpPr/>
          <p:nvPr/>
        </p:nvSpPr>
        <p:spPr>
          <a:xfrm>
            <a:off x="904392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3920" y="3405920"/>
            <a:ext cx="2451760" cy="300000"/>
          </a:xfrm>
          <a:prstGeom prst="rect">
            <a:avLst/>
          </a:prstGeom>
          <a:noFill/>
        </p:spPr>
        <p:txBody>
          <a:bodyPr wrap="square"/>
          <a:lstStyle/>
          <a:p>
            <a:pPr algn="l"/>
            <a:r>
              <a:rPr sz="1300" b="1">
                <a:solidFill>
                  <a:srgbClr val="325277"/>
                </a:solidFill>
                <a:latin typeface="Arial"/>
              </a:rPr>
              <a:t>Health education</a:t>
            </a:r>
          </a:p>
        </p:txBody>
      </p:sp>
      <p:sp>
        <p:nvSpPr>
          <p:cNvPr id="45" name="TextBox 44"/>
          <p:cNvSpPr txBox="1"/>
          <p:nvPr/>
        </p:nvSpPr>
        <p:spPr>
          <a:xfrm>
            <a:off x="9143920" y="3705920"/>
            <a:ext cx="2451760" cy="600000"/>
          </a:xfrm>
          <a:prstGeom prst="rect">
            <a:avLst/>
          </a:prstGeom>
          <a:noFill/>
        </p:spPr>
        <p:txBody>
          <a:bodyPr wrap="square"/>
          <a:lstStyle/>
          <a:p>
            <a:pPr algn="l"/>
            <a:r>
              <a:rPr sz="1100" b="0">
                <a:solidFill>
                  <a:srgbClr val="595959"/>
                </a:solidFill>
                <a:latin typeface="Arial"/>
              </a:rPr>
              <a:t>Community campaigns (≥4/yr) and Year of the Family 2026 initiatives</a:t>
            </a:r>
          </a:p>
        </p:txBody>
      </p:sp>
      <p:sp>
        <p:nvSpPr>
          <p:cNvPr id="46" name="Rounded Rectangle 45"/>
          <p:cNvSpPr/>
          <p:nvPr/>
        </p:nvSpPr>
        <p:spPr>
          <a:xfrm>
            <a:off x="914392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3920" y="4555920"/>
            <a:ext cx="1400000" cy="220000"/>
          </a:xfrm>
          <a:prstGeom prst="rect">
            <a:avLst/>
          </a:prstGeom>
          <a:noFill/>
        </p:spPr>
        <p:txBody>
          <a:bodyPr wrap="square"/>
          <a:lstStyle/>
          <a:p>
            <a:pPr algn="ctr"/>
            <a:r>
              <a:rPr sz="900" b="0">
                <a:solidFill>
                  <a:srgbClr val="FFFFFF"/>
                </a:solidFill>
                <a:latin typeface="Arial"/>
              </a:rPr>
              <a:t>Op Plan obj. 20, 23</a:t>
            </a:r>
          </a:p>
        </p:txBody>
      </p:sp>
      <p:sp>
        <p:nvSpPr>
          <p:cNvPr id="48" name="Rectangle 47"/>
          <p:cNvSpPr/>
          <p:nvPr/>
        </p:nvSpPr>
        <p:spPr>
          <a:xfrm>
            <a:off x="548640" y="544068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3232" y="5440680"/>
            <a:ext cx="10911535" cy="502920"/>
          </a:xfrm>
          <a:prstGeom prst="rect">
            <a:avLst/>
          </a:prstGeom>
          <a:noFill/>
        </p:spPr>
        <p:txBody>
          <a:bodyPr wrap="square"/>
          <a:lstStyle/>
          <a:p>
            <a:pPr algn="l"/>
            <a:r>
              <a:rPr sz="1100" b="0">
                <a:solidFill>
                  <a:srgbClr val="595959"/>
                </a:solidFill>
                <a:latin typeface="Arial"/>
              </a:rPr>
              <a:t>Why it matters: Several services must stay staffed all day regardless of attendance — the main reason PHC productivity sits below band despite reasonable total volume.</a:t>
            </a:r>
          </a:p>
        </p:txBody>
      </p:sp>
      <p:sp>
        <p:nvSpPr>
          <p:cNvPr id="50" name="TextBox 49"/>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New/Expansion Service 2025 — Al Hamidiya (service list); MAD/MUS/HAM _04_Productivity RCA files (Sep 2026); Ajman PHC KPI Report Aug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PHC FACILITY PROFILES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Five centres at a glance</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Quality and productivity: January–August 2026 averages · staffing and visits: 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8</a:t>
            </a:r>
          </a:p>
        </p:txBody>
      </p:sp>
      <p:graphicFrame>
        <p:nvGraphicFramePr>
          <p:cNvPr id="8" name="Table 7"/>
          <p:cNvGraphicFramePr>
            <a:graphicFrameLocks noGrp="1"/>
          </p:cNvGraphicFramePr>
          <p:nvPr/>
        </p:nvGraphicFramePr>
        <p:xfrm>
          <a:off x="548640" y="1645920"/>
          <a:ext cx="11100000" cy="2194560"/>
        </p:xfrm>
        <a:graphic>
          <a:graphicData uri="http://schemas.openxmlformats.org/drawingml/2006/table">
            <a:tbl>
              <a:tblPr firstRow="1" bandRow="1">
                <a:tableStyleId>{5C22544A-7EE6-4342-B048-85BDC9FD1C3A}</a:tableStyleId>
              </a:tblPr>
              <a:tblGrid>
                <a:gridCol w="1200000"/>
                <a:gridCol w="2600000"/>
                <a:gridCol w="800000"/>
                <a:gridCol w="900000"/>
                <a:gridCol w="900000"/>
                <a:gridCol w="1200000"/>
                <a:gridCol w="900000"/>
                <a:gridCol w="1200000"/>
                <a:gridCol w="1400000"/>
              </a:tblGrid>
              <a:tr h="365760">
                <a:tc>
                  <a:txBody>
                    <a:bodyPr/>
                    <a:lstStyle/>
                    <a:p>
                      <a:pPr>
                        <a:defRPr sz="1100" b="1">
                          <a:solidFill>
                            <a:srgbClr val="FFFFFF"/>
                          </a:solidFill>
                          <a:latin typeface="Arial"/>
                        </a:defRPr>
                      </a:pPr>
                      <a:r>
                        <a:t>Centre</a:t>
                      </a:r>
                    </a:p>
                  </a:txBody>
                  <a:tcPr>
                    <a:solidFill>
                      <a:srgbClr val="325277"/>
                    </a:solidFill>
                  </a:tcPr>
                </a:tc>
                <a:tc>
                  <a:txBody>
                    <a:bodyPr/>
                    <a:lstStyle/>
                    <a:p>
                      <a:pPr>
                        <a:defRPr sz="1100" b="1">
                          <a:solidFill>
                            <a:srgbClr val="FFFFFF"/>
                          </a:solidFill>
                          <a:latin typeface="Arial"/>
                        </a:defRPr>
                      </a:pPr>
                      <a:r>
                        <a:t>Nursing leads</a:t>
                      </a:r>
                    </a:p>
                  </a:txBody>
                  <a:tcPr>
                    <a:solidFill>
                      <a:srgbClr val="325277"/>
                    </a:solidFill>
                  </a:tcPr>
                </a:tc>
                <a:tc>
                  <a:txBody>
                    <a:bodyPr/>
                    <a:lstStyle/>
                    <a:p>
                      <a:pPr>
                        <a:defRPr sz="1100" b="1">
                          <a:solidFill>
                            <a:srgbClr val="FFFFFF"/>
                          </a:solidFill>
                          <a:latin typeface="Arial"/>
                        </a:defRPr>
                      </a:pPr>
                      <a:r>
                        <a:t>Nurses</a:t>
                      </a:r>
                    </a:p>
                  </a:txBody>
                  <a:tcPr>
                    <a:solidFill>
                      <a:srgbClr val="325277"/>
                    </a:solidFill>
                  </a:tcPr>
                </a:tc>
                <a:tc>
                  <a:txBody>
                    <a:bodyPr/>
                    <a:lstStyle/>
                    <a:p>
                      <a:pPr>
                        <a:defRPr sz="1100" b="1">
                          <a:solidFill>
                            <a:srgbClr val="FFFFFF"/>
                          </a:solidFill>
                          <a:latin typeface="Arial"/>
                        </a:defRPr>
                      </a:pPr>
                      <a:r>
                        <a:t>School nurses</a:t>
                      </a:r>
                    </a:p>
                    <a:p>
                      <a:pPr>
                        <a:defRPr sz="1100" b="1">
                          <a:solidFill>
                            <a:srgbClr val="FFFFFF"/>
                          </a:solidFill>
                          <a:latin typeface="Arial"/>
                        </a:defRPr>
                      </a:pPr>
                      <a:r>
                        <a:t>attached</a:t>
                      </a:r>
                    </a:p>
                  </a:txBody>
                  <a:tcPr>
                    <a:solidFill>
                      <a:srgbClr val="325277"/>
                    </a:solidFill>
                  </a:tcPr>
                </a:tc>
                <a:tc>
                  <a:txBody>
                    <a:bodyPr/>
                    <a:lstStyle/>
                    <a:p>
                      <a:pPr>
                        <a:defRPr sz="1100" b="1">
                          <a:solidFill>
                            <a:srgbClr val="FFFFFF"/>
                          </a:solidFill>
                          <a:latin typeface="Arial"/>
                        </a:defRPr>
                      </a:pPr>
                      <a:r>
                        <a:t>Visits (Aug)</a:t>
                      </a:r>
                    </a:p>
                  </a:txBody>
                  <a:tcPr>
                    <a:solidFill>
                      <a:srgbClr val="325277"/>
                    </a:solidFill>
                  </a:tcPr>
                </a:tc>
                <a:tc>
                  <a:txBody>
                    <a:bodyPr/>
                    <a:lstStyle/>
                    <a:p>
                      <a:pPr>
                        <a:defRPr sz="1100" b="1">
                          <a:solidFill>
                            <a:srgbClr val="FFFFFF"/>
                          </a:solidFill>
                          <a:latin typeface="Arial"/>
                        </a:defRPr>
                      </a:pPr>
                      <a:r>
                        <a:t>Productivity</a:t>
                      </a:r>
                    </a:p>
                    <a:p>
                      <a:pPr>
                        <a:defRPr sz="1100" b="1">
                          <a:solidFill>
                            <a:srgbClr val="FFFFFF"/>
                          </a:solidFill>
                          <a:latin typeface="Arial"/>
                        </a:defRPr>
                      </a:pPr>
                      <a:r>
                        <a:t>Jan–Aug avg</a:t>
                      </a:r>
                    </a:p>
                  </a:txBody>
                  <a:tcPr>
                    <a:solidFill>
                      <a:srgbClr val="325277"/>
                    </a:solidFill>
                  </a:tcPr>
                </a:tc>
                <a:tc>
                  <a:txBody>
                    <a:bodyPr/>
                    <a:lstStyle/>
                    <a:p>
                      <a:pPr>
                        <a:defRPr sz="1100" b="1">
                          <a:solidFill>
                            <a:srgbClr val="FFFFFF"/>
                          </a:solidFill>
                          <a:latin typeface="Arial"/>
                        </a:defRPr>
                      </a:pPr>
                      <a:r>
                        <a:t>Months</a:t>
                      </a:r>
                    </a:p>
                    <a:p>
                      <a:pPr>
                        <a:defRPr sz="1100" b="1">
                          <a:solidFill>
                            <a:srgbClr val="FFFFFF"/>
                          </a:solidFill>
                          <a:latin typeface="Arial"/>
                        </a:defRPr>
                      </a:pPr>
                      <a:r>
                        <a:t>at band</a:t>
                      </a:r>
                    </a:p>
                  </a:txBody>
                  <a:tcPr>
                    <a:solidFill>
                      <a:srgbClr val="325277"/>
                    </a:solidFill>
                  </a:tcPr>
                </a:tc>
                <a:tc>
                  <a:txBody>
                    <a:bodyPr/>
                    <a:lstStyle/>
                    <a:p>
                      <a:pPr>
                        <a:defRPr sz="1100" b="1">
                          <a:solidFill>
                            <a:srgbClr val="FFFFFF"/>
                          </a:solidFill>
                          <a:latin typeface="Arial"/>
                        </a:defRPr>
                      </a:pPr>
                      <a:r>
                        <a:t>Pain Assess.</a:t>
                      </a:r>
                    </a:p>
                    <a:p>
                      <a:pPr>
                        <a:defRPr sz="1100" b="1">
                          <a:solidFill>
                            <a:srgbClr val="FFFFFF"/>
                          </a:solidFill>
                          <a:latin typeface="Arial"/>
                        </a:defRPr>
                      </a:pPr>
                      <a:r>
                        <a:t>Jan–Aug</a:t>
                      </a:r>
                    </a:p>
                  </a:txBody>
                  <a:tcPr>
                    <a:solidFill>
                      <a:srgbClr val="325277"/>
                    </a:solidFill>
                  </a:tcPr>
                </a:tc>
                <a:tc>
                  <a:txBody>
                    <a:bodyPr/>
                    <a:lstStyle/>
                    <a:p>
                      <a:pPr>
                        <a:defRPr sz="1100" b="1">
                          <a:solidFill>
                            <a:srgbClr val="FFFFFF"/>
                          </a:solidFill>
                          <a:latin typeface="Arial"/>
                        </a:defRPr>
                      </a:pPr>
                      <a:r>
                        <a:t>Patient ID</a:t>
                      </a:r>
                    </a:p>
                    <a:p>
                      <a:pPr>
                        <a:defRPr sz="1100" b="1">
                          <a:solidFill>
                            <a:srgbClr val="FFFFFF"/>
                          </a:solidFill>
                          <a:latin typeface="Arial"/>
                        </a:defRPr>
                      </a:pPr>
                      <a:r>
                        <a:t>Jan–Aug</a:t>
                      </a:r>
                    </a:p>
                  </a:txBody>
                  <a:tcPr>
                    <a:solidFill>
                      <a:srgbClr val="325277"/>
                    </a:solidFill>
                  </a:tcPr>
                </a:tc>
              </a:tr>
              <a:tr h="365760">
                <a:tc>
                  <a:txBody>
                    <a:bodyPr/>
                    <a:lstStyle/>
                    <a:p>
                      <a:pPr>
                        <a:defRPr sz="1100">
                          <a:solidFill>
                            <a:srgbClr val="595959"/>
                          </a:solidFill>
                          <a:latin typeface="Arial"/>
                        </a:defRPr>
                      </a:pPr>
                      <a:r>
                        <a:t>Al Madina</a:t>
                      </a:r>
                    </a:p>
                  </a:txBody>
                  <a:tcPr>
                    <a:solidFill>
                      <a:srgbClr val="FFFFFF"/>
                    </a:solidFill>
                  </a:tcPr>
                </a:tc>
                <a:tc>
                  <a:txBody>
                    <a:bodyPr/>
                    <a:lstStyle/>
                    <a:p>
                      <a:pPr>
                        <a:defRPr sz="1100">
                          <a:solidFill>
                            <a:srgbClr val="595959"/>
                          </a:solidFill>
                          <a:latin typeface="Arial"/>
                        </a:defRPr>
                      </a:pPr>
                      <a:r>
                        <a:t>UM Massoma Hussain Qamber · ACN Fariba Haji</a:t>
                      </a:r>
                    </a:p>
                  </a:txBody>
                  <a:tcPr>
                    <a:solidFill>
                      <a:srgbClr val="FFFFFF"/>
                    </a:solidFill>
                  </a:tcPr>
                </a:tc>
                <a:tc>
                  <a:txBody>
                    <a:bodyPr/>
                    <a:lstStyle/>
                    <a:p>
                      <a:pPr algn="r">
                        <a:defRPr sz="1100">
                          <a:solidFill>
                            <a:srgbClr val="595959"/>
                          </a:solidFill>
                          <a:latin typeface="Arial"/>
                        </a:defRPr>
                      </a:pPr>
                      <a:r>
                        <a:t>14</a:t>
                      </a:r>
                    </a:p>
                  </a:txBody>
                  <a:tcPr>
                    <a:solidFill>
                      <a:srgbClr val="FFFFFF"/>
                    </a:solidFill>
                  </a:tcPr>
                </a:tc>
                <a:tc>
                  <a:txBody>
                    <a:bodyPr/>
                    <a:lstStyle/>
                    <a:p>
                      <a:pPr algn="r">
                        <a:defRPr sz="1100">
                          <a:solidFill>
                            <a:srgbClr val="595959"/>
                          </a:solidFill>
                          <a:latin typeface="Arial"/>
                        </a:defRPr>
                      </a:pPr>
                      <a:r>
                        <a:t>11</a:t>
                      </a:r>
                    </a:p>
                  </a:txBody>
                  <a:tcPr>
                    <a:solidFill>
                      <a:srgbClr val="FFFFFF"/>
                    </a:solidFill>
                  </a:tcPr>
                </a:tc>
                <a:tc>
                  <a:txBody>
                    <a:bodyPr/>
                    <a:lstStyle/>
                    <a:p>
                      <a:pPr algn="r">
                        <a:defRPr sz="1100">
                          <a:solidFill>
                            <a:srgbClr val="595959"/>
                          </a:solidFill>
                          <a:latin typeface="Arial"/>
                        </a:defRPr>
                      </a:pPr>
                      <a:r>
                        <a:t>2,301</a:t>
                      </a:r>
                    </a:p>
                  </a:txBody>
                  <a:tcPr>
                    <a:solidFill>
                      <a:srgbClr val="FFFFFF"/>
                    </a:solidFill>
                  </a:tcPr>
                </a:tc>
                <a:tc>
                  <a:txBody>
                    <a:bodyPr/>
                    <a:lstStyle/>
                    <a:p>
                      <a:pPr algn="r">
                        <a:defRPr sz="1100">
                          <a:solidFill>
                            <a:srgbClr val="595959"/>
                          </a:solidFill>
                          <a:latin typeface="Arial"/>
                        </a:defRPr>
                      </a:pPr>
                      <a:r>
                        <a:t>41.8%</a:t>
                      </a:r>
                    </a:p>
                  </a:txBody>
                  <a:tcPr>
                    <a:solidFill>
                      <a:srgbClr val="FFFFFF"/>
                    </a:solidFill>
                  </a:tcPr>
                </a:tc>
                <a:tc>
                  <a:txBody>
                    <a:bodyPr/>
                    <a:lstStyle/>
                    <a:p>
                      <a:pPr algn="r">
                        <a:defRPr sz="1100">
                          <a:solidFill>
                            <a:srgbClr val="595959"/>
                          </a:solidFill>
                          <a:latin typeface="Arial"/>
                        </a:defRPr>
                      </a:pPr>
                      <a:r>
                        <a:t>0 of 8</a:t>
                      </a:r>
                    </a:p>
                  </a:txBody>
                  <a:tcPr>
                    <a:solidFill>
                      <a:srgbClr val="FFFFFF"/>
                    </a:solidFill>
                  </a:tcPr>
                </a:tc>
                <a:tc>
                  <a:txBody>
                    <a:bodyPr/>
                    <a:lstStyle/>
                    <a:p>
                      <a:pPr algn="r">
                        <a:defRPr sz="1100">
                          <a:solidFill>
                            <a:srgbClr val="595959"/>
                          </a:solidFill>
                          <a:latin typeface="Arial"/>
                        </a:defRPr>
                      </a:pPr>
                      <a:r>
                        <a:t>97.4%</a:t>
                      </a:r>
                    </a:p>
                  </a:txBody>
                  <a:tcPr>
                    <a:solidFill>
                      <a:srgbClr val="FFFFFF"/>
                    </a:solidFill>
                  </a:tcPr>
                </a:tc>
                <a:tc>
                  <a:txBody>
                    <a:bodyPr/>
                    <a:lstStyle/>
                    <a:p>
                      <a:pPr algn="r">
                        <a:defRPr sz="1100">
                          <a:solidFill>
                            <a:srgbClr val="595959"/>
                          </a:solidFill>
                          <a:latin typeface="Arial"/>
                        </a:defRPr>
                      </a:pPr>
                      <a:r>
                        <a:t>95.8%</a:t>
                      </a:r>
                    </a:p>
                  </a:txBody>
                  <a:tcPr>
                    <a:solidFill>
                      <a:srgbClr val="FFFFFF"/>
                    </a:solidFill>
                  </a:tcPr>
                </a:tc>
              </a:tr>
              <a:tr h="365760">
                <a:tc>
                  <a:txBody>
                    <a:bodyPr/>
                    <a:lstStyle/>
                    <a:p>
                      <a:pPr>
                        <a:defRPr sz="1100">
                          <a:solidFill>
                            <a:srgbClr val="595959"/>
                          </a:solidFill>
                          <a:latin typeface="Arial"/>
                        </a:defRPr>
                      </a:pPr>
                      <a:r>
                        <a:t>Al Hamidiya</a:t>
                      </a:r>
                    </a:p>
                  </a:txBody>
                  <a:tcPr>
                    <a:solidFill>
                      <a:srgbClr val="F2F2F2"/>
                    </a:solidFill>
                  </a:tcPr>
                </a:tc>
                <a:tc>
                  <a:txBody>
                    <a:bodyPr/>
                    <a:lstStyle/>
                    <a:p>
                      <a:pPr>
                        <a:defRPr sz="1100">
                          <a:solidFill>
                            <a:srgbClr val="595959"/>
                          </a:solidFill>
                          <a:latin typeface="Arial"/>
                        </a:defRPr>
                      </a:pPr>
                      <a:r>
                        <a:t>ACN Pauline Jhoanna Espina</a:t>
                      </a:r>
                    </a:p>
                  </a:txBody>
                  <a:tcPr>
                    <a:solidFill>
                      <a:srgbClr val="F2F2F2"/>
                    </a:solidFill>
                  </a:tcPr>
                </a:tc>
                <a:tc>
                  <a:txBody>
                    <a:bodyPr/>
                    <a:lstStyle/>
                    <a:p>
                      <a:pPr algn="r">
                        <a:defRPr sz="1100">
                          <a:solidFill>
                            <a:srgbClr val="595959"/>
                          </a:solidFill>
                          <a:latin typeface="Arial"/>
                        </a:defRPr>
                      </a:pPr>
                      <a:r>
                        <a:t>13</a:t>
                      </a:r>
                    </a:p>
                  </a:txBody>
                  <a:tcPr>
                    <a:solidFill>
                      <a:srgbClr val="F2F2F2"/>
                    </a:solidFill>
                  </a:tcPr>
                </a:tc>
                <a:tc>
                  <a:txBody>
                    <a:bodyPr/>
                    <a:lstStyle/>
                    <a:p>
                      <a:pPr algn="r">
                        <a:defRPr sz="1100">
                          <a:solidFill>
                            <a:srgbClr val="595959"/>
                          </a:solidFill>
                          <a:latin typeface="Arial"/>
                        </a:defRPr>
                      </a:pPr>
                      <a:r>
                        <a:t>12</a:t>
                      </a:r>
                    </a:p>
                  </a:txBody>
                  <a:tcPr>
                    <a:solidFill>
                      <a:srgbClr val="F2F2F2"/>
                    </a:solidFill>
                  </a:tcPr>
                </a:tc>
                <a:tc>
                  <a:txBody>
                    <a:bodyPr/>
                    <a:lstStyle/>
                    <a:p>
                      <a:pPr algn="r">
                        <a:defRPr sz="1100">
                          <a:solidFill>
                            <a:srgbClr val="595959"/>
                          </a:solidFill>
                          <a:latin typeface="Arial"/>
                        </a:defRPr>
                      </a:pPr>
                      <a:r>
                        <a:t>3,203</a:t>
                      </a:r>
                    </a:p>
                  </a:txBody>
                  <a:tcPr>
                    <a:solidFill>
                      <a:srgbClr val="F2F2F2"/>
                    </a:solidFill>
                  </a:tcPr>
                </a:tc>
                <a:tc>
                  <a:txBody>
                    <a:bodyPr/>
                    <a:lstStyle/>
                    <a:p>
                      <a:pPr algn="r">
                        <a:defRPr sz="1100">
                          <a:solidFill>
                            <a:srgbClr val="595959"/>
                          </a:solidFill>
                          <a:latin typeface="Arial"/>
                        </a:defRPr>
                      </a:pPr>
                      <a:r>
                        <a:t>55.2%</a:t>
                      </a:r>
                    </a:p>
                  </a:txBody>
                  <a:tcPr>
                    <a:solidFill>
                      <a:srgbClr val="F2F2F2"/>
                    </a:solidFill>
                  </a:tcPr>
                </a:tc>
                <a:tc>
                  <a:txBody>
                    <a:bodyPr/>
                    <a:lstStyle/>
                    <a:p>
                      <a:pPr algn="r">
                        <a:defRPr sz="1100">
                          <a:solidFill>
                            <a:srgbClr val="595959"/>
                          </a:solidFill>
                          <a:latin typeface="Arial"/>
                        </a:defRPr>
                      </a:pPr>
                      <a:r>
                        <a:t>0 of 8</a:t>
                      </a:r>
                    </a:p>
                  </a:txBody>
                  <a:tcPr>
                    <a:solidFill>
                      <a:srgbClr val="F2F2F2"/>
                    </a:solidFill>
                  </a:tcPr>
                </a:tc>
                <a:tc>
                  <a:txBody>
                    <a:bodyPr/>
                    <a:lstStyle/>
                    <a:p>
                      <a:pPr algn="r">
                        <a:defRPr sz="1100">
                          <a:solidFill>
                            <a:srgbClr val="595959"/>
                          </a:solidFill>
                          <a:latin typeface="Arial"/>
                        </a:defRPr>
                      </a:pPr>
                      <a:r>
                        <a:t>98.4%</a:t>
                      </a:r>
                    </a:p>
                  </a:txBody>
                  <a:tcPr>
                    <a:solidFill>
                      <a:srgbClr val="F2F2F2"/>
                    </a:solidFill>
                  </a:tcPr>
                </a:tc>
                <a:tc>
                  <a:txBody>
                    <a:bodyPr/>
                    <a:lstStyle/>
                    <a:p>
                      <a:pPr algn="r">
                        <a:defRPr sz="1100">
                          <a:solidFill>
                            <a:srgbClr val="595959"/>
                          </a:solidFill>
                          <a:latin typeface="Arial"/>
                        </a:defRPr>
                      </a:pPr>
                      <a:r>
                        <a:t>98.9%</a:t>
                      </a:r>
                    </a:p>
                  </a:txBody>
                  <a:tcPr>
                    <a:solidFill>
                      <a:srgbClr val="F2F2F2"/>
                    </a:solidFill>
                  </a:tcPr>
                </a:tc>
              </a:tr>
              <a:tr h="365760">
                <a:tc>
                  <a:txBody>
                    <a:bodyPr/>
                    <a:lstStyle/>
                    <a:p>
                      <a:pPr>
                        <a:defRPr sz="1100">
                          <a:solidFill>
                            <a:srgbClr val="595959"/>
                          </a:solidFill>
                          <a:latin typeface="Arial"/>
                        </a:defRPr>
                      </a:pPr>
                      <a:r>
                        <a:t>Mushairef</a:t>
                      </a:r>
                    </a:p>
                  </a:txBody>
                  <a:tcPr>
                    <a:solidFill>
                      <a:srgbClr val="FFFFFF"/>
                    </a:solidFill>
                  </a:tcPr>
                </a:tc>
                <a:tc>
                  <a:txBody>
                    <a:bodyPr/>
                    <a:lstStyle/>
                    <a:p>
                      <a:pPr>
                        <a:defRPr sz="1100">
                          <a:solidFill>
                            <a:srgbClr val="595959"/>
                          </a:solidFill>
                          <a:latin typeface="Arial"/>
                        </a:defRPr>
                      </a:pPr>
                      <a:r>
                        <a:t>AUM Amna Al Baghash · ACN Manju Thomas</a:t>
                      </a:r>
                    </a:p>
                  </a:txBody>
                  <a:tcPr>
                    <a:solidFill>
                      <a:srgbClr val="FFFFFF"/>
                    </a:solidFill>
                  </a:tcPr>
                </a:tc>
                <a:tc>
                  <a:txBody>
                    <a:bodyPr/>
                    <a:lstStyle/>
                    <a:p>
                      <a:pPr algn="r">
                        <a:defRPr sz="1100">
                          <a:solidFill>
                            <a:srgbClr val="595959"/>
                          </a:solidFill>
                          <a:latin typeface="Arial"/>
                        </a:defRPr>
                      </a:pPr>
                      <a:r>
                        <a:t>15</a:t>
                      </a:r>
                    </a:p>
                  </a:txBody>
                  <a:tcPr>
                    <a:solidFill>
                      <a:srgbClr val="FFFFFF"/>
                    </a:solidFill>
                  </a:tcPr>
                </a:tc>
                <a:tc>
                  <a:txBody>
                    <a:bodyPr/>
                    <a:lstStyle/>
                    <a:p>
                      <a:pPr algn="r">
                        <a:defRPr sz="1100">
                          <a:solidFill>
                            <a:srgbClr val="595959"/>
                          </a:solidFill>
                          <a:latin typeface="Arial"/>
                        </a:defRPr>
                      </a:pPr>
                      <a:r>
                        <a:t>11</a:t>
                      </a:r>
                    </a:p>
                  </a:txBody>
                  <a:tcPr>
                    <a:solidFill>
                      <a:srgbClr val="FFFFFF"/>
                    </a:solidFill>
                  </a:tcPr>
                </a:tc>
                <a:tc>
                  <a:txBody>
                    <a:bodyPr/>
                    <a:lstStyle/>
                    <a:p>
                      <a:pPr algn="r">
                        <a:defRPr sz="1100">
                          <a:solidFill>
                            <a:srgbClr val="595959"/>
                          </a:solidFill>
                          <a:latin typeface="Arial"/>
                        </a:defRPr>
                      </a:pPr>
                      <a:r>
                        <a:t>2,424</a:t>
                      </a:r>
                    </a:p>
                  </a:txBody>
                  <a:tcPr>
                    <a:solidFill>
                      <a:srgbClr val="FFFFFF"/>
                    </a:solidFill>
                  </a:tcPr>
                </a:tc>
                <a:tc>
                  <a:txBody>
                    <a:bodyPr/>
                    <a:lstStyle/>
                    <a:p>
                      <a:pPr algn="r">
                        <a:defRPr sz="1100">
                          <a:solidFill>
                            <a:srgbClr val="595959"/>
                          </a:solidFill>
                          <a:latin typeface="Arial"/>
                        </a:defRPr>
                      </a:pPr>
                      <a:r>
                        <a:t>40.8%</a:t>
                      </a:r>
                    </a:p>
                  </a:txBody>
                  <a:tcPr>
                    <a:solidFill>
                      <a:srgbClr val="FFFFFF"/>
                    </a:solidFill>
                  </a:tcPr>
                </a:tc>
                <a:tc>
                  <a:txBody>
                    <a:bodyPr/>
                    <a:lstStyle/>
                    <a:p>
                      <a:pPr algn="r">
                        <a:defRPr sz="1100">
                          <a:solidFill>
                            <a:srgbClr val="595959"/>
                          </a:solidFill>
                          <a:latin typeface="Arial"/>
                        </a:defRPr>
                      </a:pPr>
                      <a:r>
                        <a:t>0 of 8</a:t>
                      </a:r>
                    </a:p>
                  </a:txBody>
                  <a:tcPr>
                    <a:solidFill>
                      <a:srgbClr val="FFFFFF"/>
                    </a:solidFill>
                  </a:tcPr>
                </a:tc>
                <a:tc>
                  <a:txBody>
                    <a:bodyPr/>
                    <a:lstStyle/>
                    <a:p>
                      <a:pPr algn="r">
                        <a:defRPr sz="1100">
                          <a:solidFill>
                            <a:srgbClr val="595959"/>
                          </a:solidFill>
                          <a:latin typeface="Arial"/>
                        </a:defRPr>
                      </a:pPr>
                      <a:r>
                        <a:t>100.0%</a:t>
                      </a:r>
                    </a:p>
                  </a:txBody>
                  <a:tcPr>
                    <a:solidFill>
                      <a:srgbClr val="FFFFFF"/>
                    </a:solidFill>
                  </a:tcPr>
                </a:tc>
                <a:tc>
                  <a:txBody>
                    <a:bodyPr/>
                    <a:lstStyle/>
                    <a:p>
                      <a:pPr algn="r">
                        <a:defRPr sz="1100">
                          <a:solidFill>
                            <a:srgbClr val="595959"/>
                          </a:solidFill>
                          <a:latin typeface="Arial"/>
                        </a:defRPr>
                      </a:pPr>
                      <a:r>
                        <a:t>97.4%</a:t>
                      </a:r>
                    </a:p>
                  </a:txBody>
                  <a:tcPr>
                    <a:solidFill>
                      <a:srgbClr val="FFFFFF"/>
                    </a:solidFill>
                  </a:tcPr>
                </a:tc>
              </a:tr>
              <a:tr h="365760">
                <a:tc>
                  <a:txBody>
                    <a:bodyPr/>
                    <a:lstStyle/>
                    <a:p>
                      <a:pPr>
                        <a:defRPr sz="1100">
                          <a:solidFill>
                            <a:srgbClr val="595959"/>
                          </a:solidFill>
                          <a:latin typeface="Arial"/>
                        </a:defRPr>
                      </a:pPr>
                      <a:r>
                        <a:t>Al Manama</a:t>
                      </a:r>
                    </a:p>
                  </a:txBody>
                  <a:tcPr>
                    <a:solidFill>
                      <a:srgbClr val="F2F2F2"/>
                    </a:solidFill>
                  </a:tcPr>
                </a:tc>
                <a:tc>
                  <a:txBody>
                    <a:bodyPr/>
                    <a:lstStyle/>
                    <a:p>
                      <a:pPr>
                        <a:defRPr sz="1100">
                          <a:solidFill>
                            <a:srgbClr val="595959"/>
                          </a:solidFill>
                          <a:latin typeface="Arial"/>
                        </a:defRPr>
                      </a:pPr>
                      <a:r>
                        <a:t>UM Mozah Al Zahmi · ACN Neema Thomas</a:t>
                      </a:r>
                    </a:p>
                  </a:txBody>
                  <a:tcPr>
                    <a:solidFill>
                      <a:srgbClr val="F2F2F2"/>
                    </a:solidFill>
                  </a:tcPr>
                </a:tc>
                <a:tc>
                  <a:txBody>
                    <a:bodyPr/>
                    <a:lstStyle/>
                    <a:p>
                      <a:pPr algn="r">
                        <a:defRPr sz="1100">
                          <a:solidFill>
                            <a:srgbClr val="595959"/>
                          </a:solidFill>
                          <a:latin typeface="Arial"/>
                        </a:defRPr>
                      </a:pPr>
                      <a:r>
                        <a:t>6</a:t>
                      </a:r>
                    </a:p>
                  </a:txBody>
                  <a:tcPr>
                    <a:solidFill>
                      <a:srgbClr val="F2F2F2"/>
                    </a:solidFill>
                  </a:tcPr>
                </a:tc>
                <a:tc>
                  <a:txBody>
                    <a:bodyPr/>
                    <a:lstStyle/>
                    <a:p>
                      <a:pPr algn="r">
                        <a:defRPr sz="1100">
                          <a:solidFill>
                            <a:srgbClr val="595959"/>
                          </a:solidFill>
                          <a:latin typeface="Arial"/>
                        </a:defRPr>
                      </a:pPr>
                      <a:r>
                        <a:t>3</a:t>
                      </a:r>
                    </a:p>
                  </a:txBody>
                  <a:tcPr>
                    <a:solidFill>
                      <a:srgbClr val="F2F2F2"/>
                    </a:solidFill>
                  </a:tcPr>
                </a:tc>
                <a:tc>
                  <a:txBody>
                    <a:bodyPr/>
                    <a:lstStyle/>
                    <a:p>
                      <a:pPr algn="r">
                        <a:defRPr sz="1100">
                          <a:solidFill>
                            <a:srgbClr val="595959"/>
                          </a:solidFill>
                          <a:latin typeface="Arial"/>
                        </a:defRPr>
                      </a:pPr>
                      <a:r>
                        <a:t>602</a:t>
                      </a:r>
                    </a:p>
                  </a:txBody>
                  <a:tcPr>
                    <a:solidFill>
                      <a:srgbClr val="F2F2F2"/>
                    </a:solidFill>
                  </a:tcPr>
                </a:tc>
                <a:tc>
                  <a:txBody>
                    <a:bodyPr/>
                    <a:lstStyle/>
                    <a:p>
                      <a:pPr algn="r">
                        <a:defRPr sz="1100">
                          <a:solidFill>
                            <a:srgbClr val="595959"/>
                          </a:solidFill>
                          <a:latin typeface="Arial"/>
                        </a:defRPr>
                      </a:pPr>
                      <a:r>
                        <a:t>38.7%</a:t>
                      </a:r>
                    </a:p>
                  </a:txBody>
                  <a:tcPr>
                    <a:solidFill>
                      <a:srgbClr val="F2F2F2"/>
                    </a:solidFill>
                  </a:tcPr>
                </a:tc>
                <a:tc>
                  <a:txBody>
                    <a:bodyPr/>
                    <a:lstStyle/>
                    <a:p>
                      <a:pPr algn="r">
                        <a:defRPr sz="1100">
                          <a:solidFill>
                            <a:srgbClr val="595959"/>
                          </a:solidFill>
                          <a:latin typeface="Arial"/>
                        </a:defRPr>
                      </a:pPr>
                      <a:r>
                        <a:t>0 of 8</a:t>
                      </a:r>
                    </a:p>
                  </a:txBody>
                  <a:tcPr>
                    <a:solidFill>
                      <a:srgbClr val="F2F2F2"/>
                    </a:solidFill>
                  </a:tcPr>
                </a:tc>
                <a:tc>
                  <a:txBody>
                    <a:bodyPr/>
                    <a:lstStyle/>
                    <a:p>
                      <a:pPr algn="r">
                        <a:defRPr sz="1100">
                          <a:solidFill>
                            <a:srgbClr val="595959"/>
                          </a:solidFill>
                          <a:latin typeface="Arial"/>
                        </a:defRPr>
                      </a:pPr>
                      <a:r>
                        <a:t>99.0%</a:t>
                      </a:r>
                    </a:p>
                  </a:txBody>
                  <a:tcPr>
                    <a:solidFill>
                      <a:srgbClr val="F2F2F2"/>
                    </a:solidFill>
                  </a:tcPr>
                </a:tc>
                <a:tc>
                  <a:txBody>
                    <a:bodyPr/>
                    <a:lstStyle/>
                    <a:p>
                      <a:pPr algn="r">
                        <a:defRPr sz="1100">
                          <a:solidFill>
                            <a:srgbClr val="595959"/>
                          </a:solidFill>
                          <a:latin typeface="Arial"/>
                        </a:defRPr>
                      </a:pPr>
                      <a:r>
                        <a:t>99.2%</a:t>
                      </a:r>
                    </a:p>
                  </a:txBody>
                  <a:tcPr>
                    <a:solidFill>
                      <a:srgbClr val="F2F2F2"/>
                    </a:solidFill>
                  </a:tcPr>
                </a:tc>
              </a:tr>
              <a:tr h="365760">
                <a:tc>
                  <a:txBody>
                    <a:bodyPr/>
                    <a:lstStyle/>
                    <a:p>
                      <a:pPr>
                        <a:defRPr sz="1100">
                          <a:solidFill>
                            <a:srgbClr val="595959"/>
                          </a:solidFill>
                          <a:latin typeface="Arial"/>
                        </a:defRPr>
                      </a:pPr>
                      <a:r>
                        <a:t>Al Muzeirah</a:t>
                      </a:r>
                    </a:p>
                  </a:txBody>
                  <a:tcPr>
                    <a:solidFill>
                      <a:srgbClr val="FFFFFF"/>
                    </a:solidFill>
                  </a:tcPr>
                </a:tc>
                <a:tc>
                  <a:txBody>
                    <a:bodyPr/>
                    <a:lstStyle/>
                    <a:p>
                      <a:pPr>
                        <a:defRPr sz="1100">
                          <a:solidFill>
                            <a:srgbClr val="595959"/>
                          </a:solidFill>
                          <a:latin typeface="Arial"/>
                        </a:defRPr>
                      </a:pPr>
                      <a:r>
                        <a:t>ACN Rohini Balachandran</a:t>
                      </a:r>
                    </a:p>
                  </a:txBody>
                  <a:tcPr>
                    <a:solidFill>
                      <a:srgbClr val="FFFFFF"/>
                    </a:solidFill>
                  </a:tcPr>
                </a:tc>
                <a:tc>
                  <a:txBody>
                    <a:bodyPr/>
                    <a:lstStyle/>
                    <a:p>
                      <a:pPr algn="r">
                        <a:defRPr sz="1100">
                          <a:solidFill>
                            <a:srgbClr val="595959"/>
                          </a:solidFill>
                          <a:latin typeface="Arial"/>
                        </a:defRPr>
                      </a:pPr>
                      <a:r>
                        <a:t>2</a:t>
                      </a:r>
                    </a:p>
                  </a:txBody>
                  <a:tcPr>
                    <a:solidFill>
                      <a:srgbClr val="FFFFFF"/>
                    </a:solidFill>
                  </a:tcPr>
                </a:tc>
                <a:tc>
                  <a:txBody>
                    <a:bodyPr/>
                    <a:lstStyle/>
                    <a:p>
                      <a:pPr algn="r">
                        <a:defRPr sz="1100">
                          <a:solidFill>
                            <a:srgbClr val="595959"/>
                          </a:solidFill>
                          <a:latin typeface="Arial"/>
                        </a:defRPr>
                      </a:pPr>
                      <a:r>
                        <a:t>5</a:t>
                      </a:r>
                    </a:p>
                  </a:txBody>
                  <a:tcPr>
                    <a:solidFill>
                      <a:srgbClr val="FFFFFF"/>
                    </a:solidFill>
                  </a:tcPr>
                </a:tc>
                <a:tc>
                  <a:txBody>
                    <a:bodyPr/>
                    <a:lstStyle/>
                    <a:p>
                      <a:pPr algn="r">
                        <a:defRPr sz="1100">
                          <a:solidFill>
                            <a:srgbClr val="595959"/>
                          </a:solidFill>
                          <a:latin typeface="Arial"/>
                        </a:defRPr>
                      </a:pPr>
                      <a:r>
                        <a:t>244</a:t>
                      </a:r>
                    </a:p>
                  </a:txBody>
                  <a:tcPr>
                    <a:solidFill>
                      <a:srgbClr val="FFFFFF"/>
                    </a:solidFill>
                  </a:tcPr>
                </a:tc>
                <a:tc>
                  <a:txBody>
                    <a:bodyPr/>
                    <a:lstStyle/>
                    <a:p>
                      <a:pPr algn="r">
                        <a:defRPr sz="1100">
                          <a:solidFill>
                            <a:srgbClr val="595959"/>
                          </a:solidFill>
                          <a:latin typeface="Arial"/>
                        </a:defRPr>
                      </a:pPr>
                      <a:r>
                        <a:t>25.8%</a:t>
                      </a:r>
                    </a:p>
                  </a:txBody>
                  <a:tcPr>
                    <a:solidFill>
                      <a:srgbClr val="FFFFFF"/>
                    </a:solidFill>
                  </a:tcPr>
                </a:tc>
                <a:tc>
                  <a:txBody>
                    <a:bodyPr/>
                    <a:lstStyle/>
                    <a:p>
                      <a:pPr algn="r">
                        <a:defRPr sz="1100">
                          <a:solidFill>
                            <a:srgbClr val="595959"/>
                          </a:solidFill>
                          <a:latin typeface="Arial"/>
                        </a:defRPr>
                      </a:pPr>
                      <a:r>
                        <a:t>0 of 8</a:t>
                      </a:r>
                    </a:p>
                  </a:txBody>
                  <a:tcPr>
                    <a:solidFill>
                      <a:srgbClr val="FFFFFF"/>
                    </a:solidFill>
                  </a:tcPr>
                </a:tc>
                <a:tc>
                  <a:txBody>
                    <a:bodyPr/>
                    <a:lstStyle/>
                    <a:p>
                      <a:pPr algn="r">
                        <a:defRPr sz="1100">
                          <a:solidFill>
                            <a:srgbClr val="595959"/>
                          </a:solidFill>
                          <a:latin typeface="Arial"/>
                        </a:defRPr>
                      </a:pPr>
                      <a:r>
                        <a:t>99.8%</a:t>
                      </a:r>
                    </a:p>
                  </a:txBody>
                  <a:tcPr>
                    <a:solidFill>
                      <a:srgbClr val="FFFFFF"/>
                    </a:solidFill>
                  </a:tcPr>
                </a:tc>
                <a:tc>
                  <a:txBody>
                    <a:bodyPr/>
                    <a:lstStyle/>
                    <a:p>
                      <a:pPr algn="r">
                        <a:defRPr sz="1100">
                          <a:solidFill>
                            <a:srgbClr val="595959"/>
                          </a:solidFill>
                          <a:latin typeface="Arial"/>
                        </a:defRPr>
                      </a:pPr>
                      <a:r>
                        <a:t>92.2%</a:t>
                      </a:r>
                    </a:p>
                  </a:txBody>
                  <a:tcPr>
                    <a:solidFill>
                      <a:srgbClr val="FFFFFF"/>
                    </a:solidFill>
                  </a:tcPr>
                </a:tc>
              </a:tr>
            </a:tbl>
          </a:graphicData>
        </a:graphic>
      </p:graphicFrame>
      <p:sp>
        <p:nvSpPr>
          <p:cNvPr id="9" name="TextBox 8"/>
          <p:cNvSpPr txBox="1"/>
          <p:nvPr/>
        </p:nvSpPr>
        <p:spPr>
          <a:xfrm>
            <a:off x="548640" y="4617720"/>
            <a:ext cx="11064240" cy="411480"/>
          </a:xfrm>
          <a:prstGeom prst="rect">
            <a:avLst/>
          </a:prstGeom>
          <a:noFill/>
        </p:spPr>
        <p:txBody>
          <a:bodyPr wrap="square"/>
          <a:lstStyle/>
          <a:p>
            <a:pPr algn="l"/>
            <a:r>
              <a:rPr sz="1100" b="0">
                <a:solidFill>
                  <a:srgbClr val="595959"/>
                </a:solidFill>
                <a:latin typeface="Arial"/>
              </a:rPr>
              <a:t>Jan–Aug averages as printed in the August 2026 KPI report. School nurses are counted in School Health, not in PHC nurses. Visits are August 2026 only.</a:t>
            </a:r>
          </a:p>
        </p:txBody>
      </p:sp>
      <p:sp>
        <p:nvSpPr>
          <p:cNvPr id="10" name="Rectangle 9"/>
          <p:cNvSpPr/>
          <p:nvPr/>
        </p:nvSpPr>
        <p:spPr>
          <a:xfrm>
            <a:off x="548640" y="525780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257800"/>
            <a:ext cx="10911535" cy="502920"/>
          </a:xfrm>
          <a:prstGeom prst="rect">
            <a:avLst/>
          </a:prstGeom>
          <a:noFill/>
        </p:spPr>
        <p:txBody>
          <a:bodyPr wrap="square"/>
          <a:lstStyle/>
          <a:p>
            <a:pPr algn="l"/>
            <a:r>
              <a:rPr sz="1100" b="0">
                <a:solidFill>
                  <a:srgbClr val="595959"/>
                </a:solidFill>
                <a:latin typeface="Arial"/>
              </a:rPr>
              <a:t>Why it matters: Al Muzeirah runs on two PHC nurses with the lowest volume and productivity in the network; Al Hamidiya covers more patients than any other centre with no Unit Manager on roll.</a:t>
            </a:r>
          </a:p>
        </p:txBody>
      </p:sp>
      <p:sp>
        <p:nvSpPr>
          <p:cNvPr id="12" name="TextBox 1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 PHC KPI Report — August 2026 (Jan–Aug averages); AjmanNursing_APMaster (Productivity); Nursing Profile Aug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PHC WORKFORCE</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50 nurses; skill mix varies sharply by centre</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Role mix by centre — August 2026 (School Health staff excluded)</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9</a:t>
            </a:r>
          </a:p>
        </p:txBody>
      </p:sp>
      <p:graphicFrame>
        <p:nvGraphicFramePr>
          <p:cNvPr id="8" name="PHC workforce stacked chart by centre Aug 2026"/>
          <p:cNvGraphicFramePr>
            <a:graphicFrameLocks noGrp="1"/>
          </p:cNvGraphicFramePr>
          <p:nvPr/>
        </p:nvGraphicFramePr>
        <p:xfrm>
          <a:off x="548640" y="1600200"/>
          <a:ext cx="6583680" cy="3840480"/>
        </p:xfrm>
        <a:graphic>
          <a:graphicData uri="http://schemas.openxmlformats.org/drawingml/2006/chart">
            <c:chart xmlns:c="http://schemas.openxmlformats.org/drawingml/2006/chart" r:id="rId2"/>
          </a:graphicData>
        </a:graphic>
      </p:graphicFrame>
      <p:sp>
        <p:nvSpPr>
          <p:cNvPr id="9" name="Rounded Rectangle 8"/>
          <p:cNvSpPr/>
          <p:nvPr/>
        </p:nvSpPr>
        <p:spPr>
          <a:xfrm>
            <a:off x="7406640" y="1645920"/>
            <a:ext cx="2011680" cy="12344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1695920"/>
            <a:ext cx="2011680" cy="500000"/>
          </a:xfrm>
          <a:prstGeom prst="rect">
            <a:avLst/>
          </a:prstGeom>
          <a:noFill/>
        </p:spPr>
        <p:txBody>
          <a:bodyPr wrap="square"/>
          <a:lstStyle/>
          <a:p>
            <a:pPr algn="ctr"/>
            <a:r>
              <a:rPr sz="4000" b="1">
                <a:solidFill>
                  <a:srgbClr val="325277"/>
                </a:solidFill>
                <a:latin typeface="Arial"/>
              </a:rPr>
              <a:t>22%</a:t>
            </a:r>
          </a:p>
        </p:txBody>
      </p:sp>
      <p:sp>
        <p:nvSpPr>
          <p:cNvPr id="11" name="TextBox 10"/>
          <p:cNvSpPr txBox="1"/>
          <p:nvPr/>
        </p:nvSpPr>
        <p:spPr>
          <a:xfrm>
            <a:off x="7486640" y="2195920"/>
            <a:ext cx="1851680" cy="400000"/>
          </a:xfrm>
          <a:prstGeom prst="rect">
            <a:avLst/>
          </a:prstGeom>
          <a:noFill/>
        </p:spPr>
        <p:txBody>
          <a:bodyPr wrap="square"/>
          <a:lstStyle/>
          <a:p>
            <a:pPr algn="ctr"/>
            <a:r>
              <a:rPr sz="1200" b="0">
                <a:solidFill>
                  <a:srgbClr val="595959"/>
                </a:solidFill>
                <a:latin typeface="Arial"/>
              </a:rPr>
              <a:t>Assistant Nurses in PHCs (11 of 50)</a:t>
            </a:r>
          </a:p>
        </p:txBody>
      </p:sp>
      <p:sp>
        <p:nvSpPr>
          <p:cNvPr id="12" name="TextBox 11"/>
          <p:cNvSpPr txBox="1"/>
          <p:nvPr/>
        </p:nvSpPr>
        <p:spPr>
          <a:xfrm>
            <a:off x="7486640" y="2515920"/>
            <a:ext cx="1851680" cy="200000"/>
          </a:xfrm>
          <a:prstGeom prst="rect">
            <a:avLst/>
          </a:prstGeom>
          <a:noFill/>
        </p:spPr>
        <p:txBody>
          <a:bodyPr wrap="square"/>
          <a:lstStyle/>
          <a:p>
            <a:pPr algn="ctr"/>
            <a:r>
              <a:rPr sz="900" b="0">
                <a:solidFill>
                  <a:srgbClr val="A9B4C6"/>
                </a:solidFill>
                <a:latin typeface="Arial"/>
              </a:rPr>
              <a:t>calculated</a:t>
            </a:r>
          </a:p>
        </p:txBody>
      </p:sp>
      <p:sp>
        <p:nvSpPr>
          <p:cNvPr id="13" name="Rounded Rectangle 12"/>
          <p:cNvSpPr/>
          <p:nvPr/>
        </p:nvSpPr>
        <p:spPr>
          <a:xfrm>
            <a:off x="9598320" y="1645920"/>
            <a:ext cx="2011680" cy="12344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98320" y="1695920"/>
            <a:ext cx="2011680" cy="500000"/>
          </a:xfrm>
          <a:prstGeom prst="rect">
            <a:avLst/>
          </a:prstGeom>
          <a:noFill/>
        </p:spPr>
        <p:txBody>
          <a:bodyPr wrap="square"/>
          <a:lstStyle/>
          <a:p>
            <a:pPr algn="ctr"/>
            <a:r>
              <a:rPr sz="4000" b="1">
                <a:solidFill>
                  <a:srgbClr val="325277"/>
                </a:solidFill>
                <a:latin typeface="Arial"/>
              </a:rPr>
              <a:t>31%</a:t>
            </a:r>
          </a:p>
        </p:txBody>
      </p:sp>
      <p:sp>
        <p:nvSpPr>
          <p:cNvPr id="15" name="TextBox 14"/>
          <p:cNvSpPr txBox="1"/>
          <p:nvPr/>
        </p:nvSpPr>
        <p:spPr>
          <a:xfrm>
            <a:off x="9678320" y="2195920"/>
            <a:ext cx="1851680" cy="400000"/>
          </a:xfrm>
          <a:prstGeom prst="rect">
            <a:avLst/>
          </a:prstGeom>
          <a:noFill/>
        </p:spPr>
        <p:txBody>
          <a:bodyPr wrap="square"/>
          <a:lstStyle/>
          <a:p>
            <a:pPr algn="ctr"/>
            <a:r>
              <a:rPr sz="1200" b="0">
                <a:solidFill>
                  <a:srgbClr val="595959"/>
                </a:solidFill>
                <a:latin typeface="Arial"/>
              </a:rPr>
              <a:t>AN share at Al Hamidiya (4 of 13)</a:t>
            </a:r>
          </a:p>
        </p:txBody>
      </p:sp>
      <p:sp>
        <p:nvSpPr>
          <p:cNvPr id="16" name="TextBox 15"/>
          <p:cNvSpPr txBox="1"/>
          <p:nvPr/>
        </p:nvSpPr>
        <p:spPr>
          <a:xfrm>
            <a:off x="9678320" y="2515920"/>
            <a:ext cx="1851680" cy="200000"/>
          </a:xfrm>
          <a:prstGeom prst="rect">
            <a:avLst/>
          </a:prstGeom>
          <a:noFill/>
        </p:spPr>
        <p:txBody>
          <a:bodyPr wrap="square"/>
          <a:lstStyle/>
          <a:p>
            <a:pPr algn="ctr"/>
            <a:r>
              <a:rPr sz="900" b="0">
                <a:solidFill>
                  <a:srgbClr val="A9B4C6"/>
                </a:solidFill>
                <a:latin typeface="Arial"/>
              </a:rPr>
              <a:t>calculated</a:t>
            </a:r>
          </a:p>
        </p:txBody>
      </p:sp>
      <p:sp>
        <p:nvSpPr>
          <p:cNvPr id="17" name="Rounded Rectangle 16"/>
          <p:cNvSpPr/>
          <p:nvPr/>
        </p:nvSpPr>
        <p:spPr>
          <a:xfrm>
            <a:off x="7406640" y="3010360"/>
            <a:ext cx="2011680" cy="12344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3060360"/>
            <a:ext cx="2011680" cy="500000"/>
          </a:xfrm>
          <a:prstGeom prst="rect">
            <a:avLst/>
          </a:prstGeom>
          <a:noFill/>
        </p:spPr>
        <p:txBody>
          <a:bodyPr wrap="square"/>
          <a:lstStyle/>
          <a:p>
            <a:pPr algn="ctr"/>
            <a:r>
              <a:rPr sz="4000" b="1">
                <a:solidFill>
                  <a:srgbClr val="325277"/>
                </a:solidFill>
                <a:latin typeface="Arial"/>
              </a:rPr>
              <a:t>15.6</a:t>
            </a:r>
          </a:p>
        </p:txBody>
      </p:sp>
      <p:sp>
        <p:nvSpPr>
          <p:cNvPr id="19" name="TextBox 18"/>
          <p:cNvSpPr txBox="1"/>
          <p:nvPr/>
        </p:nvSpPr>
        <p:spPr>
          <a:xfrm>
            <a:off x="7486640" y="3560360"/>
            <a:ext cx="1851680" cy="400000"/>
          </a:xfrm>
          <a:prstGeom prst="rect">
            <a:avLst/>
          </a:prstGeom>
          <a:noFill/>
        </p:spPr>
        <p:txBody>
          <a:bodyPr wrap="square"/>
          <a:lstStyle/>
          <a:p>
            <a:pPr algn="ctr"/>
            <a:r>
              <a:rPr sz="1200" b="0">
                <a:solidFill>
                  <a:srgbClr val="595959"/>
                </a:solidFill>
                <a:latin typeface="Arial"/>
              </a:rPr>
              <a:t>average years of experience</a:t>
            </a:r>
          </a:p>
        </p:txBody>
      </p:sp>
      <p:sp>
        <p:nvSpPr>
          <p:cNvPr id="20" name="TextBox 19"/>
          <p:cNvSpPr txBox="1"/>
          <p:nvPr/>
        </p:nvSpPr>
        <p:spPr>
          <a:xfrm>
            <a:off x="7486640" y="3880360"/>
            <a:ext cx="1851680" cy="200000"/>
          </a:xfrm>
          <a:prstGeom prst="rect">
            <a:avLst/>
          </a:prstGeom>
          <a:noFill/>
        </p:spPr>
        <p:txBody>
          <a:bodyPr wrap="square"/>
          <a:lstStyle/>
          <a:p>
            <a:pPr algn="ctr"/>
            <a:r>
              <a:rPr sz="900" b="0">
                <a:solidFill>
                  <a:srgbClr val="A9B4C6"/>
                </a:solidFill>
                <a:latin typeface="Arial"/>
              </a:rPr>
              <a:t>PHC staff, calculated</a:t>
            </a:r>
          </a:p>
        </p:txBody>
      </p:sp>
      <p:sp>
        <p:nvSpPr>
          <p:cNvPr id="21" name="Rounded Rectangle 20"/>
          <p:cNvSpPr/>
          <p:nvPr/>
        </p:nvSpPr>
        <p:spPr>
          <a:xfrm>
            <a:off x="9598320" y="3010360"/>
            <a:ext cx="2011680" cy="12344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98320" y="3060360"/>
            <a:ext cx="2011680" cy="500000"/>
          </a:xfrm>
          <a:prstGeom prst="rect">
            <a:avLst/>
          </a:prstGeom>
          <a:noFill/>
        </p:spPr>
        <p:txBody>
          <a:bodyPr wrap="square"/>
          <a:lstStyle/>
          <a:p>
            <a:pPr algn="ctr"/>
            <a:r>
              <a:rPr sz="4000" b="1">
                <a:solidFill>
                  <a:srgbClr val="325277"/>
                </a:solidFill>
                <a:latin typeface="Arial"/>
              </a:rPr>
              <a:t>1 of 2</a:t>
            </a:r>
          </a:p>
        </p:txBody>
      </p:sp>
      <p:sp>
        <p:nvSpPr>
          <p:cNvPr id="23" name="TextBox 22"/>
          <p:cNvSpPr txBox="1"/>
          <p:nvPr/>
        </p:nvSpPr>
        <p:spPr>
          <a:xfrm>
            <a:off x="9678320" y="3560360"/>
            <a:ext cx="1851680" cy="400000"/>
          </a:xfrm>
          <a:prstGeom prst="rect">
            <a:avLst/>
          </a:prstGeom>
          <a:noFill/>
        </p:spPr>
        <p:txBody>
          <a:bodyPr wrap="square"/>
          <a:lstStyle/>
          <a:p>
            <a:pPr algn="ctr"/>
            <a:r>
              <a:rPr sz="1200" b="0">
                <a:solidFill>
                  <a:srgbClr val="595959"/>
                </a:solidFill>
                <a:latin typeface="Arial"/>
              </a:rPr>
              <a:t>Al Muzeirah PHC nurses is an AN</a:t>
            </a:r>
          </a:p>
        </p:txBody>
      </p:sp>
      <p:sp>
        <p:nvSpPr>
          <p:cNvPr id="24" name="TextBox 23"/>
          <p:cNvSpPr txBox="1"/>
          <p:nvPr/>
        </p:nvSpPr>
        <p:spPr>
          <a:xfrm>
            <a:off x="9678320" y="3880360"/>
            <a:ext cx="1851680" cy="200000"/>
          </a:xfrm>
          <a:prstGeom prst="rect">
            <a:avLst/>
          </a:prstGeom>
          <a:noFill/>
        </p:spPr>
        <p:txBody>
          <a:bodyPr wrap="square"/>
          <a:lstStyle/>
          <a:p>
            <a:pPr algn="ctr"/>
            <a:r>
              <a:rPr sz="900" b="0">
                <a:solidFill>
                  <a:srgbClr val="A9B4C6"/>
                </a:solidFill>
                <a:latin typeface="Arial"/>
              </a:rPr>
              <a:t>no Staff Nurse on roll</a:t>
            </a:r>
          </a:p>
        </p:txBody>
      </p:sp>
      <p:sp>
        <p:nvSpPr>
          <p:cNvPr id="25" name="Rounded Rectangle 24"/>
          <p:cNvSpPr/>
          <p:nvPr/>
        </p:nvSpPr>
        <p:spPr>
          <a:xfrm>
            <a:off x="7406640" y="4389120"/>
            <a:ext cx="4206240" cy="10515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4434840"/>
            <a:ext cx="3977640" cy="960120"/>
          </a:xfrm>
          <a:prstGeom prst="rect">
            <a:avLst/>
          </a:prstGeom>
          <a:noFill/>
        </p:spPr>
        <p:txBody>
          <a:bodyPr wrap="square"/>
          <a:lstStyle/>
          <a:p>
            <a:pPr algn="l"/>
            <a:r>
              <a:rPr sz="1000" b="0">
                <a:solidFill>
                  <a:srgbClr val="595959"/>
                </a:solidFill>
                <a:latin typeface="Arial"/>
              </a:rPr>
              <a:t>2025 baseline (Jan 2026 analysis): 114 staff; RN/midwife 84%, AN 13%, unlicensed 3%. The analysis linked higher AN ratios to lower productivity and recommended a reallocation plan.</a:t>
            </a:r>
          </a:p>
        </p:txBody>
      </p:sp>
      <p:sp>
        <p:nvSpPr>
          <p:cNvPr id="27" name="Rectangle 26"/>
          <p:cNvSpPr/>
          <p:nvPr/>
        </p:nvSpPr>
        <p:spPr>
          <a:xfrm>
            <a:off x="548640" y="5596128"/>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596128"/>
            <a:ext cx="10911535" cy="502920"/>
          </a:xfrm>
          <a:prstGeom prst="rect">
            <a:avLst/>
          </a:prstGeom>
          <a:noFill/>
        </p:spPr>
        <p:txBody>
          <a:bodyPr wrap="square"/>
          <a:lstStyle/>
          <a:p>
            <a:pPr algn="l"/>
            <a:r>
              <a:rPr sz="1100" b="0">
                <a:solidFill>
                  <a:srgbClr val="595959"/>
                </a:solidFill>
                <a:latin typeface="Arial"/>
              </a:rPr>
              <a:t>Why it matters: Where Assistant Nurses make up a larger share, fewer staff can deliver the full clinical workload — this is a structural driver of productivity variation.</a:t>
            </a:r>
          </a:p>
        </p:txBody>
      </p:sp>
      <p:sp>
        <p:nvSpPr>
          <p:cNvPr id="29" name="TextBox 28"/>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August Ajman PHC Nursing Profile 2026 (Profile sheet, Actual Work); Nursing Workforce Optimization 2026 Action Plan (14 Jan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WORKFORCE VS SERVICE DEMAND</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Staffing is not matched to volume</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Productivity = (patient volume × 0.33 budgeted nursing hours) ÷ direct nursing care hours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10</a:t>
            </a:r>
          </a:p>
        </p:txBody>
      </p:sp>
      <p:sp>
        <p:nvSpPr>
          <p:cNvPr id="8" name="Rectangle 7"/>
          <p:cNvSpPr/>
          <p:nvPr/>
        </p:nvSpPr>
        <p:spPr>
          <a:xfrm>
            <a:off x="0" y="0"/>
            <a:ext cx="91440" cy="6858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00000" y="347472"/>
            <a:ext cx="1800000" cy="365760"/>
          </a:xfrm>
          <a:prstGeom prst="roundRect">
            <a:avLst>
              <a:gd name="adj" fmla="val 1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PHS</a:t>
            </a:r>
          </a:p>
        </p:txBody>
      </p:sp>
      <p:graphicFrame>
        <p:nvGraphicFramePr>
          <p:cNvPr id="10" name="Productivity comparison all sites Jan-Aug 2026"/>
          <p:cNvGraphicFramePr>
            <a:graphicFrameLocks noGrp="1"/>
          </p:cNvGraphicFramePr>
          <p:nvPr/>
        </p:nvGraphicFramePr>
        <p:xfrm>
          <a:off x="548640" y="1600200"/>
          <a:ext cx="5760720" cy="3611880"/>
        </p:xfrm>
        <a:graphic>
          <a:graphicData uri="http://schemas.openxmlformats.org/drawingml/2006/chart">
            <c:chart xmlns:c="http://schemas.openxmlformats.org/drawingml/2006/chart" r:id="rId2"/>
          </a:graphicData>
        </a:graphic>
      </p:graphicFrame>
      <p:sp>
        <p:nvSpPr>
          <p:cNvPr id="11" name="TextBox 10"/>
          <p:cNvSpPr txBox="1"/>
          <p:nvPr/>
        </p:nvSpPr>
        <p:spPr>
          <a:xfrm>
            <a:off x="6537960" y="1627632"/>
            <a:ext cx="5120640" cy="274320"/>
          </a:xfrm>
          <a:prstGeom prst="rect">
            <a:avLst/>
          </a:prstGeom>
          <a:noFill/>
        </p:spPr>
        <p:txBody>
          <a:bodyPr wrap="square"/>
          <a:lstStyle/>
          <a:p>
            <a:pPr algn="l"/>
            <a:r>
              <a:rPr sz="1200" b="1">
                <a:solidFill>
                  <a:srgbClr val="325277"/>
                </a:solidFill>
                <a:latin typeface="Arial"/>
              </a:rPr>
              <a:t>Yearly average productivity vs the 95% lower limit</a:t>
            </a:r>
          </a:p>
        </p:txBody>
      </p:sp>
      <p:graphicFrame>
        <p:nvGraphicFramePr>
          <p:cNvPr id="12" name="Table 11"/>
          <p:cNvGraphicFramePr>
            <a:graphicFrameLocks noGrp="1"/>
          </p:cNvGraphicFramePr>
          <p:nvPr/>
        </p:nvGraphicFramePr>
        <p:xfrm>
          <a:off x="6537960" y="1938528"/>
          <a:ext cx="5102352" cy="2560320"/>
        </p:xfrm>
        <a:graphic>
          <a:graphicData uri="http://schemas.openxmlformats.org/drawingml/2006/table">
            <a:tbl>
              <a:tblPr firstRow="1" bandRow="1">
                <a:tableStyleId>{5C22544A-7EE6-4342-B048-85BDC9FD1C3A}</a:tableStyleId>
              </a:tblPr>
              <a:tblGrid>
                <a:gridCol w="1020470"/>
                <a:gridCol w="1020470"/>
                <a:gridCol w="1020470"/>
                <a:gridCol w="1020470"/>
                <a:gridCol w="1020472"/>
              </a:tblGrid>
              <a:tr h="365760">
                <a:tc>
                  <a:txBody>
                    <a:bodyPr/>
                    <a:lstStyle/>
                    <a:p>
                      <a:pPr>
                        <a:defRPr sz="1100" b="1">
                          <a:solidFill>
                            <a:srgbClr val="FFFFFF"/>
                          </a:solidFill>
                          <a:latin typeface="Arial"/>
                        </a:defRPr>
                      </a:pPr>
                      <a:r>
                        <a:t>Centre</a:t>
                      </a:r>
                    </a:p>
                  </a:txBody>
                  <a:tcPr>
                    <a:solidFill>
                      <a:srgbClr val="325277"/>
                    </a:solidFill>
                  </a:tcPr>
                </a:tc>
                <a:tc>
                  <a:txBody>
                    <a:bodyPr/>
                    <a:lstStyle/>
                    <a:p>
                      <a:pPr>
                        <a:defRPr sz="1100" b="1">
                          <a:solidFill>
                            <a:srgbClr val="FFFFFF"/>
                          </a:solidFill>
                          <a:latin typeface="Arial"/>
                        </a:defRPr>
                      </a:pPr>
                      <a:r>
                        <a:t>2023</a:t>
                      </a:r>
                    </a:p>
                  </a:txBody>
                  <a:tcPr>
                    <a:solidFill>
                      <a:srgbClr val="325277"/>
                    </a:solidFill>
                  </a:tcPr>
                </a:tc>
                <a:tc>
                  <a:txBody>
                    <a:bodyPr/>
                    <a:lstStyle/>
                    <a:p>
                      <a:pPr>
                        <a:defRPr sz="1100" b="1">
                          <a:solidFill>
                            <a:srgbClr val="FFFFFF"/>
                          </a:solidFill>
                          <a:latin typeface="Arial"/>
                        </a:defRPr>
                      </a:pPr>
                      <a:r>
                        <a:t>2024</a:t>
                      </a:r>
                    </a:p>
                  </a:txBody>
                  <a:tcPr>
                    <a:solidFill>
                      <a:srgbClr val="325277"/>
                    </a:solidFill>
                  </a:tcPr>
                </a:tc>
                <a:tc>
                  <a:txBody>
                    <a:bodyPr/>
                    <a:lstStyle/>
                    <a:p>
                      <a:pPr>
                        <a:defRPr sz="1100" b="1">
                          <a:solidFill>
                            <a:srgbClr val="FFFFFF"/>
                          </a:solidFill>
                          <a:latin typeface="Arial"/>
                        </a:defRPr>
                      </a:pPr>
                      <a:r>
                        <a:t>2025</a:t>
                      </a:r>
                    </a:p>
                  </a:txBody>
                  <a:tcPr>
                    <a:solidFill>
                      <a:srgbClr val="325277"/>
                    </a:solidFill>
                  </a:tcPr>
                </a:tc>
                <a:tc>
                  <a:txBody>
                    <a:bodyPr/>
                    <a:lstStyle/>
                    <a:p>
                      <a:pPr>
                        <a:defRPr sz="1100" b="1">
                          <a:solidFill>
                            <a:srgbClr val="FFFFFF"/>
                          </a:solidFill>
                          <a:latin typeface="Arial"/>
                        </a:defRPr>
                      </a:pPr>
                      <a:r>
                        <a:t>2026 Jan–Aug</a:t>
                      </a:r>
                    </a:p>
                  </a:txBody>
                  <a:tcPr>
                    <a:solidFill>
                      <a:srgbClr val="325277"/>
                    </a:solidFill>
                  </a:tcPr>
                </a:tc>
              </a:tr>
              <a:tr h="365760">
                <a:tc>
                  <a:txBody>
                    <a:bodyPr/>
                    <a:lstStyle/>
                    <a:p>
                      <a:pPr>
                        <a:defRPr sz="1100">
                          <a:solidFill>
                            <a:srgbClr val="595959"/>
                          </a:solidFill>
                          <a:latin typeface="Arial"/>
                        </a:defRPr>
                      </a:pPr>
                      <a:r>
                        <a:t>Al Hamidiya</a:t>
                      </a:r>
                    </a:p>
                  </a:txBody>
                  <a:tcPr>
                    <a:solidFill>
                      <a:srgbClr val="FFFFFF"/>
                    </a:solidFill>
                  </a:tcPr>
                </a:tc>
                <a:tc>
                  <a:txBody>
                    <a:bodyPr/>
                    <a:lstStyle/>
                    <a:p>
                      <a:pPr algn="r">
                        <a:defRPr sz="1100">
                          <a:solidFill>
                            <a:srgbClr val="595959"/>
                          </a:solidFill>
                          <a:latin typeface="Arial"/>
                        </a:defRPr>
                      </a:pPr>
                      <a:r>
                        <a:t>61.4%</a:t>
                      </a:r>
                    </a:p>
                  </a:txBody>
                  <a:tcPr>
                    <a:solidFill>
                      <a:srgbClr val="FFFFFF"/>
                    </a:solidFill>
                  </a:tcPr>
                </a:tc>
                <a:tc>
                  <a:txBody>
                    <a:bodyPr/>
                    <a:lstStyle/>
                    <a:p>
                      <a:pPr algn="r">
                        <a:defRPr sz="1100">
                          <a:solidFill>
                            <a:srgbClr val="595959"/>
                          </a:solidFill>
                          <a:latin typeface="Arial"/>
                        </a:defRPr>
                      </a:pPr>
                      <a:r>
                        <a:t>58.2%</a:t>
                      </a:r>
                    </a:p>
                  </a:txBody>
                  <a:tcPr>
                    <a:solidFill>
                      <a:srgbClr val="FFFFFF"/>
                    </a:solidFill>
                  </a:tcPr>
                </a:tc>
                <a:tc>
                  <a:txBody>
                    <a:bodyPr/>
                    <a:lstStyle/>
                    <a:p>
                      <a:pPr algn="r">
                        <a:defRPr sz="1100">
                          <a:solidFill>
                            <a:srgbClr val="595959"/>
                          </a:solidFill>
                          <a:latin typeface="Arial"/>
                        </a:defRPr>
                      </a:pPr>
                      <a:r>
                        <a:t>53.0%</a:t>
                      </a:r>
                    </a:p>
                  </a:txBody>
                  <a:tcPr>
                    <a:solidFill>
                      <a:srgbClr val="FFFFFF"/>
                    </a:solidFill>
                  </a:tcPr>
                </a:tc>
                <a:tc>
                  <a:txBody>
                    <a:bodyPr/>
                    <a:lstStyle/>
                    <a:p>
                      <a:pPr algn="r">
                        <a:defRPr sz="1100">
                          <a:solidFill>
                            <a:srgbClr val="595959"/>
                          </a:solidFill>
                          <a:latin typeface="Arial"/>
                        </a:defRPr>
                      </a:pPr>
                      <a:r>
                        <a:t>55.2%</a:t>
                      </a:r>
                    </a:p>
                  </a:txBody>
                  <a:tcPr>
                    <a:solidFill>
                      <a:srgbClr val="FFFFFF"/>
                    </a:solidFill>
                  </a:tcPr>
                </a:tc>
              </a:tr>
              <a:tr h="365760">
                <a:tc>
                  <a:txBody>
                    <a:bodyPr/>
                    <a:lstStyle/>
                    <a:p>
                      <a:pPr>
                        <a:defRPr sz="1100">
                          <a:solidFill>
                            <a:srgbClr val="595959"/>
                          </a:solidFill>
                          <a:latin typeface="Arial"/>
                        </a:defRPr>
                      </a:pPr>
                      <a:r>
                        <a:t>Mushairef</a:t>
                      </a:r>
                    </a:p>
                  </a:txBody>
                  <a:tcPr>
                    <a:solidFill>
                      <a:srgbClr val="F2F2F2"/>
                    </a:solidFill>
                  </a:tcPr>
                </a:tc>
                <a:tc>
                  <a:txBody>
                    <a:bodyPr/>
                    <a:lstStyle/>
                    <a:p>
                      <a:pPr algn="r">
                        <a:defRPr sz="1100">
                          <a:solidFill>
                            <a:srgbClr val="595959"/>
                          </a:solidFill>
                          <a:latin typeface="Arial"/>
                        </a:defRPr>
                      </a:pPr>
                      <a:r>
                        <a:t>49.1%</a:t>
                      </a:r>
                    </a:p>
                  </a:txBody>
                  <a:tcPr>
                    <a:solidFill>
                      <a:srgbClr val="F2F2F2"/>
                    </a:solidFill>
                  </a:tcPr>
                </a:tc>
                <a:tc>
                  <a:txBody>
                    <a:bodyPr/>
                    <a:lstStyle/>
                    <a:p>
                      <a:pPr algn="r">
                        <a:defRPr sz="1100">
                          <a:solidFill>
                            <a:srgbClr val="595959"/>
                          </a:solidFill>
                          <a:latin typeface="Arial"/>
                        </a:defRPr>
                      </a:pPr>
                      <a:r>
                        <a:t>44.4%</a:t>
                      </a:r>
                    </a:p>
                  </a:txBody>
                  <a:tcPr>
                    <a:solidFill>
                      <a:srgbClr val="F2F2F2"/>
                    </a:solidFill>
                  </a:tcPr>
                </a:tc>
                <a:tc>
                  <a:txBody>
                    <a:bodyPr/>
                    <a:lstStyle/>
                    <a:p>
                      <a:pPr algn="r">
                        <a:defRPr sz="1100">
                          <a:solidFill>
                            <a:srgbClr val="595959"/>
                          </a:solidFill>
                          <a:latin typeface="Arial"/>
                        </a:defRPr>
                      </a:pPr>
                      <a:r>
                        <a:t>40.8%</a:t>
                      </a:r>
                    </a:p>
                  </a:txBody>
                  <a:tcPr>
                    <a:solidFill>
                      <a:srgbClr val="F2F2F2"/>
                    </a:solidFill>
                  </a:tcPr>
                </a:tc>
                <a:tc>
                  <a:txBody>
                    <a:bodyPr/>
                    <a:lstStyle/>
                    <a:p>
                      <a:pPr algn="r">
                        <a:defRPr sz="1100">
                          <a:solidFill>
                            <a:srgbClr val="595959"/>
                          </a:solidFill>
                          <a:latin typeface="Arial"/>
                        </a:defRPr>
                      </a:pPr>
                      <a:r>
                        <a:t>40.8%</a:t>
                      </a:r>
                    </a:p>
                  </a:txBody>
                  <a:tcPr>
                    <a:solidFill>
                      <a:srgbClr val="F2F2F2"/>
                    </a:solidFill>
                  </a:tcPr>
                </a:tc>
              </a:tr>
              <a:tr h="365760">
                <a:tc>
                  <a:txBody>
                    <a:bodyPr/>
                    <a:lstStyle/>
                    <a:p>
                      <a:pPr>
                        <a:defRPr sz="1100">
                          <a:solidFill>
                            <a:srgbClr val="595959"/>
                          </a:solidFill>
                          <a:latin typeface="Arial"/>
                        </a:defRPr>
                      </a:pPr>
                      <a:r>
                        <a:t>Al Madina</a:t>
                      </a:r>
                    </a:p>
                  </a:txBody>
                  <a:tcPr>
                    <a:solidFill>
                      <a:srgbClr val="FFFFFF"/>
                    </a:solidFill>
                  </a:tcPr>
                </a:tc>
                <a:tc>
                  <a:txBody>
                    <a:bodyPr/>
                    <a:lstStyle/>
                    <a:p>
                      <a:pPr algn="r">
                        <a:defRPr sz="1100">
                          <a:solidFill>
                            <a:srgbClr val="595959"/>
                          </a:solidFill>
                          <a:latin typeface="Arial"/>
                        </a:defRPr>
                      </a:pPr>
                      <a:r>
                        <a:t>41.1%</a:t>
                      </a:r>
                    </a:p>
                  </a:txBody>
                  <a:tcPr>
                    <a:solidFill>
                      <a:srgbClr val="FFFFFF"/>
                    </a:solidFill>
                  </a:tcPr>
                </a:tc>
                <a:tc>
                  <a:txBody>
                    <a:bodyPr/>
                    <a:lstStyle/>
                    <a:p>
                      <a:pPr algn="r">
                        <a:defRPr sz="1100">
                          <a:solidFill>
                            <a:srgbClr val="595959"/>
                          </a:solidFill>
                          <a:latin typeface="Arial"/>
                        </a:defRPr>
                      </a:pPr>
                      <a:r>
                        <a:t>40.6%</a:t>
                      </a:r>
                    </a:p>
                  </a:txBody>
                  <a:tcPr>
                    <a:solidFill>
                      <a:srgbClr val="FFFFFF"/>
                    </a:solidFill>
                  </a:tcPr>
                </a:tc>
                <a:tc>
                  <a:txBody>
                    <a:bodyPr/>
                    <a:lstStyle/>
                    <a:p>
                      <a:pPr algn="r">
                        <a:defRPr sz="1100">
                          <a:solidFill>
                            <a:srgbClr val="595959"/>
                          </a:solidFill>
                          <a:latin typeface="Arial"/>
                        </a:defRPr>
                      </a:pPr>
                      <a:r>
                        <a:t>51.4%</a:t>
                      </a:r>
                    </a:p>
                  </a:txBody>
                  <a:tcPr>
                    <a:solidFill>
                      <a:srgbClr val="FFFFFF"/>
                    </a:solidFill>
                  </a:tcPr>
                </a:tc>
                <a:tc>
                  <a:txBody>
                    <a:bodyPr/>
                    <a:lstStyle/>
                    <a:p>
                      <a:pPr algn="r">
                        <a:defRPr sz="1100">
                          <a:solidFill>
                            <a:srgbClr val="595959"/>
                          </a:solidFill>
                          <a:latin typeface="Arial"/>
                        </a:defRPr>
                      </a:pPr>
                      <a:r>
                        <a:t>41.8%</a:t>
                      </a:r>
                    </a:p>
                  </a:txBody>
                  <a:tcPr>
                    <a:solidFill>
                      <a:srgbClr val="FFFFFF"/>
                    </a:solidFill>
                  </a:tcPr>
                </a:tc>
              </a:tr>
              <a:tr h="365760">
                <a:tc>
                  <a:txBody>
                    <a:bodyPr/>
                    <a:lstStyle/>
                    <a:p>
                      <a:pPr>
                        <a:defRPr sz="1100">
                          <a:solidFill>
                            <a:srgbClr val="595959"/>
                          </a:solidFill>
                          <a:latin typeface="Arial"/>
                        </a:defRPr>
                      </a:pPr>
                      <a:r>
                        <a:t>Al Manama</a:t>
                      </a:r>
                    </a:p>
                  </a:txBody>
                  <a:tcPr>
                    <a:solidFill>
                      <a:srgbClr val="F2F2F2"/>
                    </a:solidFill>
                  </a:tcPr>
                </a:tc>
                <a:tc>
                  <a:txBody>
                    <a:bodyPr/>
                    <a:lstStyle/>
                    <a:p>
                      <a:pPr algn="r">
                        <a:defRPr sz="1100">
                          <a:solidFill>
                            <a:srgbClr val="595959"/>
                          </a:solidFill>
                          <a:latin typeface="Arial"/>
                        </a:defRPr>
                      </a:pPr>
                      <a:r>
                        <a:t>39.8%</a:t>
                      </a:r>
                    </a:p>
                  </a:txBody>
                  <a:tcPr>
                    <a:solidFill>
                      <a:srgbClr val="F2F2F2"/>
                    </a:solidFill>
                  </a:tcPr>
                </a:tc>
                <a:tc>
                  <a:txBody>
                    <a:bodyPr/>
                    <a:lstStyle/>
                    <a:p>
                      <a:pPr algn="r">
                        <a:defRPr sz="1100">
                          <a:solidFill>
                            <a:srgbClr val="595959"/>
                          </a:solidFill>
                          <a:latin typeface="Arial"/>
                        </a:defRPr>
                      </a:pPr>
                      <a:r>
                        <a:t>37.8%</a:t>
                      </a:r>
                    </a:p>
                  </a:txBody>
                  <a:tcPr>
                    <a:solidFill>
                      <a:srgbClr val="F2F2F2"/>
                    </a:solidFill>
                  </a:tcPr>
                </a:tc>
                <a:tc>
                  <a:txBody>
                    <a:bodyPr/>
                    <a:lstStyle/>
                    <a:p>
                      <a:pPr algn="r">
                        <a:defRPr sz="1100">
                          <a:solidFill>
                            <a:srgbClr val="595959"/>
                          </a:solidFill>
                          <a:latin typeface="Arial"/>
                        </a:defRPr>
                      </a:pPr>
                      <a:r>
                        <a:t>37.6%</a:t>
                      </a:r>
                    </a:p>
                  </a:txBody>
                  <a:tcPr>
                    <a:solidFill>
                      <a:srgbClr val="F2F2F2"/>
                    </a:solidFill>
                  </a:tcPr>
                </a:tc>
                <a:tc>
                  <a:txBody>
                    <a:bodyPr/>
                    <a:lstStyle/>
                    <a:p>
                      <a:pPr algn="r">
                        <a:defRPr sz="1100">
                          <a:solidFill>
                            <a:srgbClr val="595959"/>
                          </a:solidFill>
                          <a:latin typeface="Arial"/>
                        </a:defRPr>
                      </a:pPr>
                      <a:r>
                        <a:t>38.7%</a:t>
                      </a:r>
                    </a:p>
                  </a:txBody>
                  <a:tcPr>
                    <a:solidFill>
                      <a:srgbClr val="F2F2F2"/>
                    </a:solidFill>
                  </a:tcPr>
                </a:tc>
              </a:tr>
              <a:tr h="365760">
                <a:tc>
                  <a:txBody>
                    <a:bodyPr/>
                    <a:lstStyle/>
                    <a:p>
                      <a:pPr>
                        <a:defRPr sz="1100">
                          <a:solidFill>
                            <a:srgbClr val="595959"/>
                          </a:solidFill>
                          <a:latin typeface="Arial"/>
                        </a:defRPr>
                      </a:pPr>
                      <a:r>
                        <a:t>Al Muzeirah</a:t>
                      </a:r>
                    </a:p>
                  </a:txBody>
                  <a:tcPr>
                    <a:solidFill>
                      <a:srgbClr val="FFFFFF"/>
                    </a:solidFill>
                  </a:tcPr>
                </a:tc>
                <a:tc>
                  <a:txBody>
                    <a:bodyPr/>
                    <a:lstStyle/>
                    <a:p>
                      <a:pPr algn="r">
                        <a:defRPr sz="1100">
                          <a:solidFill>
                            <a:srgbClr val="595959"/>
                          </a:solidFill>
                          <a:latin typeface="Arial"/>
                        </a:defRPr>
                      </a:pPr>
                      <a:r>
                        <a:t>21.3%</a:t>
                      </a:r>
                    </a:p>
                  </a:txBody>
                  <a:tcPr>
                    <a:solidFill>
                      <a:srgbClr val="FFFFFF"/>
                    </a:solidFill>
                  </a:tcPr>
                </a:tc>
                <a:tc>
                  <a:txBody>
                    <a:bodyPr/>
                    <a:lstStyle/>
                    <a:p>
                      <a:pPr algn="r">
                        <a:defRPr sz="1100">
                          <a:solidFill>
                            <a:srgbClr val="595959"/>
                          </a:solidFill>
                          <a:latin typeface="Arial"/>
                        </a:defRPr>
                      </a:pPr>
                      <a:r>
                        <a:t>35.6%</a:t>
                      </a:r>
                    </a:p>
                  </a:txBody>
                  <a:tcPr>
                    <a:solidFill>
                      <a:srgbClr val="FFFFFF"/>
                    </a:solidFill>
                  </a:tcPr>
                </a:tc>
                <a:tc>
                  <a:txBody>
                    <a:bodyPr/>
                    <a:lstStyle/>
                    <a:p>
                      <a:pPr algn="r">
                        <a:defRPr sz="1100">
                          <a:solidFill>
                            <a:srgbClr val="595959"/>
                          </a:solidFill>
                          <a:latin typeface="Arial"/>
                        </a:defRPr>
                      </a:pPr>
                      <a:r>
                        <a:t>31.6%</a:t>
                      </a:r>
                    </a:p>
                  </a:txBody>
                  <a:tcPr>
                    <a:solidFill>
                      <a:srgbClr val="FFFFFF"/>
                    </a:solidFill>
                  </a:tcPr>
                </a:tc>
                <a:tc>
                  <a:txBody>
                    <a:bodyPr/>
                    <a:lstStyle/>
                    <a:p>
                      <a:pPr algn="r">
                        <a:defRPr sz="1100">
                          <a:solidFill>
                            <a:srgbClr val="595959"/>
                          </a:solidFill>
                          <a:latin typeface="Arial"/>
                        </a:defRPr>
                      </a:pPr>
                      <a:r>
                        <a:t>25.8%</a:t>
                      </a:r>
                    </a:p>
                  </a:txBody>
                  <a:tcPr>
                    <a:solidFill>
                      <a:srgbClr val="FFFFFF"/>
                    </a:solidFill>
                  </a:tcPr>
                </a:tc>
              </a:tr>
              <a:tr h="365760">
                <a:tc>
                  <a:txBody>
                    <a:bodyPr/>
                    <a:lstStyle/>
                    <a:p>
                      <a:pPr>
                        <a:defRPr sz="1100">
                          <a:solidFill>
                            <a:srgbClr val="595959"/>
                          </a:solidFill>
                          <a:latin typeface="Arial"/>
                        </a:defRPr>
                      </a:pPr>
                      <a:r>
                        <a:t>Ajman PHS</a:t>
                      </a:r>
                    </a:p>
                  </a:txBody>
                  <a:tcPr>
                    <a:solidFill>
                      <a:srgbClr val="F2F2F2"/>
                    </a:solidFill>
                  </a:tcPr>
                </a:tc>
                <a:tc>
                  <a:txBody>
                    <a:bodyPr/>
                    <a:lstStyle/>
                    <a:p>
                      <a:pPr algn="r">
                        <a:defRPr sz="1100">
                          <a:solidFill>
                            <a:srgbClr val="595959"/>
                          </a:solidFill>
                          <a:latin typeface="Arial"/>
                        </a:defRPr>
                      </a:pPr>
                      <a:r>
                        <a:t>27.2%</a:t>
                      </a:r>
                    </a:p>
                  </a:txBody>
                  <a:tcPr>
                    <a:solidFill>
                      <a:srgbClr val="F2F2F2"/>
                    </a:solidFill>
                  </a:tcPr>
                </a:tc>
                <a:tc>
                  <a:txBody>
                    <a:bodyPr/>
                    <a:lstStyle/>
                    <a:p>
                      <a:pPr algn="r">
                        <a:defRPr sz="1100">
                          <a:solidFill>
                            <a:srgbClr val="595959"/>
                          </a:solidFill>
                          <a:latin typeface="Arial"/>
                        </a:defRPr>
                      </a:pPr>
                      <a:r>
                        <a:t>19.3%</a:t>
                      </a:r>
                    </a:p>
                  </a:txBody>
                  <a:tcPr>
                    <a:solidFill>
                      <a:srgbClr val="F2F2F2"/>
                    </a:solidFill>
                  </a:tcPr>
                </a:tc>
                <a:tc>
                  <a:txBody>
                    <a:bodyPr/>
                    <a:lstStyle/>
                    <a:p>
                      <a:pPr algn="r">
                        <a:defRPr sz="1100">
                          <a:solidFill>
                            <a:srgbClr val="595959"/>
                          </a:solidFill>
                          <a:latin typeface="Arial"/>
                        </a:defRPr>
                      </a:pPr>
                      <a:r>
                        <a:t>19.8%</a:t>
                      </a:r>
                    </a:p>
                  </a:txBody>
                  <a:tcPr>
                    <a:solidFill>
                      <a:srgbClr val="F2F2F2"/>
                    </a:solidFill>
                  </a:tcPr>
                </a:tc>
                <a:tc>
                  <a:txBody>
                    <a:bodyPr/>
                    <a:lstStyle/>
                    <a:p>
                      <a:pPr algn="r">
                        <a:defRPr sz="1100">
                          <a:solidFill>
                            <a:srgbClr val="595959"/>
                          </a:solidFill>
                          <a:latin typeface="Arial"/>
                        </a:defRPr>
                      </a:pPr>
                      <a:r>
                        <a:t>27.2%</a:t>
                      </a:r>
                    </a:p>
                  </a:txBody>
                  <a:tcPr>
                    <a:solidFill>
                      <a:srgbClr val="F2F2F2"/>
                    </a:solidFill>
                  </a:tcPr>
                </a:tc>
              </a:tr>
            </a:tbl>
          </a:graphicData>
        </a:graphic>
      </p:graphicFrame>
      <p:sp>
        <p:nvSpPr>
          <p:cNvPr id="13" name="Rounded Rectangle 12"/>
          <p:cNvSpPr/>
          <p:nvPr/>
        </p:nvSpPr>
        <p:spPr>
          <a:xfrm>
            <a:off x="6537960" y="4251960"/>
            <a:ext cx="5102352" cy="9601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4279392"/>
            <a:ext cx="4846320" cy="914400"/>
          </a:xfrm>
          <a:prstGeom prst="rect">
            <a:avLst/>
          </a:prstGeom>
          <a:noFill/>
        </p:spPr>
        <p:txBody>
          <a:bodyPr wrap="square"/>
          <a:lstStyle/>
          <a:p>
            <a:pPr algn="l"/>
            <a:r>
              <a:rPr sz="1000" b="0">
                <a:solidFill>
                  <a:srgbClr val="595959"/>
                </a:solidFill>
                <a:latin typeface="Arial"/>
              </a:rPr>
              <a:t>The three Medical Fitness Centres average inside or above the band; the six clinics never have (2023–2026). RCA 24 Aug 2026: demand-based rostering, nurse allocation, scheduling.</a:t>
            </a:r>
          </a:p>
        </p:txBody>
      </p:sp>
      <p:sp>
        <p:nvSpPr>
          <p:cNvPr id="15" name="Rectangle 14"/>
          <p:cNvSpPr/>
          <p:nvPr/>
        </p:nvSpPr>
        <p:spPr>
          <a:xfrm>
            <a:off x="548640" y="539496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394960"/>
            <a:ext cx="10911535" cy="502920"/>
          </a:xfrm>
          <a:prstGeom prst="rect">
            <a:avLst/>
          </a:prstGeom>
          <a:noFill/>
        </p:spPr>
        <p:txBody>
          <a:bodyPr wrap="square"/>
          <a:lstStyle/>
          <a:p>
            <a:pPr algn="l"/>
            <a:r>
              <a:rPr sz="1100" b="0">
                <a:solidFill>
                  <a:srgbClr val="595959"/>
                </a:solidFill>
                <a:latin typeface="Arial"/>
              </a:rPr>
              <a:t>Why it matters: Where staffing follows demand (fitness centres) productivity meets the band; where every clinic must stay staffed all day regardless, productivity stays below. The solution is structural, not motivational.</a:t>
            </a:r>
          </a:p>
        </p:txBody>
      </p:sp>
      <p:sp>
        <p:nvSpPr>
          <p:cNvPr id="17" name="TextBox 16"/>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AjmanNursing_APMaster (Productivity sheet, Jan–Aug 2026); Productivity_Standard_Correction_2026.xlsx (11 Sep 2026); Trend Analysis v1.0.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PHS OVERVIEW</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Ajman Public Health Services and three Medical Fitness Centres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EHS designation: 'Ajman Public Health Services (PHJH)' — a public-health service, distinct from the PHCs' family-medicine clinics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11</a:t>
            </a:r>
          </a:p>
        </p:txBody>
      </p:sp>
      <p:sp>
        <p:nvSpPr>
          <p:cNvPr id="8" name="Rounded Rectangle 7"/>
          <p:cNvSpPr/>
          <p:nvPr/>
        </p:nvSpPr>
        <p:spPr>
          <a:xfrm>
            <a:off x="54864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5920"/>
            <a:ext cx="2651760" cy="500000"/>
          </a:xfrm>
          <a:prstGeom prst="rect">
            <a:avLst/>
          </a:prstGeom>
          <a:noFill/>
        </p:spPr>
        <p:txBody>
          <a:bodyPr wrap="square"/>
          <a:lstStyle/>
          <a:p>
            <a:pPr algn="ctr"/>
            <a:r>
              <a:rPr sz="4000" b="1">
                <a:solidFill>
                  <a:srgbClr val="325277"/>
                </a:solidFill>
                <a:latin typeface="Arial"/>
              </a:rPr>
              <a:t>11</a:t>
            </a:r>
          </a:p>
        </p:txBody>
      </p:sp>
      <p:sp>
        <p:nvSpPr>
          <p:cNvPr id="10" name="TextBox 9"/>
          <p:cNvSpPr txBox="1"/>
          <p:nvPr/>
        </p:nvSpPr>
        <p:spPr>
          <a:xfrm>
            <a:off x="628640" y="2195920"/>
            <a:ext cx="2491760" cy="400000"/>
          </a:xfrm>
          <a:prstGeom prst="rect">
            <a:avLst/>
          </a:prstGeom>
          <a:noFill/>
        </p:spPr>
        <p:txBody>
          <a:bodyPr wrap="square"/>
          <a:lstStyle/>
          <a:p>
            <a:pPr algn="ctr"/>
            <a:r>
              <a:rPr sz="1200" b="0">
                <a:solidFill>
                  <a:srgbClr val="595959"/>
                </a:solidFill>
                <a:latin typeface="Arial"/>
              </a:rPr>
              <a:t>nurses &amp; midwives (6 PHS + 5 in MFCs)</a:t>
            </a:r>
          </a:p>
        </p:txBody>
      </p:sp>
      <p:sp>
        <p:nvSpPr>
          <p:cNvPr id="11" name="TextBox 10"/>
          <p:cNvSpPr txBox="1"/>
          <p:nvPr/>
        </p:nvSpPr>
        <p:spPr>
          <a:xfrm>
            <a:off x="628640" y="2515920"/>
            <a:ext cx="2491760" cy="200000"/>
          </a:xfrm>
          <a:prstGeom prst="rect">
            <a:avLst/>
          </a:prstGeom>
          <a:noFill/>
        </p:spPr>
        <p:txBody>
          <a:bodyPr wrap="square"/>
          <a:lstStyle/>
          <a:p>
            <a:pPr algn="ctr"/>
            <a:r>
              <a:rPr sz="900" b="0">
                <a:solidFill>
                  <a:srgbClr val="A9B4C6"/>
                </a:solidFill>
                <a:latin typeface="Arial"/>
              </a:rPr>
              <a:t>Aug 2026</a:t>
            </a:r>
          </a:p>
        </p:txBody>
      </p:sp>
      <p:sp>
        <p:nvSpPr>
          <p:cNvPr id="12" name="Rounded Rectangle 11"/>
          <p:cNvSpPr/>
          <p:nvPr/>
        </p:nvSpPr>
        <p:spPr>
          <a:xfrm>
            <a:off x="341040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400" y="1695920"/>
            <a:ext cx="2651760" cy="500000"/>
          </a:xfrm>
          <a:prstGeom prst="rect">
            <a:avLst/>
          </a:prstGeom>
          <a:noFill/>
        </p:spPr>
        <p:txBody>
          <a:bodyPr wrap="square"/>
          <a:lstStyle/>
          <a:p>
            <a:pPr algn="ctr"/>
            <a:r>
              <a:rPr sz="4000" b="1">
                <a:solidFill>
                  <a:srgbClr val="325277"/>
                </a:solidFill>
                <a:latin typeface="Arial"/>
              </a:rPr>
              <a:t>3,137</a:t>
            </a:r>
          </a:p>
        </p:txBody>
      </p:sp>
      <p:sp>
        <p:nvSpPr>
          <p:cNvPr id="14" name="TextBox 13"/>
          <p:cNvSpPr txBox="1"/>
          <p:nvPr/>
        </p:nvSpPr>
        <p:spPr>
          <a:xfrm>
            <a:off x="3490400" y="2195920"/>
            <a:ext cx="2491760" cy="400000"/>
          </a:xfrm>
          <a:prstGeom prst="rect">
            <a:avLst/>
          </a:prstGeom>
          <a:noFill/>
        </p:spPr>
        <p:txBody>
          <a:bodyPr wrap="square"/>
          <a:lstStyle/>
          <a:p>
            <a:pPr algn="ctr"/>
            <a:r>
              <a:rPr sz="1200" b="0">
                <a:solidFill>
                  <a:srgbClr val="595959"/>
                </a:solidFill>
                <a:latin typeface="Arial"/>
              </a:rPr>
              <a:t>visits in Aug (599 PHS · 2,538 MFC)</a:t>
            </a:r>
          </a:p>
        </p:txBody>
      </p:sp>
      <p:sp>
        <p:nvSpPr>
          <p:cNvPr id="15" name="TextBox 14"/>
          <p:cNvSpPr txBox="1"/>
          <p:nvPr/>
        </p:nvSpPr>
        <p:spPr>
          <a:xfrm>
            <a:off x="3490400" y="2515920"/>
            <a:ext cx="2491760" cy="200000"/>
          </a:xfrm>
          <a:prstGeom prst="rect">
            <a:avLst/>
          </a:prstGeom>
          <a:noFill/>
        </p:spPr>
        <p:txBody>
          <a:bodyPr wrap="square"/>
          <a:lstStyle/>
          <a:p>
            <a:pPr algn="ctr"/>
            <a:r>
              <a:rPr sz="900" b="0">
                <a:solidFill>
                  <a:srgbClr val="A9B4C6"/>
                </a:solidFill>
                <a:latin typeface="Arial"/>
              </a:rPr>
              <a:t>August 2026</a:t>
            </a:r>
          </a:p>
        </p:txBody>
      </p:sp>
      <p:sp>
        <p:nvSpPr>
          <p:cNvPr id="16" name="Rounded Rectangle 15"/>
          <p:cNvSpPr/>
          <p:nvPr/>
        </p:nvSpPr>
        <p:spPr>
          <a:xfrm>
            <a:off x="548640" y="315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205920"/>
            <a:ext cx="2651760" cy="500000"/>
          </a:xfrm>
          <a:prstGeom prst="rect">
            <a:avLst/>
          </a:prstGeom>
          <a:noFill/>
        </p:spPr>
        <p:txBody>
          <a:bodyPr wrap="square"/>
          <a:lstStyle/>
          <a:p>
            <a:pPr algn="ctr"/>
            <a:r>
              <a:rPr sz="4000" b="1">
                <a:solidFill>
                  <a:srgbClr val="325277"/>
                </a:solidFill>
                <a:latin typeface="Arial"/>
              </a:rPr>
              <a:t>94.9%</a:t>
            </a:r>
          </a:p>
        </p:txBody>
      </p:sp>
      <p:sp>
        <p:nvSpPr>
          <p:cNvPr id="18" name="TextBox 17"/>
          <p:cNvSpPr txBox="1"/>
          <p:nvPr/>
        </p:nvSpPr>
        <p:spPr>
          <a:xfrm>
            <a:off x="628640" y="3705920"/>
            <a:ext cx="2491760" cy="400000"/>
          </a:xfrm>
          <a:prstGeom prst="rect">
            <a:avLst/>
          </a:prstGeom>
          <a:noFill/>
        </p:spPr>
        <p:txBody>
          <a:bodyPr wrap="square"/>
          <a:lstStyle/>
          <a:p>
            <a:pPr algn="ctr"/>
            <a:r>
              <a:rPr sz="1200" b="0">
                <a:solidFill>
                  <a:srgbClr val="595959"/>
                </a:solidFill>
                <a:latin typeface="Arial"/>
              </a:rPr>
              <a:t>Patient ID, Jan–Aug average (Jan: 69%)</a:t>
            </a:r>
          </a:p>
        </p:txBody>
      </p:sp>
      <p:sp>
        <p:nvSpPr>
          <p:cNvPr id="19" name="TextBox 18"/>
          <p:cNvSpPr txBox="1"/>
          <p:nvPr/>
        </p:nvSpPr>
        <p:spPr>
          <a:xfrm>
            <a:off x="628640" y="4025920"/>
            <a:ext cx="2491760" cy="200000"/>
          </a:xfrm>
          <a:prstGeom prst="rect">
            <a:avLst/>
          </a:prstGeom>
          <a:noFill/>
        </p:spPr>
        <p:txBody>
          <a:bodyPr wrap="square"/>
          <a:lstStyle/>
          <a:p>
            <a:pPr algn="ctr"/>
            <a:r>
              <a:rPr sz="900" b="0">
                <a:solidFill>
                  <a:srgbClr val="A9B4C6"/>
                </a:solidFill>
                <a:latin typeface="Arial"/>
              </a:rPr>
              <a:t>target 100%</a:t>
            </a:r>
          </a:p>
        </p:txBody>
      </p:sp>
      <p:sp>
        <p:nvSpPr>
          <p:cNvPr id="20" name="Rounded Rectangle 19"/>
          <p:cNvSpPr/>
          <p:nvPr/>
        </p:nvSpPr>
        <p:spPr>
          <a:xfrm>
            <a:off x="3410400" y="315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0400" y="3205920"/>
            <a:ext cx="2651760" cy="500000"/>
          </a:xfrm>
          <a:prstGeom prst="rect">
            <a:avLst/>
          </a:prstGeom>
          <a:noFill/>
        </p:spPr>
        <p:txBody>
          <a:bodyPr wrap="square"/>
          <a:lstStyle/>
          <a:p>
            <a:pPr algn="ctr"/>
            <a:r>
              <a:rPr sz="4000" b="1">
                <a:solidFill>
                  <a:srgbClr val="325277"/>
                </a:solidFill>
                <a:latin typeface="Arial"/>
              </a:rPr>
              <a:t>27.2%</a:t>
            </a:r>
          </a:p>
        </p:txBody>
      </p:sp>
      <p:sp>
        <p:nvSpPr>
          <p:cNvPr id="22" name="TextBox 21"/>
          <p:cNvSpPr txBox="1"/>
          <p:nvPr/>
        </p:nvSpPr>
        <p:spPr>
          <a:xfrm>
            <a:off x="3490400" y="3705920"/>
            <a:ext cx="2491760" cy="400000"/>
          </a:xfrm>
          <a:prstGeom prst="rect">
            <a:avLst/>
          </a:prstGeom>
          <a:noFill/>
        </p:spPr>
        <p:txBody>
          <a:bodyPr wrap="square"/>
          <a:lstStyle/>
          <a:p>
            <a:pPr algn="ctr"/>
            <a:r>
              <a:rPr sz="1200" b="0">
                <a:solidFill>
                  <a:srgbClr val="595959"/>
                </a:solidFill>
                <a:latin typeface="Arial"/>
              </a:rPr>
              <a:t>PHS clinic productivity, Jan–Aug average</a:t>
            </a:r>
          </a:p>
        </p:txBody>
      </p:sp>
      <p:sp>
        <p:nvSpPr>
          <p:cNvPr id="23" name="TextBox 22"/>
          <p:cNvSpPr txBox="1"/>
          <p:nvPr/>
        </p:nvSpPr>
        <p:spPr>
          <a:xfrm>
            <a:off x="3490400" y="4025920"/>
            <a:ext cx="2491760" cy="200000"/>
          </a:xfrm>
          <a:prstGeom prst="rect">
            <a:avLst/>
          </a:prstGeom>
          <a:noFill/>
        </p:spPr>
        <p:txBody>
          <a:bodyPr wrap="square"/>
          <a:lstStyle/>
          <a:p>
            <a:pPr algn="ctr"/>
            <a:r>
              <a:rPr sz="900" b="0">
                <a:solidFill>
                  <a:srgbClr val="A9B4C6"/>
                </a:solidFill>
                <a:latin typeface="Arial"/>
              </a:rPr>
              <a:t>MFCs: 98.6–120.8%</a:t>
            </a:r>
          </a:p>
        </p:txBody>
      </p:sp>
      <p:sp>
        <p:nvSpPr>
          <p:cNvPr id="24" name="Rounded Rectangle 23"/>
          <p:cNvSpPr/>
          <p:nvPr/>
        </p:nvSpPr>
        <p:spPr>
          <a:xfrm>
            <a:off x="6309360" y="1645920"/>
            <a:ext cx="5349240" cy="16002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1737360"/>
            <a:ext cx="5029200" cy="274320"/>
          </a:xfrm>
          <a:prstGeom prst="rect">
            <a:avLst/>
          </a:prstGeom>
          <a:noFill/>
        </p:spPr>
        <p:txBody>
          <a:bodyPr wrap="square"/>
          <a:lstStyle/>
          <a:p>
            <a:pPr algn="l"/>
            <a:r>
              <a:rPr sz="1300" b="1">
                <a:solidFill>
                  <a:srgbClr val="325277"/>
                </a:solidFill>
                <a:latin typeface="Arial"/>
              </a:rPr>
              <a:t>Leadership &amp; structure</a:t>
            </a:r>
          </a:p>
        </p:txBody>
      </p:sp>
      <p:sp>
        <p:nvSpPr>
          <p:cNvPr id="26" name="TextBox 25"/>
          <p:cNvSpPr txBox="1"/>
          <p:nvPr/>
        </p:nvSpPr>
        <p:spPr>
          <a:xfrm>
            <a:off x="6492240" y="2057400"/>
            <a:ext cx="5029200" cy="1097280"/>
          </a:xfrm>
          <a:prstGeom prst="rect">
            <a:avLst/>
          </a:prstGeom>
          <a:noFill/>
        </p:spPr>
        <p:txBody>
          <a:bodyPr wrap="square"/>
          <a:lstStyle/>
          <a:p>
            <a:pPr algn="l"/>
            <a:r>
              <a:rPr sz="1100" b="0">
                <a:solidFill>
                  <a:srgbClr val="595959"/>
                </a:solidFill>
                <a:latin typeface="Arial"/>
              </a:rPr>
              <a:t>Nurse Manager: Nadia Qasem (PHS &amp; School Health)
Acting Charge Nurse: Fouzia Abdul Rab
Four PHS clinics plus Medical Fitness Centres at Nuaimiya, Mushrif and PHS</a:t>
            </a:r>
          </a:p>
        </p:txBody>
      </p:sp>
      <p:sp>
        <p:nvSpPr>
          <p:cNvPr id="27" name="Rounded Rectangle 26"/>
          <p:cNvSpPr/>
          <p:nvPr/>
        </p:nvSpPr>
        <p:spPr>
          <a:xfrm>
            <a:off x="6309360" y="3383280"/>
            <a:ext cx="5349240" cy="11887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429000"/>
            <a:ext cx="5120640" cy="1097280"/>
          </a:xfrm>
          <a:prstGeom prst="rect">
            <a:avLst/>
          </a:prstGeom>
          <a:noFill/>
        </p:spPr>
        <p:txBody>
          <a:bodyPr wrap="square"/>
          <a:lstStyle/>
          <a:p>
            <a:pPr algn="l"/>
            <a:r>
              <a:rPr sz="1100" b="0">
                <a:solidFill>
                  <a:srgbClr val="595959"/>
                </a:solidFill>
                <a:latin typeface="Arial"/>
              </a:rPr>
              <a:t>On the label: EHS records use 'Public Health Services'. General Practice / Family Medicine is listed as a PHC service (Al Hamidiya service form), so PHS is presented here as public health, not family medicine.</a:t>
            </a:r>
          </a:p>
        </p:txBody>
      </p:sp>
      <p:sp>
        <p:nvSpPr>
          <p:cNvPr id="29" name="Rectangle 28"/>
          <p:cNvSpPr/>
          <p:nvPr/>
        </p:nvSpPr>
        <p:spPr>
          <a:xfrm>
            <a:off x="548640" y="484632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846320"/>
            <a:ext cx="10911535" cy="502920"/>
          </a:xfrm>
          <a:prstGeom prst="rect">
            <a:avLst/>
          </a:prstGeom>
          <a:noFill/>
        </p:spPr>
        <p:txBody>
          <a:bodyPr wrap="square"/>
          <a:lstStyle/>
          <a:p>
            <a:pPr algn="l"/>
            <a:r>
              <a:rPr sz="1100" b="0">
                <a:solidFill>
                  <a:srgbClr val="595959"/>
                </a:solidFill>
                <a:latin typeface="Arial"/>
              </a:rPr>
              <a:t>Why it matters: PHS runs the lowest clinic productivity in the network while its fitness centres run inside or above the band — the two need different staffing answers.</a:t>
            </a:r>
          </a:p>
        </p:txBody>
      </p:sp>
      <p:sp>
        <p:nvSpPr>
          <p:cNvPr id="31" name="TextBox 30"/>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Nursing Profile Aug 2026 (Facility Name; NQS; productivity sheet); AjmanNursing_APMaster (Productivity; Patient ID); PHS_04 RCA (Sep 2026); Al Hamidiya New/Expansion Service form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PHS &amp; MEDICAL FITNESS CENTRE SERVICES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Scope of service — public health, travel, communicable disease and fitness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As stated by the EHS Nursing Department and in the PHS service documents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12</a:t>
            </a:r>
          </a:p>
        </p:txBody>
      </p:sp>
      <p:sp>
        <p:nvSpPr>
          <p:cNvPr id="8" name="Rounded Rectangle 7"/>
          <p:cNvSpPr/>
          <p:nvPr/>
        </p:nvSpPr>
        <p:spPr>
          <a:xfrm>
            <a:off x="548640" y="1645920"/>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640" y="1725920"/>
            <a:ext cx="3366160" cy="300000"/>
          </a:xfrm>
          <a:prstGeom prst="rect">
            <a:avLst/>
          </a:prstGeom>
          <a:noFill/>
        </p:spPr>
        <p:txBody>
          <a:bodyPr wrap="square"/>
          <a:lstStyle/>
          <a:p>
            <a:pPr algn="l"/>
            <a:r>
              <a:rPr sz="1300" b="1">
                <a:solidFill>
                  <a:srgbClr val="325277"/>
                </a:solidFill>
                <a:latin typeface="Arial"/>
              </a:rPr>
              <a:t>Medical fitness services</a:t>
            </a:r>
          </a:p>
        </p:txBody>
      </p:sp>
      <p:sp>
        <p:nvSpPr>
          <p:cNvPr id="10" name="TextBox 9"/>
          <p:cNvSpPr txBox="1"/>
          <p:nvPr/>
        </p:nvSpPr>
        <p:spPr>
          <a:xfrm>
            <a:off x="648640" y="2025920"/>
            <a:ext cx="3366160" cy="600000"/>
          </a:xfrm>
          <a:prstGeom prst="rect">
            <a:avLst/>
          </a:prstGeom>
          <a:noFill/>
        </p:spPr>
        <p:txBody>
          <a:bodyPr wrap="square"/>
          <a:lstStyle/>
          <a:p>
            <a:pPr algn="l"/>
            <a:r>
              <a:rPr sz="1100" b="0">
                <a:solidFill>
                  <a:srgbClr val="595959"/>
                </a:solidFill>
                <a:latin typeface="Arial"/>
              </a:rPr>
              <a:t>Medical fitness services at 3 centres — Nuaimiya, Mushrif, PHS; 2,538 visits in August 2026</a:t>
            </a:r>
          </a:p>
        </p:txBody>
      </p:sp>
      <p:sp>
        <p:nvSpPr>
          <p:cNvPr id="11" name="Rounded Rectangle 10"/>
          <p:cNvSpPr/>
          <p:nvPr/>
        </p:nvSpPr>
        <p:spPr>
          <a:xfrm>
            <a:off x="648640" y="2953552"/>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640" y="2953552"/>
            <a:ext cx="1400000" cy="220000"/>
          </a:xfrm>
          <a:prstGeom prst="rect">
            <a:avLst/>
          </a:prstGeom>
          <a:noFill/>
        </p:spPr>
        <p:txBody>
          <a:bodyPr wrap="square"/>
          <a:lstStyle/>
          <a:p>
            <a:pPr algn="ctr"/>
            <a:r>
              <a:rPr sz="900" b="0">
                <a:solidFill>
                  <a:srgbClr val="FFFFFF"/>
                </a:solidFill>
                <a:latin typeface="Arial"/>
              </a:rPr>
              <a:t>EHS email · profile</a:t>
            </a:r>
          </a:p>
        </p:txBody>
      </p:sp>
      <p:sp>
        <p:nvSpPr>
          <p:cNvPr id="13" name="Rounded Rectangle 12"/>
          <p:cNvSpPr/>
          <p:nvPr/>
        </p:nvSpPr>
        <p:spPr>
          <a:xfrm>
            <a:off x="3664800" y="1725920"/>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4800" y="1725920"/>
            <a:ext cx="350000" cy="300000"/>
          </a:xfrm>
          <a:prstGeom prst="rect">
            <a:avLst/>
          </a:prstGeom>
          <a:noFill/>
        </p:spPr>
        <p:txBody>
          <a:bodyPr wrap="square"/>
          <a:lstStyle/>
          <a:p>
            <a:pPr algn="ctr"/>
            <a:r>
              <a:rPr sz="1400" b="1">
                <a:solidFill>
                  <a:srgbClr val="FFFFFF"/>
                </a:solidFill>
                <a:latin typeface="Arial"/>
              </a:rPr>
              <a:t>1</a:t>
            </a:r>
          </a:p>
        </p:txBody>
      </p:sp>
      <p:sp>
        <p:nvSpPr>
          <p:cNvPr id="15" name="Rounded Rectangle 14"/>
          <p:cNvSpPr/>
          <p:nvPr/>
        </p:nvSpPr>
        <p:spPr>
          <a:xfrm>
            <a:off x="4294800" y="1645920"/>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00" y="1725920"/>
            <a:ext cx="3366160" cy="300000"/>
          </a:xfrm>
          <a:prstGeom prst="rect">
            <a:avLst/>
          </a:prstGeom>
          <a:noFill/>
        </p:spPr>
        <p:txBody>
          <a:bodyPr wrap="square"/>
          <a:lstStyle/>
          <a:p>
            <a:pPr algn="l"/>
            <a:r>
              <a:rPr sz="1300" b="1">
                <a:solidFill>
                  <a:srgbClr val="325277"/>
                </a:solidFill>
                <a:latin typeface="Arial"/>
              </a:rPr>
              <a:t>Travel clinic</a:t>
            </a:r>
          </a:p>
        </p:txBody>
      </p:sp>
      <p:sp>
        <p:nvSpPr>
          <p:cNvPr id="17" name="TextBox 16"/>
          <p:cNvSpPr txBox="1"/>
          <p:nvPr/>
        </p:nvSpPr>
        <p:spPr>
          <a:xfrm>
            <a:off x="4394800" y="2025920"/>
            <a:ext cx="3366160" cy="600000"/>
          </a:xfrm>
          <a:prstGeom prst="rect">
            <a:avLst/>
          </a:prstGeom>
          <a:noFill/>
        </p:spPr>
        <p:txBody>
          <a:bodyPr wrap="square"/>
          <a:lstStyle/>
          <a:p>
            <a:pPr algn="l"/>
            <a:r>
              <a:rPr sz="1100" b="0">
                <a:solidFill>
                  <a:srgbClr val="595959"/>
                </a:solidFill>
                <a:latin typeface="Arial"/>
              </a:rPr>
              <a:t>Travel clinic services delivered at the PHS centre</a:t>
            </a:r>
          </a:p>
        </p:txBody>
      </p:sp>
      <p:sp>
        <p:nvSpPr>
          <p:cNvPr id="18" name="Rounded Rectangle 17"/>
          <p:cNvSpPr/>
          <p:nvPr/>
        </p:nvSpPr>
        <p:spPr>
          <a:xfrm>
            <a:off x="4394800" y="2953552"/>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4800" y="2953552"/>
            <a:ext cx="1400000" cy="220000"/>
          </a:xfrm>
          <a:prstGeom prst="rect">
            <a:avLst/>
          </a:prstGeom>
          <a:noFill/>
        </p:spPr>
        <p:txBody>
          <a:bodyPr wrap="square"/>
          <a:lstStyle/>
          <a:p>
            <a:pPr algn="ctr"/>
            <a:r>
              <a:rPr sz="900" b="0">
                <a:solidFill>
                  <a:srgbClr val="FFFFFF"/>
                </a:solidFill>
                <a:latin typeface="Arial"/>
              </a:rPr>
              <a:t>EHS email 2024</a:t>
            </a:r>
          </a:p>
        </p:txBody>
      </p:sp>
      <p:sp>
        <p:nvSpPr>
          <p:cNvPr id="20" name="Rounded Rectangle 19"/>
          <p:cNvSpPr/>
          <p:nvPr/>
        </p:nvSpPr>
        <p:spPr>
          <a:xfrm>
            <a:off x="7410960" y="1725920"/>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10960" y="1725920"/>
            <a:ext cx="350000" cy="300000"/>
          </a:xfrm>
          <a:prstGeom prst="rect">
            <a:avLst/>
          </a:prstGeom>
          <a:noFill/>
        </p:spPr>
        <p:txBody>
          <a:bodyPr wrap="square"/>
          <a:lstStyle/>
          <a:p>
            <a:pPr algn="ctr"/>
            <a:r>
              <a:rPr sz="1400" b="1">
                <a:solidFill>
                  <a:srgbClr val="FFFFFF"/>
                </a:solidFill>
                <a:latin typeface="Arial"/>
              </a:rPr>
              <a:t>2</a:t>
            </a:r>
          </a:p>
        </p:txBody>
      </p:sp>
      <p:sp>
        <p:nvSpPr>
          <p:cNvPr id="22" name="Rounded Rectangle 21"/>
          <p:cNvSpPr/>
          <p:nvPr/>
        </p:nvSpPr>
        <p:spPr>
          <a:xfrm>
            <a:off x="8040960" y="1645920"/>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40960" y="1725920"/>
            <a:ext cx="3366160" cy="300000"/>
          </a:xfrm>
          <a:prstGeom prst="rect">
            <a:avLst/>
          </a:prstGeom>
          <a:noFill/>
        </p:spPr>
        <p:txBody>
          <a:bodyPr wrap="square"/>
          <a:lstStyle/>
          <a:p>
            <a:pPr algn="l"/>
            <a:r>
              <a:rPr sz="1300" b="1">
                <a:solidFill>
                  <a:srgbClr val="325277"/>
                </a:solidFill>
                <a:latin typeface="Arial"/>
              </a:rPr>
              <a:t>TB &amp; communicable diseases</a:t>
            </a:r>
          </a:p>
        </p:txBody>
      </p:sp>
      <p:sp>
        <p:nvSpPr>
          <p:cNvPr id="24" name="TextBox 23"/>
          <p:cNvSpPr txBox="1"/>
          <p:nvPr/>
        </p:nvSpPr>
        <p:spPr>
          <a:xfrm>
            <a:off x="8140960" y="2025920"/>
            <a:ext cx="3366160" cy="600000"/>
          </a:xfrm>
          <a:prstGeom prst="rect">
            <a:avLst/>
          </a:prstGeom>
          <a:noFill/>
        </p:spPr>
        <p:txBody>
          <a:bodyPr wrap="square"/>
          <a:lstStyle/>
          <a:p>
            <a:pPr algn="l"/>
            <a:r>
              <a:rPr sz="1100" b="0">
                <a:solidFill>
                  <a:srgbClr val="595959"/>
                </a:solidFill>
                <a:latin typeface="Arial"/>
              </a:rPr>
              <a:t>TB and other communicable-disease services</a:t>
            </a:r>
          </a:p>
        </p:txBody>
      </p:sp>
      <p:sp>
        <p:nvSpPr>
          <p:cNvPr id="25" name="Rounded Rectangle 24"/>
          <p:cNvSpPr/>
          <p:nvPr/>
        </p:nvSpPr>
        <p:spPr>
          <a:xfrm>
            <a:off x="8140960" y="2953552"/>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40960" y="2953552"/>
            <a:ext cx="1400000" cy="220000"/>
          </a:xfrm>
          <a:prstGeom prst="rect">
            <a:avLst/>
          </a:prstGeom>
          <a:noFill/>
        </p:spPr>
        <p:txBody>
          <a:bodyPr wrap="square"/>
          <a:lstStyle/>
          <a:p>
            <a:pPr algn="ctr"/>
            <a:r>
              <a:rPr sz="900" b="0">
                <a:solidFill>
                  <a:srgbClr val="FFFFFF"/>
                </a:solidFill>
                <a:latin typeface="Arial"/>
              </a:rPr>
              <a:t>EHS email 2024</a:t>
            </a:r>
          </a:p>
        </p:txBody>
      </p:sp>
      <p:sp>
        <p:nvSpPr>
          <p:cNvPr id="27" name="Rounded Rectangle 26"/>
          <p:cNvSpPr/>
          <p:nvPr/>
        </p:nvSpPr>
        <p:spPr>
          <a:xfrm>
            <a:off x="11157120" y="1725920"/>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7120" y="1725920"/>
            <a:ext cx="350000" cy="300000"/>
          </a:xfrm>
          <a:prstGeom prst="rect">
            <a:avLst/>
          </a:prstGeom>
          <a:noFill/>
        </p:spPr>
        <p:txBody>
          <a:bodyPr wrap="square"/>
          <a:lstStyle/>
          <a:p>
            <a:pPr algn="ctr"/>
            <a:r>
              <a:rPr sz="1400" b="1">
                <a:solidFill>
                  <a:srgbClr val="FFFFFF"/>
                </a:solidFill>
                <a:latin typeface="Arial"/>
              </a:rPr>
              <a:t>3</a:t>
            </a:r>
          </a:p>
        </p:txBody>
      </p:sp>
      <p:sp>
        <p:nvSpPr>
          <p:cNvPr id="29" name="Rounded Rectangle 28"/>
          <p:cNvSpPr/>
          <p:nvPr/>
        </p:nvSpPr>
        <p:spPr>
          <a:xfrm>
            <a:off x="548640" y="3403552"/>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640" y="3483552"/>
            <a:ext cx="3366160" cy="300000"/>
          </a:xfrm>
          <a:prstGeom prst="rect">
            <a:avLst/>
          </a:prstGeom>
          <a:noFill/>
        </p:spPr>
        <p:txBody>
          <a:bodyPr wrap="square"/>
          <a:lstStyle/>
          <a:p>
            <a:pPr algn="l"/>
            <a:r>
              <a:rPr sz="1300" b="1">
                <a:solidFill>
                  <a:srgbClr val="325277"/>
                </a:solidFill>
                <a:latin typeface="Arial"/>
              </a:rPr>
              <a:t>Occupational health screening</a:t>
            </a:r>
          </a:p>
        </p:txBody>
      </p:sp>
      <p:sp>
        <p:nvSpPr>
          <p:cNvPr id="31" name="TextBox 30"/>
          <p:cNvSpPr txBox="1"/>
          <p:nvPr/>
        </p:nvSpPr>
        <p:spPr>
          <a:xfrm>
            <a:off x="648640" y="3783552"/>
            <a:ext cx="3366160" cy="600000"/>
          </a:xfrm>
          <a:prstGeom prst="rect">
            <a:avLst/>
          </a:prstGeom>
          <a:noFill/>
        </p:spPr>
        <p:txBody>
          <a:bodyPr wrap="square"/>
          <a:lstStyle/>
          <a:p>
            <a:pPr algn="l"/>
            <a:r>
              <a:rPr sz="1100" b="0">
                <a:solidFill>
                  <a:srgbClr val="595959"/>
                </a:solidFill>
                <a:latin typeface="Arial"/>
              </a:rPr>
              <a:t>Over-60s, university students, medical professionals, certificates: nurse assessment → doctor → lab or vaccination</a:t>
            </a:r>
          </a:p>
        </p:txBody>
      </p:sp>
      <p:sp>
        <p:nvSpPr>
          <p:cNvPr id="32" name="Rounded Rectangle 31"/>
          <p:cNvSpPr/>
          <p:nvPr/>
        </p:nvSpPr>
        <p:spPr>
          <a:xfrm>
            <a:off x="648640" y="4711184"/>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8640" y="4711184"/>
            <a:ext cx="1400000" cy="220000"/>
          </a:xfrm>
          <a:prstGeom prst="rect">
            <a:avLst/>
          </a:prstGeom>
          <a:noFill/>
        </p:spPr>
        <p:txBody>
          <a:bodyPr wrap="square"/>
          <a:lstStyle/>
          <a:p>
            <a:pPr algn="ctr"/>
            <a:r>
              <a:rPr sz="900" b="0">
                <a:solidFill>
                  <a:srgbClr val="FFFFFF"/>
                </a:solidFill>
                <a:latin typeface="Arial"/>
              </a:rPr>
              <a:t>Service form 2025</a:t>
            </a:r>
          </a:p>
        </p:txBody>
      </p:sp>
      <p:sp>
        <p:nvSpPr>
          <p:cNvPr id="34" name="Rounded Rectangle 33"/>
          <p:cNvSpPr/>
          <p:nvPr/>
        </p:nvSpPr>
        <p:spPr>
          <a:xfrm>
            <a:off x="3664800" y="3483552"/>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64800" y="3483552"/>
            <a:ext cx="350000" cy="300000"/>
          </a:xfrm>
          <a:prstGeom prst="rect">
            <a:avLst/>
          </a:prstGeom>
          <a:noFill/>
        </p:spPr>
        <p:txBody>
          <a:bodyPr wrap="square"/>
          <a:lstStyle/>
          <a:p>
            <a:pPr algn="ctr"/>
            <a:r>
              <a:rPr sz="1400" b="1">
                <a:solidFill>
                  <a:srgbClr val="FFFFFF"/>
                </a:solidFill>
                <a:latin typeface="Arial"/>
              </a:rPr>
              <a:t>4</a:t>
            </a:r>
          </a:p>
        </p:txBody>
      </p:sp>
      <p:sp>
        <p:nvSpPr>
          <p:cNvPr id="36" name="Rounded Rectangle 35"/>
          <p:cNvSpPr/>
          <p:nvPr/>
        </p:nvSpPr>
        <p:spPr>
          <a:xfrm>
            <a:off x="4294800" y="3403552"/>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4800" y="3483552"/>
            <a:ext cx="3366160" cy="300000"/>
          </a:xfrm>
          <a:prstGeom prst="rect">
            <a:avLst/>
          </a:prstGeom>
          <a:noFill/>
        </p:spPr>
        <p:txBody>
          <a:bodyPr wrap="square"/>
          <a:lstStyle/>
          <a:p>
            <a:pPr algn="l"/>
            <a:r>
              <a:rPr sz="1300" b="1">
                <a:solidFill>
                  <a:srgbClr val="325277"/>
                </a:solidFill>
                <a:latin typeface="Arial"/>
              </a:rPr>
              <a:t>Vaccination campaigns</a:t>
            </a:r>
          </a:p>
        </p:txBody>
      </p:sp>
      <p:sp>
        <p:nvSpPr>
          <p:cNvPr id="38" name="TextBox 37"/>
          <p:cNvSpPr txBox="1"/>
          <p:nvPr/>
        </p:nvSpPr>
        <p:spPr>
          <a:xfrm>
            <a:off x="4394800" y="3783552"/>
            <a:ext cx="3366160" cy="600000"/>
          </a:xfrm>
          <a:prstGeom prst="rect">
            <a:avLst/>
          </a:prstGeom>
          <a:noFill/>
        </p:spPr>
        <p:txBody>
          <a:bodyPr wrap="square"/>
          <a:lstStyle/>
          <a:p>
            <a:pPr algn="l"/>
            <a:r>
              <a:rPr sz="1100" b="0">
                <a:solidFill>
                  <a:srgbClr val="595959"/>
                </a:solidFill>
                <a:latin typeface="Arial"/>
              </a:rPr>
              <a:t>PHS team runs campaigns, e.g. influenza vaccination in labour camps</a:t>
            </a:r>
          </a:p>
        </p:txBody>
      </p:sp>
      <p:sp>
        <p:nvSpPr>
          <p:cNvPr id="39" name="Rounded Rectangle 38"/>
          <p:cNvSpPr/>
          <p:nvPr/>
        </p:nvSpPr>
        <p:spPr>
          <a:xfrm>
            <a:off x="4394800" y="4711184"/>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94800" y="4711184"/>
            <a:ext cx="1400000" cy="220000"/>
          </a:xfrm>
          <a:prstGeom prst="rect">
            <a:avLst/>
          </a:prstGeom>
          <a:noFill/>
        </p:spPr>
        <p:txBody>
          <a:bodyPr wrap="square"/>
          <a:lstStyle/>
          <a:p>
            <a:pPr algn="ctr"/>
            <a:r>
              <a:rPr sz="900" b="0">
                <a:solidFill>
                  <a:srgbClr val="FFFFFF"/>
                </a:solidFill>
                <a:latin typeface="Arial"/>
              </a:rPr>
              <a:t>EHS email 2024</a:t>
            </a:r>
          </a:p>
        </p:txBody>
      </p:sp>
      <p:sp>
        <p:nvSpPr>
          <p:cNvPr id="41" name="Rounded Rectangle 40"/>
          <p:cNvSpPr/>
          <p:nvPr/>
        </p:nvSpPr>
        <p:spPr>
          <a:xfrm>
            <a:off x="7410960" y="3483552"/>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10960" y="3483552"/>
            <a:ext cx="350000" cy="300000"/>
          </a:xfrm>
          <a:prstGeom prst="rect">
            <a:avLst/>
          </a:prstGeom>
          <a:noFill/>
        </p:spPr>
        <p:txBody>
          <a:bodyPr wrap="square"/>
          <a:lstStyle/>
          <a:p>
            <a:pPr algn="ctr"/>
            <a:r>
              <a:rPr sz="1400" b="1">
                <a:solidFill>
                  <a:srgbClr val="FFFFFF"/>
                </a:solidFill>
                <a:latin typeface="Arial"/>
              </a:rPr>
              <a:t>5</a:t>
            </a:r>
          </a:p>
        </p:txBody>
      </p:sp>
      <p:sp>
        <p:nvSpPr>
          <p:cNvPr id="43" name="Rounded Rectangle 42"/>
          <p:cNvSpPr/>
          <p:nvPr/>
        </p:nvSpPr>
        <p:spPr>
          <a:xfrm>
            <a:off x="8040960" y="3403552"/>
            <a:ext cx="3566160" cy="1627632"/>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40960" y="3483552"/>
            <a:ext cx="3366160" cy="300000"/>
          </a:xfrm>
          <a:prstGeom prst="rect">
            <a:avLst/>
          </a:prstGeom>
          <a:noFill/>
        </p:spPr>
        <p:txBody>
          <a:bodyPr wrap="square"/>
          <a:lstStyle/>
          <a:p>
            <a:pPr algn="l"/>
            <a:r>
              <a:rPr sz="1300" b="1">
                <a:solidFill>
                  <a:srgbClr val="325277"/>
                </a:solidFill>
                <a:latin typeface="Arial"/>
              </a:rPr>
              <a:t>Public-health activity</a:t>
            </a:r>
          </a:p>
        </p:txBody>
      </p:sp>
      <p:sp>
        <p:nvSpPr>
          <p:cNvPr id="45" name="TextBox 44"/>
          <p:cNvSpPr txBox="1"/>
          <p:nvPr/>
        </p:nvSpPr>
        <p:spPr>
          <a:xfrm>
            <a:off x="8140960" y="3783552"/>
            <a:ext cx="3366160" cy="600000"/>
          </a:xfrm>
          <a:prstGeom prst="rect">
            <a:avLst/>
          </a:prstGeom>
          <a:noFill/>
        </p:spPr>
        <p:txBody>
          <a:bodyPr wrap="square"/>
          <a:lstStyle/>
          <a:p>
            <a:pPr algn="l"/>
            <a:r>
              <a:rPr sz="1100" b="0">
                <a:solidFill>
                  <a:srgbClr val="595959"/>
                </a:solidFill>
                <a:latin typeface="Arial"/>
              </a:rPr>
              <a:t>Outreach, surveillance, health education; mental-health (SAD) screening documented in Wareed</a:t>
            </a:r>
          </a:p>
        </p:txBody>
      </p:sp>
      <p:sp>
        <p:nvSpPr>
          <p:cNvPr id="46" name="Rounded Rectangle 45"/>
          <p:cNvSpPr/>
          <p:nvPr/>
        </p:nvSpPr>
        <p:spPr>
          <a:xfrm>
            <a:off x="8140960" y="4711184"/>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40960" y="4711184"/>
            <a:ext cx="1400000" cy="220000"/>
          </a:xfrm>
          <a:prstGeom prst="rect">
            <a:avLst/>
          </a:prstGeom>
          <a:noFill/>
        </p:spPr>
        <p:txBody>
          <a:bodyPr wrap="square"/>
          <a:lstStyle/>
          <a:p>
            <a:pPr algn="ctr"/>
            <a:r>
              <a:rPr sz="900" b="0">
                <a:solidFill>
                  <a:srgbClr val="FFFFFF"/>
                </a:solidFill>
                <a:latin typeface="Arial"/>
              </a:rPr>
              <a:t>PHS RCA · MOM 2026</a:t>
            </a:r>
          </a:p>
        </p:txBody>
      </p:sp>
      <p:sp>
        <p:nvSpPr>
          <p:cNvPr id="48" name="Rounded Rectangle 47"/>
          <p:cNvSpPr/>
          <p:nvPr/>
        </p:nvSpPr>
        <p:spPr>
          <a:xfrm>
            <a:off x="11157120" y="3483552"/>
            <a:ext cx="350000" cy="30000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157120" y="3483552"/>
            <a:ext cx="350000" cy="300000"/>
          </a:xfrm>
          <a:prstGeom prst="rect">
            <a:avLst/>
          </a:prstGeom>
          <a:noFill/>
        </p:spPr>
        <p:txBody>
          <a:bodyPr wrap="square"/>
          <a:lstStyle/>
          <a:p>
            <a:pPr algn="ctr"/>
            <a:r>
              <a:rPr sz="1400" b="1">
                <a:solidFill>
                  <a:srgbClr val="FFFFFF"/>
                </a:solidFill>
                <a:latin typeface="Arial"/>
              </a:rPr>
              <a:t>6</a:t>
            </a:r>
          </a:p>
        </p:txBody>
      </p:sp>
      <p:sp>
        <p:nvSpPr>
          <p:cNvPr id="50" name="Rectangle 49"/>
          <p:cNvSpPr/>
          <p:nvPr/>
        </p:nvSpPr>
        <p:spPr>
          <a:xfrm>
            <a:off x="548640" y="53492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3232" y="5349240"/>
            <a:ext cx="10911535" cy="502920"/>
          </a:xfrm>
          <a:prstGeom prst="rect">
            <a:avLst/>
          </a:prstGeom>
          <a:noFill/>
        </p:spPr>
        <p:txBody>
          <a:bodyPr wrap="square"/>
          <a:lstStyle/>
          <a:p>
            <a:pPr algn="l"/>
            <a:r>
              <a:rPr sz="1100" b="0">
                <a:solidFill>
                  <a:srgbClr val="595959"/>
                </a:solidFill>
                <a:latin typeface="Arial"/>
              </a:rPr>
              <a:t>Why it matters: Much PHS work (outreach, campaigns, surveillance) is not counted in the productivity numerator — its 27.2% average partly reflects how activity is measured.</a:t>
            </a:r>
          </a:p>
        </p:txBody>
      </p:sp>
      <p:sp>
        <p:nvSpPr>
          <p:cNvPr id="52" name="TextBox 5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EHS Nursing Department email 'occupational health clinic' (7 Nov 2024); New/Expansion Service 2025 — Ajman PHS; PHS_04_Productivity RCA (Sep 2026); PHS MOM 16 May 2026; Nursing Profile Aug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PHS WORKFORCE &amp; OPERATIONS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Small team, four units, very different workloads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Productivity January–August 2026 average · staffing and visits 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13</a:t>
            </a:r>
          </a:p>
        </p:txBody>
      </p:sp>
      <p:graphicFrame>
        <p:nvGraphicFramePr>
          <p:cNvPr id="8" name="Table 7"/>
          <p:cNvGraphicFramePr>
            <a:graphicFrameLocks noGrp="1"/>
          </p:cNvGraphicFramePr>
          <p:nvPr/>
        </p:nvGraphicFramePr>
        <p:xfrm>
          <a:off x="548640" y="1645920"/>
          <a:ext cx="6400800" cy="1828800"/>
        </p:xfrm>
        <a:graphic>
          <a:graphicData uri="http://schemas.openxmlformats.org/drawingml/2006/table">
            <a:tbl>
              <a:tblPr firstRow="1" bandRow="1">
                <a:tableStyleId>{5C22544A-7EE6-4342-B048-85BDC9FD1C3A}</a:tableStyleId>
              </a:tblPr>
              <a:tblGrid>
                <a:gridCol w="1280160"/>
                <a:gridCol w="1280160"/>
                <a:gridCol w="1280160"/>
                <a:gridCol w="1280160"/>
                <a:gridCol w="1280160"/>
              </a:tblGrid>
              <a:tr h="365760">
                <a:tc>
                  <a:txBody>
                    <a:bodyPr/>
                    <a:lstStyle/>
                    <a:p>
                      <a:pPr>
                        <a:defRPr sz="1100" b="1">
                          <a:solidFill>
                            <a:srgbClr val="FFFFFF"/>
                          </a:solidFill>
                          <a:latin typeface="Arial"/>
                        </a:defRPr>
                      </a:pPr>
                      <a:r>
                        <a:t>Unit</a:t>
                      </a:r>
                    </a:p>
                  </a:txBody>
                  <a:tcPr>
                    <a:solidFill>
                      <a:srgbClr val="325277"/>
                    </a:solidFill>
                  </a:tcPr>
                </a:tc>
                <a:tc>
                  <a:txBody>
                    <a:bodyPr/>
                    <a:lstStyle/>
                    <a:p>
                      <a:pPr>
                        <a:defRPr sz="1100" b="1">
                          <a:solidFill>
                            <a:srgbClr val="FFFFFF"/>
                          </a:solidFill>
                          <a:latin typeface="Arial"/>
                        </a:defRPr>
                      </a:pPr>
                      <a:r>
                        <a:t>Nurses</a:t>
                      </a:r>
                    </a:p>
                  </a:txBody>
                  <a:tcPr>
                    <a:solidFill>
                      <a:srgbClr val="325277"/>
                    </a:solidFill>
                  </a:tcPr>
                </a:tc>
                <a:tc>
                  <a:txBody>
                    <a:bodyPr/>
                    <a:lstStyle/>
                    <a:p>
                      <a:pPr>
                        <a:defRPr sz="1100" b="1">
                          <a:solidFill>
                            <a:srgbClr val="FFFFFF"/>
                          </a:solidFill>
                          <a:latin typeface="Arial"/>
                        </a:defRPr>
                      </a:pPr>
                      <a:r>
                        <a:t>Visits (Aug)</a:t>
                      </a:r>
                    </a:p>
                  </a:txBody>
                  <a:tcPr>
                    <a:solidFill>
                      <a:srgbClr val="325277"/>
                    </a:solidFill>
                  </a:tcPr>
                </a:tc>
                <a:tc>
                  <a:txBody>
                    <a:bodyPr/>
                    <a:lstStyle/>
                    <a:p>
                      <a:pPr>
                        <a:defRPr sz="1100" b="1">
                          <a:solidFill>
                            <a:srgbClr val="FFFFFF"/>
                          </a:solidFill>
                          <a:latin typeface="Arial"/>
                        </a:defRPr>
                      </a:pPr>
                      <a:r>
                        <a:t>Productivity Jan–Aug avg</a:t>
                      </a:r>
                    </a:p>
                  </a:txBody>
                  <a:tcPr>
                    <a:solidFill>
                      <a:srgbClr val="325277"/>
                    </a:solidFill>
                  </a:tcPr>
                </a:tc>
                <a:tc>
                  <a:txBody>
                    <a:bodyPr/>
                    <a:lstStyle/>
                    <a:p>
                      <a:pPr>
                        <a:defRPr sz="1100" b="1">
                          <a:solidFill>
                            <a:srgbClr val="FFFFFF"/>
                          </a:solidFill>
                          <a:latin typeface="Arial"/>
                        </a:defRPr>
                      </a:pPr>
                      <a:r>
                        <a:t>Range Jan–Aug</a:t>
                      </a:r>
                    </a:p>
                  </a:txBody>
                  <a:tcPr>
                    <a:solidFill>
                      <a:srgbClr val="325277"/>
                    </a:solidFill>
                  </a:tcPr>
                </a:tc>
              </a:tr>
              <a:tr h="365760">
                <a:tc>
                  <a:txBody>
                    <a:bodyPr/>
                    <a:lstStyle/>
                    <a:p>
                      <a:pPr>
                        <a:defRPr sz="1100">
                          <a:solidFill>
                            <a:srgbClr val="595959"/>
                          </a:solidFill>
                          <a:latin typeface="Arial"/>
                        </a:defRPr>
                      </a:pPr>
                      <a:r>
                        <a:t>Ajman PHS clinics</a:t>
                      </a:r>
                    </a:p>
                  </a:txBody>
                  <a:tcPr>
                    <a:solidFill>
                      <a:srgbClr val="FFFFFF"/>
                    </a:solidFill>
                  </a:tcPr>
                </a:tc>
                <a:tc>
                  <a:txBody>
                    <a:bodyPr/>
                    <a:lstStyle/>
                    <a:p>
                      <a:pPr algn="r">
                        <a:defRPr sz="1100">
                          <a:solidFill>
                            <a:srgbClr val="595959"/>
                          </a:solidFill>
                          <a:latin typeface="Arial"/>
                        </a:defRPr>
                      </a:pPr>
                      <a:r>
                        <a:t>6</a:t>
                      </a:r>
                    </a:p>
                  </a:txBody>
                  <a:tcPr>
                    <a:solidFill>
                      <a:srgbClr val="FFFFFF"/>
                    </a:solidFill>
                  </a:tcPr>
                </a:tc>
                <a:tc>
                  <a:txBody>
                    <a:bodyPr/>
                    <a:lstStyle/>
                    <a:p>
                      <a:pPr algn="r">
                        <a:defRPr sz="1100">
                          <a:solidFill>
                            <a:srgbClr val="595959"/>
                          </a:solidFill>
                          <a:latin typeface="Arial"/>
                        </a:defRPr>
                      </a:pPr>
                      <a:r>
                        <a:t>599</a:t>
                      </a:r>
                    </a:p>
                  </a:txBody>
                  <a:tcPr>
                    <a:solidFill>
                      <a:srgbClr val="FFFFFF"/>
                    </a:solidFill>
                  </a:tcPr>
                </a:tc>
                <a:tc>
                  <a:txBody>
                    <a:bodyPr/>
                    <a:lstStyle/>
                    <a:p>
                      <a:pPr algn="r">
                        <a:defRPr sz="1100">
                          <a:solidFill>
                            <a:srgbClr val="595959"/>
                          </a:solidFill>
                          <a:latin typeface="Arial"/>
                        </a:defRPr>
                      </a:pPr>
                      <a:r>
                        <a:t>27.2%</a:t>
                      </a:r>
                    </a:p>
                  </a:txBody>
                  <a:tcPr>
                    <a:solidFill>
                      <a:srgbClr val="FFFFFF"/>
                    </a:solidFill>
                  </a:tcPr>
                </a:tc>
                <a:tc>
                  <a:txBody>
                    <a:bodyPr/>
                    <a:lstStyle/>
                    <a:p>
                      <a:pPr algn="r">
                        <a:defRPr sz="1100">
                          <a:solidFill>
                            <a:srgbClr val="595959"/>
                          </a:solidFill>
                          <a:latin typeface="Arial"/>
                        </a:defRPr>
                      </a:pPr>
                      <a:r>
                        <a:t>19% – 33%</a:t>
                      </a:r>
                    </a:p>
                  </a:txBody>
                  <a:tcPr>
                    <a:solidFill>
                      <a:srgbClr val="FFFFFF"/>
                    </a:solidFill>
                  </a:tcPr>
                </a:tc>
              </a:tr>
              <a:tr h="365760">
                <a:tc>
                  <a:txBody>
                    <a:bodyPr/>
                    <a:lstStyle/>
                    <a:p>
                      <a:pPr>
                        <a:defRPr sz="1100">
                          <a:solidFill>
                            <a:srgbClr val="595959"/>
                          </a:solidFill>
                          <a:latin typeface="Arial"/>
                        </a:defRPr>
                      </a:pPr>
                      <a:r>
                        <a:t>MFC — Nuaimiya</a:t>
                      </a:r>
                    </a:p>
                  </a:txBody>
                  <a:tcPr>
                    <a:solidFill>
                      <a:srgbClr val="F2F2F2"/>
                    </a:solidFill>
                  </a:tcPr>
                </a:tc>
                <a:tc>
                  <a:txBody>
                    <a:bodyPr/>
                    <a:lstStyle/>
                    <a:p>
                      <a:pPr algn="r">
                        <a:defRPr sz="1100">
                          <a:solidFill>
                            <a:srgbClr val="595959"/>
                          </a:solidFill>
                          <a:latin typeface="Arial"/>
                        </a:defRPr>
                      </a:pPr>
                      <a:r>
                        <a:t>2</a:t>
                      </a:r>
                    </a:p>
                  </a:txBody>
                  <a:tcPr>
                    <a:solidFill>
                      <a:srgbClr val="F2F2F2"/>
                    </a:solidFill>
                  </a:tcPr>
                </a:tc>
                <a:tc>
                  <a:txBody>
                    <a:bodyPr/>
                    <a:lstStyle/>
                    <a:p>
                      <a:pPr algn="r">
                        <a:defRPr sz="1100">
                          <a:solidFill>
                            <a:srgbClr val="595959"/>
                          </a:solidFill>
                          <a:latin typeface="Arial"/>
                        </a:defRPr>
                      </a:pPr>
                      <a:r>
                        <a:t>863</a:t>
                      </a:r>
                    </a:p>
                  </a:txBody>
                  <a:tcPr>
                    <a:solidFill>
                      <a:srgbClr val="F2F2F2"/>
                    </a:solidFill>
                  </a:tcPr>
                </a:tc>
                <a:tc>
                  <a:txBody>
                    <a:bodyPr/>
                    <a:lstStyle/>
                    <a:p>
                      <a:pPr algn="r">
                        <a:defRPr sz="1100">
                          <a:solidFill>
                            <a:srgbClr val="595959"/>
                          </a:solidFill>
                          <a:latin typeface="Arial"/>
                        </a:defRPr>
                      </a:pPr>
                      <a:r>
                        <a:t>98.6%</a:t>
                      </a:r>
                    </a:p>
                  </a:txBody>
                  <a:tcPr>
                    <a:solidFill>
                      <a:srgbClr val="F2F2F2"/>
                    </a:solidFill>
                  </a:tcPr>
                </a:tc>
                <a:tc>
                  <a:txBody>
                    <a:bodyPr/>
                    <a:lstStyle/>
                    <a:p>
                      <a:pPr algn="r">
                        <a:defRPr sz="1100">
                          <a:solidFill>
                            <a:srgbClr val="595959"/>
                          </a:solidFill>
                          <a:latin typeface="Arial"/>
                        </a:defRPr>
                      </a:pPr>
                      <a:r>
                        <a:t>81% – 128%</a:t>
                      </a:r>
                    </a:p>
                  </a:txBody>
                  <a:tcPr>
                    <a:solidFill>
                      <a:srgbClr val="F2F2F2"/>
                    </a:solidFill>
                  </a:tcPr>
                </a:tc>
              </a:tr>
              <a:tr h="365760">
                <a:tc>
                  <a:txBody>
                    <a:bodyPr/>
                    <a:lstStyle/>
                    <a:p>
                      <a:pPr>
                        <a:defRPr sz="1100">
                          <a:solidFill>
                            <a:srgbClr val="595959"/>
                          </a:solidFill>
                          <a:latin typeface="Arial"/>
                        </a:defRPr>
                      </a:pPr>
                      <a:r>
                        <a:t>MFC — Mushrif</a:t>
                      </a:r>
                    </a:p>
                  </a:txBody>
                  <a:tcPr>
                    <a:solidFill>
                      <a:srgbClr val="FFFFFF"/>
                    </a:solidFill>
                  </a:tcPr>
                </a:tc>
                <a:tc>
                  <a:txBody>
                    <a:bodyPr/>
                    <a:lstStyle/>
                    <a:p>
                      <a:pPr algn="r">
                        <a:defRPr sz="1100">
                          <a:solidFill>
                            <a:srgbClr val="595959"/>
                          </a:solidFill>
                          <a:latin typeface="Arial"/>
                        </a:defRPr>
                      </a:pPr>
                      <a:r>
                        <a:t>2</a:t>
                      </a:r>
                    </a:p>
                  </a:txBody>
                  <a:tcPr>
                    <a:solidFill>
                      <a:srgbClr val="FFFFFF"/>
                    </a:solidFill>
                  </a:tcPr>
                </a:tc>
                <a:tc>
                  <a:txBody>
                    <a:bodyPr/>
                    <a:lstStyle/>
                    <a:p>
                      <a:pPr algn="r">
                        <a:defRPr sz="1100">
                          <a:solidFill>
                            <a:srgbClr val="595959"/>
                          </a:solidFill>
                          <a:latin typeface="Arial"/>
                        </a:defRPr>
                      </a:pPr>
                      <a:r>
                        <a:t>1,039</a:t>
                      </a:r>
                    </a:p>
                  </a:txBody>
                  <a:tcPr>
                    <a:solidFill>
                      <a:srgbClr val="FFFFFF"/>
                    </a:solidFill>
                  </a:tcPr>
                </a:tc>
                <a:tc>
                  <a:txBody>
                    <a:bodyPr/>
                    <a:lstStyle/>
                    <a:p>
                      <a:pPr algn="r">
                        <a:defRPr sz="1100">
                          <a:solidFill>
                            <a:srgbClr val="595959"/>
                          </a:solidFill>
                          <a:latin typeface="Arial"/>
                        </a:defRPr>
                      </a:pPr>
                      <a:r>
                        <a:t>120.8%</a:t>
                      </a:r>
                    </a:p>
                  </a:txBody>
                  <a:tcPr>
                    <a:solidFill>
                      <a:srgbClr val="FFFFFF"/>
                    </a:solidFill>
                  </a:tcPr>
                </a:tc>
                <a:tc>
                  <a:txBody>
                    <a:bodyPr/>
                    <a:lstStyle/>
                    <a:p>
                      <a:pPr algn="r">
                        <a:defRPr sz="1100">
                          <a:solidFill>
                            <a:srgbClr val="595959"/>
                          </a:solidFill>
                          <a:latin typeface="Arial"/>
                        </a:defRPr>
                      </a:pPr>
                      <a:r>
                        <a:t>97% – 168%</a:t>
                      </a:r>
                    </a:p>
                  </a:txBody>
                  <a:tcPr>
                    <a:solidFill>
                      <a:srgbClr val="FFFFFF"/>
                    </a:solidFill>
                  </a:tcPr>
                </a:tc>
              </a:tr>
              <a:tr h="365760">
                <a:tc>
                  <a:txBody>
                    <a:bodyPr/>
                    <a:lstStyle/>
                    <a:p>
                      <a:pPr>
                        <a:defRPr sz="1100">
                          <a:solidFill>
                            <a:srgbClr val="595959"/>
                          </a:solidFill>
                          <a:latin typeface="Arial"/>
                        </a:defRPr>
                      </a:pPr>
                      <a:r>
                        <a:t>MFC — PHS</a:t>
                      </a:r>
                    </a:p>
                  </a:txBody>
                  <a:tcPr>
                    <a:solidFill>
                      <a:srgbClr val="F2F2F2"/>
                    </a:solidFill>
                  </a:tcPr>
                </a:tc>
                <a:tc>
                  <a:txBody>
                    <a:bodyPr/>
                    <a:lstStyle/>
                    <a:p>
                      <a:pPr algn="r">
                        <a:defRPr sz="1100">
                          <a:solidFill>
                            <a:srgbClr val="595959"/>
                          </a:solidFill>
                          <a:latin typeface="Arial"/>
                        </a:defRPr>
                      </a:pPr>
                      <a:r>
                        <a:t>1</a:t>
                      </a:r>
                    </a:p>
                  </a:txBody>
                  <a:tcPr>
                    <a:solidFill>
                      <a:srgbClr val="F2F2F2"/>
                    </a:solidFill>
                  </a:tcPr>
                </a:tc>
                <a:tc>
                  <a:txBody>
                    <a:bodyPr/>
                    <a:lstStyle/>
                    <a:p>
                      <a:pPr algn="r">
                        <a:defRPr sz="1100">
                          <a:solidFill>
                            <a:srgbClr val="595959"/>
                          </a:solidFill>
                          <a:latin typeface="Arial"/>
                        </a:defRPr>
                      </a:pPr>
                      <a:r>
                        <a:t>636</a:t>
                      </a:r>
                    </a:p>
                  </a:txBody>
                  <a:tcPr>
                    <a:solidFill>
                      <a:srgbClr val="F2F2F2"/>
                    </a:solidFill>
                  </a:tcPr>
                </a:tc>
                <a:tc>
                  <a:txBody>
                    <a:bodyPr/>
                    <a:lstStyle/>
                    <a:p>
                      <a:pPr algn="r">
                        <a:defRPr sz="1100">
                          <a:solidFill>
                            <a:srgbClr val="595959"/>
                          </a:solidFill>
                          <a:latin typeface="Arial"/>
                        </a:defRPr>
                      </a:pPr>
                      <a:r>
                        <a:t>103.8%</a:t>
                      </a:r>
                    </a:p>
                  </a:txBody>
                  <a:tcPr>
                    <a:solidFill>
                      <a:srgbClr val="F2F2F2"/>
                    </a:solidFill>
                  </a:tcPr>
                </a:tc>
                <a:tc>
                  <a:txBody>
                    <a:bodyPr/>
                    <a:lstStyle/>
                    <a:p>
                      <a:pPr algn="r">
                        <a:defRPr sz="1100">
                          <a:solidFill>
                            <a:srgbClr val="595959"/>
                          </a:solidFill>
                          <a:latin typeface="Arial"/>
                        </a:defRPr>
                      </a:pPr>
                      <a:r>
                        <a:t>64% – 149%</a:t>
                      </a:r>
                    </a:p>
                  </a:txBody>
                  <a:tcPr>
                    <a:solidFill>
                      <a:srgbClr val="F2F2F2"/>
                    </a:solidFill>
                  </a:tcPr>
                </a:tc>
              </a:tr>
            </a:tbl>
          </a:graphicData>
        </a:graphic>
      </p:graphicFrame>
      <p:sp>
        <p:nvSpPr>
          <p:cNvPr id="9" name="TextBox 8"/>
          <p:cNvSpPr txBox="1"/>
          <p:nvPr/>
        </p:nvSpPr>
        <p:spPr>
          <a:xfrm>
            <a:off x="548640" y="3703320"/>
            <a:ext cx="6400800" cy="548640"/>
          </a:xfrm>
          <a:prstGeom prst="rect">
            <a:avLst/>
          </a:prstGeom>
          <a:noFill/>
        </p:spPr>
        <p:txBody>
          <a:bodyPr wrap="square"/>
          <a:lstStyle/>
          <a:p>
            <a:pPr algn="l"/>
            <a:r>
              <a:rPr sz="1100" b="0">
                <a:solidFill>
                  <a:srgbClr val="595959"/>
                </a:solidFill>
                <a:latin typeface="Arial"/>
              </a:rPr>
              <a:t>Band 95–115%: the PHS clinics are far below; Nuaimiya and PHS fitness centres sit inside the band; Mushrif MFC averages above it (interpretation: demand exceeds budgeted hours).</a:t>
            </a:r>
          </a:p>
        </p:txBody>
      </p:sp>
      <p:sp>
        <p:nvSpPr>
          <p:cNvPr id="10" name="Rounded Rectangle 9"/>
          <p:cNvSpPr/>
          <p:nvPr/>
        </p:nvSpPr>
        <p:spPr>
          <a:xfrm>
            <a:off x="7223760" y="1645920"/>
            <a:ext cx="4434840" cy="28346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1737360"/>
            <a:ext cx="4114800" cy="274320"/>
          </a:xfrm>
          <a:prstGeom prst="rect">
            <a:avLst/>
          </a:prstGeom>
          <a:noFill/>
        </p:spPr>
        <p:txBody>
          <a:bodyPr wrap="square"/>
          <a:lstStyle/>
          <a:p>
            <a:pPr algn="l"/>
            <a:r>
              <a:rPr sz="1300" b="1">
                <a:solidFill>
                  <a:srgbClr val="325277"/>
                </a:solidFill>
                <a:latin typeface="Arial"/>
              </a:rPr>
              <a:t>PHS team (profile, Aug 2026)</a:t>
            </a:r>
          </a:p>
        </p:txBody>
      </p:sp>
      <p:sp>
        <p:nvSpPr>
          <p:cNvPr id="12" name="TextBox 11"/>
          <p:cNvSpPr txBox="1"/>
          <p:nvPr/>
        </p:nvSpPr>
        <p:spPr>
          <a:xfrm>
            <a:off x="7406640" y="2057400"/>
            <a:ext cx="4160520" cy="2377440"/>
          </a:xfrm>
          <a:prstGeom prst="rect">
            <a:avLst/>
          </a:prstGeom>
          <a:noFill/>
        </p:spPr>
        <p:txBody>
          <a:bodyPr wrap="square"/>
          <a:lstStyle/>
          <a:p>
            <a:pPr algn="l"/>
            <a:r>
              <a:rPr sz="1100" b="0">
                <a:solidFill>
                  <a:srgbClr val="595959"/>
                </a:solidFill>
                <a:latin typeface="Arial"/>
              </a:rPr>
              <a:t>12 staff: 9 RNs, 2 Assistant Nurses, 1 admin assistant
Mean experience 7.0 yrs — lowest of the four groups
8 unit meetings minuted Jan–Aug 2026
Staff satisfaction 75.5% → 61.9% (culture survey)
Planned: clinic-level productivity sheet and public-health activity log (Oct 2026)</a:t>
            </a:r>
          </a:p>
        </p:txBody>
      </p:sp>
      <p:sp>
        <p:nvSpPr>
          <p:cNvPr id="13" name="Rectangle 12"/>
          <p:cNvSpPr/>
          <p:nvPr/>
        </p:nvSpPr>
        <p:spPr>
          <a:xfrm>
            <a:off x="548640" y="475488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754880"/>
            <a:ext cx="10911535" cy="502920"/>
          </a:xfrm>
          <a:prstGeom prst="rect">
            <a:avLst/>
          </a:prstGeom>
          <a:noFill/>
        </p:spPr>
        <p:txBody>
          <a:bodyPr wrap="square"/>
          <a:lstStyle/>
          <a:p>
            <a:pPr algn="l"/>
            <a:r>
              <a:rPr sz="1100" b="0">
                <a:solidFill>
                  <a:srgbClr val="595959"/>
                </a:solidFill>
                <a:latin typeface="Arial"/>
              </a:rPr>
              <a:t>Why it matters: PHS combines the lowest clinic productivity, the least experienced team and falling satisfaction — a retention risk as much as a productivity one.</a:t>
            </a:r>
          </a:p>
        </p:txBody>
      </p:sp>
      <p:sp>
        <p:nvSpPr>
          <p:cNvPr id="15" name="TextBox 14"/>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AjmanNursing_APMaster (Productivity, Jan–Aug 2026); Nursing Profile Aug 2026; PHS_04_Productivity action plan (Sep 2026); 7. PHS - Ajman minutes; SSIP 2026 Q2 report.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PHC–PHS INTEGRATION</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One nursing system in governance, staffing and safety work</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Integration mechanisms evidenced in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14</a:t>
            </a:r>
          </a:p>
        </p:txBody>
      </p:sp>
      <p:sp>
        <p:nvSpPr>
          <p:cNvPr id="8" name="Rectangle 7"/>
          <p:cNvSpPr/>
          <p:nvPr/>
        </p:nvSpPr>
        <p:spPr>
          <a:xfrm>
            <a:off x="0" y="0"/>
            <a:ext cx="91440" cy="6858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00000" y="347472"/>
            <a:ext cx="1800000" cy="365760"/>
          </a:xfrm>
          <a:prstGeom prst="roundRect">
            <a:avLst>
              <a:gd name="adj" fmla="val 1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SCHOOL HEALTH</a:t>
            </a:r>
          </a:p>
        </p:txBody>
      </p:sp>
      <p:sp>
        <p:nvSpPr>
          <p:cNvPr id="10" name="Rectangle 9"/>
          <p:cNvSpPr/>
          <p:nvPr/>
        </p:nvSpPr>
        <p:spPr>
          <a:xfrm>
            <a:off x="548640" y="1627632"/>
            <a:ext cx="11091672"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171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17632"/>
            <a:ext cx="365760" cy="365760"/>
          </a:xfrm>
          <a:prstGeom prst="rect">
            <a:avLst/>
          </a:prstGeom>
          <a:noFill/>
        </p:spPr>
        <p:txBody>
          <a:bodyPr wrap="square"/>
          <a:lstStyle/>
          <a:p>
            <a:pPr algn="ctr"/>
            <a:r>
              <a:rPr sz="1400" b="1">
                <a:solidFill>
                  <a:srgbClr val="FFFFFF"/>
                </a:solidFill>
                <a:latin typeface="Arial"/>
              </a:rPr>
              <a:t>1</a:t>
            </a:r>
          </a:p>
        </p:txBody>
      </p:sp>
      <p:sp>
        <p:nvSpPr>
          <p:cNvPr id="13" name="TextBox 12"/>
          <p:cNvSpPr txBox="1"/>
          <p:nvPr/>
        </p:nvSpPr>
        <p:spPr>
          <a:xfrm>
            <a:off x="1188720" y="1627632"/>
            <a:ext cx="2743200" cy="548640"/>
          </a:xfrm>
          <a:prstGeom prst="rect">
            <a:avLst/>
          </a:prstGeom>
          <a:noFill/>
        </p:spPr>
        <p:txBody>
          <a:bodyPr wrap="square"/>
          <a:lstStyle/>
          <a:p>
            <a:pPr algn="l"/>
            <a:r>
              <a:rPr sz="1300" b="1">
                <a:solidFill>
                  <a:srgbClr val="325277"/>
                </a:solidFill>
                <a:latin typeface="Arial"/>
              </a:rPr>
              <a:t>Shared performance system</a:t>
            </a:r>
          </a:p>
        </p:txBody>
      </p:sp>
      <p:sp>
        <p:nvSpPr>
          <p:cNvPr id="14" name="TextBox 13"/>
          <p:cNvSpPr txBox="1"/>
          <p:nvPr/>
        </p:nvSpPr>
        <p:spPr>
          <a:xfrm>
            <a:off x="3931920" y="1627632"/>
            <a:ext cx="7589520" cy="548640"/>
          </a:xfrm>
          <a:prstGeom prst="rect">
            <a:avLst/>
          </a:prstGeom>
          <a:noFill/>
        </p:spPr>
        <p:txBody>
          <a:bodyPr wrap="square"/>
          <a:lstStyle/>
          <a:p>
            <a:pPr algn="l"/>
            <a:r>
              <a:rPr sz="1100" b="0">
                <a:solidFill>
                  <a:srgbClr val="595959"/>
                </a:solidFill>
                <a:latin typeface="Arial"/>
              </a:rPr>
              <a:t>The monthly KPI report covers the 5 PHCs and Ajman PHS; the APMaster tracker adds the 3 fitness centres.</a:t>
            </a:r>
          </a:p>
        </p:txBody>
      </p:sp>
      <p:sp>
        <p:nvSpPr>
          <p:cNvPr id="15" name="Rectangle 14"/>
          <p:cNvSpPr/>
          <p:nvPr/>
        </p:nvSpPr>
        <p:spPr>
          <a:xfrm>
            <a:off x="548640" y="2267632"/>
            <a:ext cx="1109167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35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357632"/>
            <a:ext cx="365760" cy="365760"/>
          </a:xfrm>
          <a:prstGeom prst="rect">
            <a:avLst/>
          </a:prstGeom>
          <a:noFill/>
        </p:spPr>
        <p:txBody>
          <a:bodyPr wrap="square"/>
          <a:lstStyle/>
          <a:p>
            <a:pPr algn="ctr"/>
            <a:r>
              <a:rPr sz="1400" b="1">
                <a:solidFill>
                  <a:srgbClr val="FFFFFF"/>
                </a:solidFill>
                <a:latin typeface="Arial"/>
              </a:rPr>
              <a:t>2</a:t>
            </a:r>
          </a:p>
        </p:txBody>
      </p:sp>
      <p:sp>
        <p:nvSpPr>
          <p:cNvPr id="18" name="TextBox 17"/>
          <p:cNvSpPr txBox="1"/>
          <p:nvPr/>
        </p:nvSpPr>
        <p:spPr>
          <a:xfrm>
            <a:off x="1188720" y="2267632"/>
            <a:ext cx="2743200" cy="548640"/>
          </a:xfrm>
          <a:prstGeom prst="rect">
            <a:avLst/>
          </a:prstGeom>
          <a:noFill/>
        </p:spPr>
        <p:txBody>
          <a:bodyPr wrap="square"/>
          <a:lstStyle/>
          <a:p>
            <a:pPr algn="l"/>
            <a:r>
              <a:rPr sz="1300" b="1">
                <a:solidFill>
                  <a:srgbClr val="325277"/>
                </a:solidFill>
                <a:latin typeface="Arial"/>
              </a:rPr>
              <a:t>Joint council</a:t>
            </a:r>
          </a:p>
        </p:txBody>
      </p:sp>
      <p:sp>
        <p:nvSpPr>
          <p:cNvPr id="19" name="TextBox 18"/>
          <p:cNvSpPr txBox="1"/>
          <p:nvPr/>
        </p:nvSpPr>
        <p:spPr>
          <a:xfrm>
            <a:off x="3931920" y="2267632"/>
            <a:ext cx="7589520" cy="548640"/>
          </a:xfrm>
          <a:prstGeom prst="rect">
            <a:avLst/>
          </a:prstGeom>
          <a:noFill/>
        </p:spPr>
        <p:txBody>
          <a:bodyPr wrap="square"/>
          <a:lstStyle/>
          <a:p>
            <a:pPr algn="l"/>
            <a:r>
              <a:rPr sz="1100" b="0">
                <a:solidFill>
                  <a:srgbClr val="595959"/>
                </a:solidFill>
                <a:latin typeface="Arial"/>
              </a:rPr>
              <a:t>Nursing Operations Council includes both Nurse Managers; minuted Jan &amp; May 2026; 12 strategic projects.</a:t>
            </a:r>
          </a:p>
        </p:txBody>
      </p:sp>
      <p:sp>
        <p:nvSpPr>
          <p:cNvPr id="20" name="Rectangle 19"/>
          <p:cNvSpPr/>
          <p:nvPr/>
        </p:nvSpPr>
        <p:spPr>
          <a:xfrm>
            <a:off x="548640" y="2907632"/>
            <a:ext cx="11091672"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99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997632"/>
            <a:ext cx="365760" cy="365760"/>
          </a:xfrm>
          <a:prstGeom prst="rect">
            <a:avLst/>
          </a:prstGeom>
          <a:noFill/>
        </p:spPr>
        <p:txBody>
          <a:bodyPr wrap="square"/>
          <a:lstStyle/>
          <a:p>
            <a:pPr algn="ctr"/>
            <a:r>
              <a:rPr sz="1400" b="1">
                <a:solidFill>
                  <a:srgbClr val="FFFFFF"/>
                </a:solidFill>
                <a:latin typeface="Arial"/>
              </a:rPr>
              <a:t>3</a:t>
            </a:r>
          </a:p>
        </p:txBody>
      </p:sp>
      <p:sp>
        <p:nvSpPr>
          <p:cNvPr id="23" name="TextBox 22"/>
          <p:cNvSpPr txBox="1"/>
          <p:nvPr/>
        </p:nvSpPr>
        <p:spPr>
          <a:xfrm>
            <a:off x="1188720" y="2907632"/>
            <a:ext cx="2743200" cy="548640"/>
          </a:xfrm>
          <a:prstGeom prst="rect">
            <a:avLst/>
          </a:prstGeom>
          <a:noFill/>
        </p:spPr>
        <p:txBody>
          <a:bodyPr wrap="square"/>
          <a:lstStyle/>
          <a:p>
            <a:pPr algn="l"/>
            <a:r>
              <a:rPr sz="1300" b="1">
                <a:solidFill>
                  <a:srgbClr val="325277"/>
                </a:solidFill>
                <a:latin typeface="Arial"/>
              </a:rPr>
              <a:t>Cross-site QIP</a:t>
            </a:r>
          </a:p>
        </p:txBody>
      </p:sp>
      <p:sp>
        <p:nvSpPr>
          <p:cNvPr id="24" name="TextBox 23"/>
          <p:cNvSpPr txBox="1"/>
          <p:nvPr/>
        </p:nvSpPr>
        <p:spPr>
          <a:xfrm>
            <a:off x="3931920" y="2907632"/>
            <a:ext cx="7589520" cy="548640"/>
          </a:xfrm>
          <a:prstGeom prst="rect">
            <a:avLst/>
          </a:prstGeom>
          <a:noFill/>
        </p:spPr>
        <p:txBody>
          <a:bodyPr wrap="square"/>
          <a:lstStyle/>
          <a:p>
            <a:pPr algn="l"/>
            <a:r>
              <a:rPr sz="1100" b="0">
                <a:solidFill>
                  <a:srgbClr val="595959"/>
                </a:solidFill>
                <a:latin typeface="Arial"/>
              </a:rPr>
              <a:t>Patient Identification QIP runs across all 9 sites under both Nurse Managers.</a:t>
            </a:r>
          </a:p>
        </p:txBody>
      </p:sp>
      <p:sp>
        <p:nvSpPr>
          <p:cNvPr id="25" name="Rectangle 24"/>
          <p:cNvSpPr/>
          <p:nvPr/>
        </p:nvSpPr>
        <p:spPr>
          <a:xfrm>
            <a:off x="548640" y="3547632"/>
            <a:ext cx="1109167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63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637632"/>
            <a:ext cx="365760" cy="365760"/>
          </a:xfrm>
          <a:prstGeom prst="rect">
            <a:avLst/>
          </a:prstGeom>
          <a:noFill/>
        </p:spPr>
        <p:txBody>
          <a:bodyPr wrap="square"/>
          <a:lstStyle/>
          <a:p>
            <a:pPr algn="ctr"/>
            <a:r>
              <a:rPr sz="1400" b="1">
                <a:solidFill>
                  <a:srgbClr val="FFFFFF"/>
                </a:solidFill>
                <a:latin typeface="Arial"/>
              </a:rPr>
              <a:t>4</a:t>
            </a:r>
          </a:p>
        </p:txBody>
      </p:sp>
      <p:sp>
        <p:nvSpPr>
          <p:cNvPr id="28" name="TextBox 27"/>
          <p:cNvSpPr txBox="1"/>
          <p:nvPr/>
        </p:nvSpPr>
        <p:spPr>
          <a:xfrm>
            <a:off x="1188720" y="3547632"/>
            <a:ext cx="2743200" cy="548640"/>
          </a:xfrm>
          <a:prstGeom prst="rect">
            <a:avLst/>
          </a:prstGeom>
          <a:noFill/>
        </p:spPr>
        <p:txBody>
          <a:bodyPr wrap="square"/>
          <a:lstStyle/>
          <a:p>
            <a:pPr algn="l"/>
            <a:r>
              <a:rPr sz="1300" b="1">
                <a:solidFill>
                  <a:srgbClr val="325277"/>
                </a:solidFill>
                <a:latin typeface="Arial"/>
              </a:rPr>
              <a:t>Staff flexing</a:t>
            </a:r>
          </a:p>
        </p:txBody>
      </p:sp>
      <p:sp>
        <p:nvSpPr>
          <p:cNvPr id="29" name="TextBox 28"/>
          <p:cNvSpPr txBox="1"/>
          <p:nvPr/>
        </p:nvSpPr>
        <p:spPr>
          <a:xfrm>
            <a:off x="3931920" y="3547632"/>
            <a:ext cx="7589520" cy="548640"/>
          </a:xfrm>
          <a:prstGeom prst="rect">
            <a:avLst/>
          </a:prstGeom>
          <a:noFill/>
        </p:spPr>
        <p:txBody>
          <a:bodyPr wrap="square"/>
          <a:lstStyle/>
          <a:p>
            <a:pPr algn="l"/>
            <a:r>
              <a:rPr sz="1100" b="0">
                <a:solidFill>
                  <a:srgbClr val="595959"/>
                </a:solidFill>
                <a:latin typeface="Arial"/>
              </a:rPr>
              <a:t>School nurses join PHC centres in school holidays (from 20 Jul 2026); PHC and School Health staff cover PHS during leave.</a:t>
            </a:r>
          </a:p>
        </p:txBody>
      </p:sp>
      <p:sp>
        <p:nvSpPr>
          <p:cNvPr id="30" name="Rectangle 29"/>
          <p:cNvSpPr/>
          <p:nvPr/>
        </p:nvSpPr>
        <p:spPr>
          <a:xfrm>
            <a:off x="548640" y="4187632"/>
            <a:ext cx="11091672"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8368" y="427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277632"/>
            <a:ext cx="365760" cy="365760"/>
          </a:xfrm>
          <a:prstGeom prst="rect">
            <a:avLst/>
          </a:prstGeom>
          <a:noFill/>
        </p:spPr>
        <p:txBody>
          <a:bodyPr wrap="square"/>
          <a:lstStyle/>
          <a:p>
            <a:pPr algn="ctr"/>
            <a:r>
              <a:rPr sz="1400" b="1">
                <a:solidFill>
                  <a:srgbClr val="FFFFFF"/>
                </a:solidFill>
                <a:latin typeface="Arial"/>
              </a:rPr>
              <a:t>5</a:t>
            </a:r>
          </a:p>
        </p:txBody>
      </p:sp>
      <p:sp>
        <p:nvSpPr>
          <p:cNvPr id="33" name="TextBox 32"/>
          <p:cNvSpPr txBox="1"/>
          <p:nvPr/>
        </p:nvSpPr>
        <p:spPr>
          <a:xfrm>
            <a:off x="1188720" y="4187632"/>
            <a:ext cx="2743200" cy="548640"/>
          </a:xfrm>
          <a:prstGeom prst="rect">
            <a:avLst/>
          </a:prstGeom>
          <a:noFill/>
        </p:spPr>
        <p:txBody>
          <a:bodyPr wrap="square"/>
          <a:lstStyle/>
          <a:p>
            <a:pPr algn="l"/>
            <a:r>
              <a:rPr sz="1300" b="1">
                <a:solidFill>
                  <a:srgbClr val="325277"/>
                </a:solidFill>
                <a:latin typeface="Arial"/>
              </a:rPr>
              <a:t>Shared safety projects</a:t>
            </a:r>
          </a:p>
        </p:txBody>
      </p:sp>
      <p:sp>
        <p:nvSpPr>
          <p:cNvPr id="34" name="TextBox 33"/>
          <p:cNvSpPr txBox="1"/>
          <p:nvPr/>
        </p:nvSpPr>
        <p:spPr>
          <a:xfrm>
            <a:off x="3931920" y="4187632"/>
            <a:ext cx="7589520" cy="548640"/>
          </a:xfrm>
          <a:prstGeom prst="rect">
            <a:avLst/>
          </a:prstGeom>
          <a:noFill/>
        </p:spPr>
        <p:txBody>
          <a:bodyPr wrap="square"/>
          <a:lstStyle/>
          <a:p>
            <a:pPr algn="l"/>
            <a:r>
              <a:rPr sz="1100" b="0">
                <a:solidFill>
                  <a:srgbClr val="595959"/>
                </a:solidFill>
                <a:latin typeface="Arial"/>
              </a:rPr>
              <a:t>Fall Prevention project reviewed at the PHS meeting (Aug 2026) using the PHC pilot tools.</a:t>
            </a:r>
          </a:p>
        </p:txBody>
      </p:sp>
      <p:sp>
        <p:nvSpPr>
          <p:cNvPr id="35" name="Rectangle 34"/>
          <p:cNvSpPr/>
          <p:nvPr/>
        </p:nvSpPr>
        <p:spPr>
          <a:xfrm>
            <a:off x="548640" y="4827632"/>
            <a:ext cx="1109167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58368" y="4917632"/>
            <a:ext cx="365760" cy="36576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4917632"/>
            <a:ext cx="365760" cy="365760"/>
          </a:xfrm>
          <a:prstGeom prst="rect">
            <a:avLst/>
          </a:prstGeom>
          <a:noFill/>
        </p:spPr>
        <p:txBody>
          <a:bodyPr wrap="square"/>
          <a:lstStyle/>
          <a:p>
            <a:pPr algn="ctr"/>
            <a:r>
              <a:rPr sz="1400" b="1">
                <a:solidFill>
                  <a:srgbClr val="FFFFFF"/>
                </a:solidFill>
                <a:latin typeface="Arial"/>
              </a:rPr>
              <a:t>6</a:t>
            </a:r>
          </a:p>
        </p:txBody>
      </p:sp>
      <p:sp>
        <p:nvSpPr>
          <p:cNvPr id="38" name="TextBox 37"/>
          <p:cNvSpPr txBox="1"/>
          <p:nvPr/>
        </p:nvSpPr>
        <p:spPr>
          <a:xfrm>
            <a:off x="1188720" y="4827632"/>
            <a:ext cx="2743200" cy="548640"/>
          </a:xfrm>
          <a:prstGeom prst="rect">
            <a:avLst/>
          </a:prstGeom>
          <a:noFill/>
        </p:spPr>
        <p:txBody>
          <a:bodyPr wrap="square"/>
          <a:lstStyle/>
          <a:p>
            <a:pPr algn="l"/>
            <a:r>
              <a:rPr sz="1300" b="1">
                <a:solidFill>
                  <a:srgbClr val="325277"/>
                </a:solidFill>
                <a:latin typeface="Arial"/>
              </a:rPr>
              <a:t>Shared leadership development</a:t>
            </a:r>
          </a:p>
        </p:txBody>
      </p:sp>
      <p:sp>
        <p:nvSpPr>
          <p:cNvPr id="39" name="TextBox 38"/>
          <p:cNvSpPr txBox="1"/>
          <p:nvPr/>
        </p:nvSpPr>
        <p:spPr>
          <a:xfrm>
            <a:off x="3931920" y="4827632"/>
            <a:ext cx="7589520" cy="548640"/>
          </a:xfrm>
          <a:prstGeom prst="rect">
            <a:avLst/>
          </a:prstGeom>
          <a:noFill/>
        </p:spPr>
        <p:txBody>
          <a:bodyPr wrap="square"/>
          <a:lstStyle/>
          <a:p>
            <a:pPr algn="l"/>
            <a:r>
              <a:rPr sz="1100" b="0">
                <a:solidFill>
                  <a:srgbClr val="595959"/>
                </a:solidFill>
                <a:latin typeface="Arial"/>
              </a:rPr>
              <a:t>One leadership workshop (16 May 2026) for PHC, PHS and School Health nurses — 92 attended.</a:t>
            </a:r>
          </a:p>
        </p:txBody>
      </p:sp>
      <p:sp>
        <p:nvSpPr>
          <p:cNvPr id="40" name="Rectangle 39"/>
          <p:cNvSpPr/>
          <p:nvPr/>
        </p:nvSpPr>
        <p:spPr>
          <a:xfrm>
            <a:off x="548640" y="553212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5532120"/>
            <a:ext cx="10911535" cy="502920"/>
          </a:xfrm>
          <a:prstGeom prst="rect">
            <a:avLst/>
          </a:prstGeom>
          <a:noFill/>
        </p:spPr>
        <p:txBody>
          <a:bodyPr wrap="square"/>
          <a:lstStyle/>
          <a:p>
            <a:pPr algn="l"/>
            <a:r>
              <a:rPr sz="1100" b="0">
                <a:solidFill>
                  <a:srgbClr val="595959"/>
                </a:solidFill>
                <a:latin typeface="Arial"/>
              </a:rPr>
              <a:t>Why it matters: Management tools are already shared; the next step is to route patients between PHC and PHS as smoothly as staff are already shared.</a:t>
            </a:r>
          </a:p>
        </p:txBody>
      </p:sp>
      <p:sp>
        <p:nvSpPr>
          <p:cNvPr id="42" name="TextBox 4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KPI Reports &amp; APMaster 2026; NursingOpsCouncil MOM May 2026; QIP-PTID-AJM-2026; SH MOM 17 Jul 2026; Staff Coverage MOM 20 Jul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SCHOOL HEALTH NURSING OVERVIEW</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The largest nursing group — 42 staff, almost all Registered Nurses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School Health, 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15</a:t>
            </a:r>
          </a:p>
        </p:txBody>
      </p:sp>
      <p:sp>
        <p:nvSpPr>
          <p:cNvPr id="8" name="Rounded Rectangle 7"/>
          <p:cNvSpPr/>
          <p:nvPr/>
        </p:nvSpPr>
        <p:spPr>
          <a:xfrm>
            <a:off x="548640" y="164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5920"/>
            <a:ext cx="2103120" cy="500000"/>
          </a:xfrm>
          <a:prstGeom prst="rect">
            <a:avLst/>
          </a:prstGeom>
          <a:noFill/>
        </p:spPr>
        <p:txBody>
          <a:bodyPr wrap="square"/>
          <a:lstStyle/>
          <a:p>
            <a:pPr algn="ctr"/>
            <a:r>
              <a:rPr sz="4000" b="1">
                <a:solidFill>
                  <a:srgbClr val="325277"/>
                </a:solidFill>
                <a:latin typeface="Arial"/>
              </a:rPr>
              <a:t>42</a:t>
            </a:r>
          </a:p>
        </p:txBody>
      </p:sp>
      <p:sp>
        <p:nvSpPr>
          <p:cNvPr id="10" name="TextBox 9"/>
          <p:cNvSpPr txBox="1"/>
          <p:nvPr/>
        </p:nvSpPr>
        <p:spPr>
          <a:xfrm>
            <a:off x="628640" y="2195920"/>
            <a:ext cx="1943120" cy="400000"/>
          </a:xfrm>
          <a:prstGeom prst="rect">
            <a:avLst/>
          </a:prstGeom>
          <a:noFill/>
        </p:spPr>
        <p:txBody>
          <a:bodyPr wrap="square"/>
          <a:lstStyle/>
          <a:p>
            <a:pPr algn="ctr"/>
            <a:r>
              <a:rPr sz="1200" b="0">
                <a:solidFill>
                  <a:srgbClr val="595959"/>
                </a:solidFill>
                <a:latin typeface="Arial"/>
              </a:rPr>
              <a:t>staff (41 nurses + Acting UM for Schools)</a:t>
            </a:r>
          </a:p>
        </p:txBody>
      </p:sp>
      <p:sp>
        <p:nvSpPr>
          <p:cNvPr id="11" name="Rounded Rectangle 10"/>
          <p:cNvSpPr/>
          <p:nvPr/>
        </p:nvSpPr>
        <p:spPr>
          <a:xfrm>
            <a:off x="2851760" y="164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1760" y="1695920"/>
            <a:ext cx="2103120" cy="500000"/>
          </a:xfrm>
          <a:prstGeom prst="rect">
            <a:avLst/>
          </a:prstGeom>
          <a:noFill/>
        </p:spPr>
        <p:txBody>
          <a:bodyPr wrap="square"/>
          <a:lstStyle/>
          <a:p>
            <a:pPr algn="ctr"/>
            <a:r>
              <a:rPr sz="4000" b="1">
                <a:solidFill>
                  <a:srgbClr val="325277"/>
                </a:solidFill>
                <a:latin typeface="Arial"/>
              </a:rPr>
              <a:t>41 : 1</a:t>
            </a:r>
          </a:p>
        </p:txBody>
      </p:sp>
      <p:sp>
        <p:nvSpPr>
          <p:cNvPr id="13" name="TextBox 12"/>
          <p:cNvSpPr txBox="1"/>
          <p:nvPr/>
        </p:nvSpPr>
        <p:spPr>
          <a:xfrm>
            <a:off x="2931760" y="2195920"/>
            <a:ext cx="1943120" cy="400000"/>
          </a:xfrm>
          <a:prstGeom prst="rect">
            <a:avLst/>
          </a:prstGeom>
          <a:noFill/>
        </p:spPr>
        <p:txBody>
          <a:bodyPr wrap="square"/>
          <a:lstStyle/>
          <a:p>
            <a:pPr algn="ctr"/>
            <a:r>
              <a:rPr sz="1200" b="0">
                <a:solidFill>
                  <a:srgbClr val="595959"/>
                </a:solidFill>
                <a:latin typeface="Arial"/>
              </a:rPr>
              <a:t>Registered Nurses : Assistant Nurse</a:t>
            </a:r>
          </a:p>
        </p:txBody>
      </p:sp>
      <p:sp>
        <p:nvSpPr>
          <p:cNvPr id="14" name="Rounded Rectangle 13"/>
          <p:cNvSpPr/>
          <p:nvPr/>
        </p:nvSpPr>
        <p:spPr>
          <a:xfrm>
            <a:off x="5154880" y="164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4880" y="1695920"/>
            <a:ext cx="2103120" cy="500000"/>
          </a:xfrm>
          <a:prstGeom prst="rect">
            <a:avLst/>
          </a:prstGeom>
          <a:noFill/>
        </p:spPr>
        <p:txBody>
          <a:bodyPr wrap="square"/>
          <a:lstStyle/>
          <a:p>
            <a:pPr algn="ctr"/>
            <a:r>
              <a:rPr sz="4000" b="1">
                <a:solidFill>
                  <a:srgbClr val="325277"/>
                </a:solidFill>
                <a:latin typeface="Arial"/>
              </a:rPr>
              <a:t>38.5%</a:t>
            </a:r>
          </a:p>
        </p:txBody>
      </p:sp>
      <p:sp>
        <p:nvSpPr>
          <p:cNvPr id="16" name="TextBox 15"/>
          <p:cNvSpPr txBox="1"/>
          <p:nvPr/>
        </p:nvSpPr>
        <p:spPr>
          <a:xfrm>
            <a:off x="5234880" y="2195920"/>
            <a:ext cx="1943120" cy="400000"/>
          </a:xfrm>
          <a:prstGeom prst="rect">
            <a:avLst/>
          </a:prstGeom>
          <a:noFill/>
        </p:spPr>
        <p:txBody>
          <a:bodyPr wrap="square"/>
          <a:lstStyle/>
          <a:p>
            <a:pPr algn="ctr"/>
            <a:r>
              <a:rPr sz="1200" b="0">
                <a:solidFill>
                  <a:srgbClr val="595959"/>
                </a:solidFill>
                <a:latin typeface="Arial"/>
              </a:rPr>
              <a:t>of all nurses &amp; midwives</a:t>
            </a:r>
          </a:p>
        </p:txBody>
      </p:sp>
      <p:sp>
        <p:nvSpPr>
          <p:cNvPr id="17" name="TextBox 16"/>
          <p:cNvSpPr txBox="1"/>
          <p:nvPr/>
        </p:nvSpPr>
        <p:spPr>
          <a:xfrm>
            <a:off x="5234880" y="2515920"/>
            <a:ext cx="1943120" cy="200000"/>
          </a:xfrm>
          <a:prstGeom prst="rect">
            <a:avLst/>
          </a:prstGeom>
          <a:noFill/>
        </p:spPr>
        <p:txBody>
          <a:bodyPr wrap="square"/>
          <a:lstStyle/>
          <a:p>
            <a:pPr algn="ctr"/>
            <a:r>
              <a:rPr sz="900" b="0">
                <a:solidFill>
                  <a:srgbClr val="A9B4C6"/>
                </a:solidFill>
                <a:latin typeface="Arial"/>
              </a:rPr>
              <a:t>calculated</a:t>
            </a:r>
          </a:p>
        </p:txBody>
      </p:sp>
      <p:sp>
        <p:nvSpPr>
          <p:cNvPr id="18" name="Rounded Rectangle 17"/>
          <p:cNvSpPr/>
          <p:nvPr/>
        </p:nvSpPr>
        <p:spPr>
          <a:xfrm>
            <a:off x="548640" y="315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05920"/>
            <a:ext cx="2103120" cy="500000"/>
          </a:xfrm>
          <a:prstGeom prst="rect">
            <a:avLst/>
          </a:prstGeom>
          <a:noFill/>
        </p:spPr>
        <p:txBody>
          <a:bodyPr wrap="square"/>
          <a:lstStyle/>
          <a:p>
            <a:pPr algn="ctr"/>
            <a:r>
              <a:rPr sz="4000" b="1">
                <a:solidFill>
                  <a:srgbClr val="325277"/>
                </a:solidFill>
                <a:latin typeface="Arial"/>
              </a:rPr>
              <a:t>33</a:t>
            </a:r>
          </a:p>
        </p:txBody>
      </p:sp>
      <p:sp>
        <p:nvSpPr>
          <p:cNvPr id="20" name="TextBox 19"/>
          <p:cNvSpPr txBox="1"/>
          <p:nvPr/>
        </p:nvSpPr>
        <p:spPr>
          <a:xfrm>
            <a:off x="628640" y="3705920"/>
            <a:ext cx="1943120" cy="400000"/>
          </a:xfrm>
          <a:prstGeom prst="rect">
            <a:avLst/>
          </a:prstGeom>
          <a:noFill/>
        </p:spPr>
        <p:txBody>
          <a:bodyPr wrap="square"/>
          <a:lstStyle/>
          <a:p>
            <a:pPr algn="ctr"/>
            <a:r>
              <a:rPr sz="1200" b="0">
                <a:solidFill>
                  <a:srgbClr val="595959"/>
                </a:solidFill>
                <a:latin typeface="Arial"/>
              </a:rPr>
              <a:t>schools on the staff profile</a:t>
            </a:r>
          </a:p>
        </p:txBody>
      </p:sp>
      <p:sp>
        <p:nvSpPr>
          <p:cNvPr id="21" name="TextBox 20"/>
          <p:cNvSpPr txBox="1"/>
          <p:nvPr/>
        </p:nvSpPr>
        <p:spPr>
          <a:xfrm>
            <a:off x="628640" y="4025920"/>
            <a:ext cx="1943120" cy="200000"/>
          </a:xfrm>
          <a:prstGeom prst="rect">
            <a:avLst/>
          </a:prstGeom>
          <a:noFill/>
        </p:spPr>
        <p:txBody>
          <a:bodyPr wrap="square"/>
          <a:lstStyle/>
          <a:p>
            <a:pPr algn="ctr"/>
            <a:r>
              <a:rPr sz="900" b="0">
                <a:solidFill>
                  <a:srgbClr val="A9B4C6"/>
                </a:solidFill>
                <a:latin typeface="Arial"/>
              </a:rPr>
              <a:t>34 in dept. deck</a:t>
            </a:r>
          </a:p>
        </p:txBody>
      </p:sp>
      <p:sp>
        <p:nvSpPr>
          <p:cNvPr id="22" name="Rounded Rectangle 21"/>
          <p:cNvSpPr/>
          <p:nvPr/>
        </p:nvSpPr>
        <p:spPr>
          <a:xfrm>
            <a:off x="2851760" y="315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1760" y="3205920"/>
            <a:ext cx="2103120" cy="500000"/>
          </a:xfrm>
          <a:prstGeom prst="rect">
            <a:avLst/>
          </a:prstGeom>
          <a:noFill/>
        </p:spPr>
        <p:txBody>
          <a:bodyPr wrap="square"/>
          <a:lstStyle/>
          <a:p>
            <a:pPr algn="ctr"/>
            <a:r>
              <a:rPr sz="4000" b="1">
                <a:solidFill>
                  <a:srgbClr val="325277"/>
                </a:solidFill>
                <a:latin typeface="Arial"/>
              </a:rPr>
              <a:t>6</a:t>
            </a:r>
          </a:p>
        </p:txBody>
      </p:sp>
      <p:sp>
        <p:nvSpPr>
          <p:cNvPr id="24" name="TextBox 23"/>
          <p:cNvSpPr txBox="1"/>
          <p:nvPr/>
        </p:nvSpPr>
        <p:spPr>
          <a:xfrm>
            <a:off x="2931760" y="3705920"/>
            <a:ext cx="1943120" cy="400000"/>
          </a:xfrm>
          <a:prstGeom prst="rect">
            <a:avLst/>
          </a:prstGeom>
          <a:noFill/>
        </p:spPr>
        <p:txBody>
          <a:bodyPr wrap="square"/>
          <a:lstStyle/>
          <a:p>
            <a:pPr algn="ctr"/>
            <a:r>
              <a:rPr sz="1200" b="0">
                <a:solidFill>
                  <a:srgbClr val="595959"/>
                </a:solidFill>
                <a:latin typeface="Arial"/>
              </a:rPr>
              <a:t>Emirati nurses — the most of any group</a:t>
            </a:r>
          </a:p>
        </p:txBody>
      </p:sp>
      <p:sp>
        <p:nvSpPr>
          <p:cNvPr id="25" name="Rounded Rectangle 24"/>
          <p:cNvSpPr/>
          <p:nvPr/>
        </p:nvSpPr>
        <p:spPr>
          <a:xfrm>
            <a:off x="5154880" y="3155920"/>
            <a:ext cx="210312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54880" y="3205920"/>
            <a:ext cx="2103120" cy="500000"/>
          </a:xfrm>
          <a:prstGeom prst="rect">
            <a:avLst/>
          </a:prstGeom>
          <a:noFill/>
        </p:spPr>
        <p:txBody>
          <a:bodyPr wrap="square"/>
          <a:lstStyle/>
          <a:p>
            <a:pPr algn="ctr"/>
            <a:r>
              <a:rPr sz="4000" b="1">
                <a:solidFill>
                  <a:srgbClr val="325277"/>
                </a:solidFill>
                <a:latin typeface="Arial"/>
              </a:rPr>
              <a:t>9.0 yrs</a:t>
            </a:r>
          </a:p>
        </p:txBody>
      </p:sp>
      <p:sp>
        <p:nvSpPr>
          <p:cNvPr id="27" name="TextBox 26"/>
          <p:cNvSpPr txBox="1"/>
          <p:nvPr/>
        </p:nvSpPr>
        <p:spPr>
          <a:xfrm>
            <a:off x="5234880" y="3705920"/>
            <a:ext cx="1943120" cy="400000"/>
          </a:xfrm>
          <a:prstGeom prst="rect">
            <a:avLst/>
          </a:prstGeom>
          <a:noFill/>
        </p:spPr>
        <p:txBody>
          <a:bodyPr wrap="square"/>
          <a:lstStyle/>
          <a:p>
            <a:pPr algn="ctr"/>
            <a:r>
              <a:rPr sz="1200" b="0">
                <a:solidFill>
                  <a:srgbClr val="595959"/>
                </a:solidFill>
                <a:latin typeface="Arial"/>
              </a:rPr>
              <a:t>mean experience; mean age 38.7</a:t>
            </a:r>
          </a:p>
        </p:txBody>
      </p:sp>
      <p:sp>
        <p:nvSpPr>
          <p:cNvPr id="28" name="TextBox 27"/>
          <p:cNvSpPr txBox="1"/>
          <p:nvPr/>
        </p:nvSpPr>
        <p:spPr>
          <a:xfrm>
            <a:off x="5234880" y="4025920"/>
            <a:ext cx="1943120" cy="200000"/>
          </a:xfrm>
          <a:prstGeom prst="rect">
            <a:avLst/>
          </a:prstGeom>
          <a:noFill/>
        </p:spPr>
        <p:txBody>
          <a:bodyPr wrap="square"/>
          <a:lstStyle/>
          <a:p>
            <a:pPr algn="ctr"/>
            <a:r>
              <a:rPr sz="900" b="0">
                <a:solidFill>
                  <a:srgbClr val="A9B4C6"/>
                </a:solidFill>
                <a:latin typeface="Arial"/>
              </a:rPr>
              <a:t>calculated</a:t>
            </a:r>
          </a:p>
        </p:txBody>
      </p:sp>
      <p:sp>
        <p:nvSpPr>
          <p:cNvPr id="29" name="Rounded Rectangle 28"/>
          <p:cNvSpPr/>
          <p:nvPr/>
        </p:nvSpPr>
        <p:spPr>
          <a:xfrm>
            <a:off x="7406640" y="1645920"/>
            <a:ext cx="4251960" cy="27889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0" y="1737360"/>
            <a:ext cx="3931920" cy="274320"/>
          </a:xfrm>
          <a:prstGeom prst="rect">
            <a:avLst/>
          </a:prstGeom>
          <a:noFill/>
        </p:spPr>
        <p:txBody>
          <a:bodyPr wrap="square"/>
          <a:lstStyle/>
          <a:p>
            <a:pPr algn="l"/>
            <a:r>
              <a:rPr sz="1300" b="1">
                <a:solidFill>
                  <a:srgbClr val="325277"/>
                </a:solidFill>
                <a:latin typeface="Arial"/>
              </a:rPr>
              <a:t>Structure</a:t>
            </a:r>
          </a:p>
        </p:txBody>
      </p:sp>
      <p:sp>
        <p:nvSpPr>
          <p:cNvPr id="31" name="TextBox 30"/>
          <p:cNvSpPr txBox="1"/>
          <p:nvPr/>
        </p:nvSpPr>
        <p:spPr>
          <a:xfrm>
            <a:off x="7589520" y="2057400"/>
            <a:ext cx="3977640" cy="2331720"/>
          </a:xfrm>
          <a:prstGeom prst="rect">
            <a:avLst/>
          </a:prstGeom>
          <a:noFill/>
        </p:spPr>
        <p:txBody>
          <a:bodyPr wrap="square"/>
          <a:lstStyle/>
          <a:p>
            <a:pPr algn="l"/>
            <a:r>
              <a:rPr sz="1100" b="0">
                <a:solidFill>
                  <a:srgbClr val="595959"/>
                </a:solidFill>
                <a:latin typeface="Arial"/>
              </a:rPr>
              <a:t>Nurse Manager: Nadia Qasem
Unit Manager: Hanadi Husein Mohammad Amoorah
Nurses attached to PHC centres: Al Hamidiya 12, Al Madina 11, Mushairef 11, Al Muzeirah 5, Al Manama 3
Monthly School Health meetings minuted Feb–Aug 2026 (6)</a:t>
            </a:r>
          </a:p>
        </p:txBody>
      </p:sp>
      <p:sp>
        <p:nvSpPr>
          <p:cNvPr id="32" name="Rectangle 31"/>
          <p:cNvSpPr/>
          <p:nvPr/>
        </p:nvSpPr>
        <p:spPr>
          <a:xfrm>
            <a:off x="548640" y="470916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4709160"/>
            <a:ext cx="10911535" cy="502920"/>
          </a:xfrm>
          <a:prstGeom prst="rect">
            <a:avLst/>
          </a:prstGeom>
          <a:noFill/>
        </p:spPr>
        <p:txBody>
          <a:bodyPr wrap="square"/>
          <a:lstStyle/>
          <a:p>
            <a:pPr algn="l"/>
            <a:r>
              <a:rPr sz="1100" b="0">
                <a:solidFill>
                  <a:srgbClr val="595959"/>
                </a:solidFill>
                <a:latin typeface="Arial"/>
              </a:rPr>
              <a:t>Why it matters: School Health is 38.5% of the nursing workforce but has no line in the monthly KPI report — leadership sees its staffing, not its results.</a:t>
            </a:r>
          </a:p>
        </p:txBody>
      </p:sp>
      <p:sp>
        <p:nvSpPr>
          <p:cNvPr id="34" name="TextBox 33"/>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August Ajman PHC Nursing Profile 2026 (Profile; NQS Data Summary); School Health minutes 2026; AjmanNursing_Oversight_2026-11_Nursing_D.pptx (34 schools).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SCHOOL HEALTH NETWORK</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33 schools from kindergarten to Cycle 3</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Schools as recorded against each School Health nurse, staff profile 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16</a:t>
            </a:r>
          </a:p>
        </p:txBody>
      </p:sp>
      <p:graphicFrame>
        <p:nvGraphicFramePr>
          <p:cNvPr id="8" name="School gender mix doughnut chart"/>
          <p:cNvGraphicFramePr>
            <a:graphicFrameLocks noGrp="1"/>
          </p:cNvGraphicFramePr>
          <p:nvPr/>
        </p:nvGraphicFramePr>
        <p:xfrm>
          <a:off x="548640" y="1600200"/>
          <a:ext cx="3566160" cy="3291840"/>
        </p:xfrm>
        <a:graphic>
          <a:graphicData uri="http://schemas.openxmlformats.org/drawingml/2006/chart">
            <c:chart xmlns:c="http://schemas.openxmlformats.org/drawingml/2006/chart" r:id="rId2"/>
          </a:graphicData>
        </a:graphic>
      </p:graphicFrame>
      <p:graphicFrame>
        <p:nvGraphicFramePr>
          <p:cNvPr id="9" name="Schools by education cycle chart"/>
          <p:cNvGraphicFramePr>
            <a:graphicFrameLocks noGrp="1"/>
          </p:cNvGraphicFramePr>
          <p:nvPr/>
        </p:nvGraphicFramePr>
        <p:xfrm>
          <a:off x="4297680" y="1600200"/>
          <a:ext cx="3840480" cy="3291840"/>
        </p:xfrm>
        <a:graphic>
          <a:graphicData uri="http://schemas.openxmlformats.org/drawingml/2006/chart">
            <c:chart xmlns:c="http://schemas.openxmlformats.org/drawingml/2006/chart" r:id="rId3"/>
          </a:graphicData>
        </a:graphic>
      </p:graphicFrame>
      <p:sp>
        <p:nvSpPr>
          <p:cNvPr id="10" name="Rounded Rectangle 9"/>
          <p:cNvSpPr/>
          <p:nvPr/>
        </p:nvSpPr>
        <p:spPr>
          <a:xfrm>
            <a:off x="8366760" y="1645920"/>
            <a:ext cx="3291840" cy="324612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737360"/>
            <a:ext cx="3017520" cy="274320"/>
          </a:xfrm>
          <a:prstGeom prst="rect">
            <a:avLst/>
          </a:prstGeom>
          <a:noFill/>
        </p:spPr>
        <p:txBody>
          <a:bodyPr wrap="square"/>
          <a:lstStyle/>
          <a:p>
            <a:pPr algn="l"/>
            <a:r>
              <a:rPr sz="1300" b="1">
                <a:solidFill>
                  <a:srgbClr val="325277"/>
                </a:solidFill>
                <a:latin typeface="Arial"/>
              </a:rPr>
              <a:t>Coverage notes</a:t>
            </a:r>
          </a:p>
        </p:txBody>
      </p:sp>
      <p:sp>
        <p:nvSpPr>
          <p:cNvPr id="12" name="TextBox 11"/>
          <p:cNvSpPr txBox="1"/>
          <p:nvPr/>
        </p:nvSpPr>
        <p:spPr>
          <a:xfrm>
            <a:off x="8549640" y="2057400"/>
            <a:ext cx="3017520" cy="2743200"/>
          </a:xfrm>
          <a:prstGeom prst="rect">
            <a:avLst/>
          </a:prstGeom>
          <a:noFill/>
        </p:spPr>
        <p:txBody>
          <a:bodyPr wrap="square"/>
          <a:lstStyle/>
          <a:p>
            <a:pPr algn="l"/>
            <a:r>
              <a:rPr sz="1100" b="0">
                <a:solidFill>
                  <a:srgbClr val="595959"/>
                </a:solidFill>
                <a:latin typeface="Arial"/>
              </a:rPr>
              <a:t>19,464 students recorded across the 33 schools
Two Zayed Education Complexes staffed by 4 nurses each
2 nurses without a fixed school (cover)
Remote schools include Masfout and Al Muzeirah kindergartens</a:t>
            </a:r>
          </a:p>
        </p:txBody>
      </p:sp>
      <p:sp>
        <p:nvSpPr>
          <p:cNvPr id="13" name="Rectangle 12"/>
          <p:cNvSpPr/>
          <p:nvPr/>
        </p:nvSpPr>
        <p:spPr>
          <a:xfrm>
            <a:off x="548640" y="525780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257800"/>
            <a:ext cx="10911535" cy="502920"/>
          </a:xfrm>
          <a:prstGeom prst="rect">
            <a:avLst/>
          </a:prstGeom>
          <a:noFill/>
        </p:spPr>
        <p:txBody>
          <a:bodyPr wrap="square"/>
          <a:lstStyle/>
          <a:p>
            <a:pPr algn="l"/>
            <a:r>
              <a:rPr sz="1100" b="0">
                <a:solidFill>
                  <a:srgbClr val="595959"/>
                </a:solidFill>
                <a:latin typeface="Arial"/>
              </a:rPr>
              <a:t>Why it matters: One nurse per school is the norm; large complexes and remote kindergartens create the coverage risk when a nurse is on leave.</a:t>
            </a:r>
          </a:p>
        </p:txBody>
      </p:sp>
      <p:sp>
        <p:nvSpPr>
          <p:cNvPr id="15" name="TextBox 14"/>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August Ajman PHC Nursing Profile 2026 — Profile sheet, columns 'School Name', 'Total number of students', 'Gender of students', 'Level of Grade'.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SCHOOL HEALTH NURSING SERVICES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Prevention, screening and safe care in every school clinic</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Services evidenced in 2026 School Health meetings, action plans and the Operational Plan</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17</a:t>
            </a:r>
          </a:p>
        </p:txBody>
      </p:sp>
      <p:sp>
        <p:nvSpPr>
          <p:cNvPr id="8" name="Rounded Rectangle 7"/>
          <p:cNvSpPr/>
          <p:nvPr/>
        </p:nvSpPr>
        <p:spPr>
          <a:xfrm>
            <a:off x="54864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640" y="1725920"/>
            <a:ext cx="2451760" cy="300000"/>
          </a:xfrm>
          <a:prstGeom prst="rect">
            <a:avLst/>
          </a:prstGeom>
          <a:noFill/>
        </p:spPr>
        <p:txBody>
          <a:bodyPr wrap="square"/>
          <a:lstStyle/>
          <a:p>
            <a:pPr algn="l"/>
            <a:r>
              <a:rPr sz="1300" b="1">
                <a:solidFill>
                  <a:srgbClr val="325277"/>
                </a:solidFill>
                <a:latin typeface="Arial"/>
              </a:rPr>
              <a:t>School immunisation</a:t>
            </a:r>
          </a:p>
        </p:txBody>
      </p:sp>
      <p:sp>
        <p:nvSpPr>
          <p:cNvPr id="10" name="TextBox 9"/>
          <p:cNvSpPr txBox="1"/>
          <p:nvPr/>
        </p:nvSpPr>
        <p:spPr>
          <a:xfrm>
            <a:off x="648640" y="2025920"/>
            <a:ext cx="2451760" cy="600000"/>
          </a:xfrm>
          <a:prstGeom prst="rect">
            <a:avLst/>
          </a:prstGeom>
          <a:noFill/>
        </p:spPr>
        <p:txBody>
          <a:bodyPr wrap="square"/>
          <a:lstStyle/>
          <a:p>
            <a:pPr algn="l"/>
            <a:r>
              <a:rPr sz="1100" b="0">
                <a:solidFill>
                  <a:srgbClr val="595959"/>
                </a:solidFill>
                <a:latin typeface="Arial"/>
              </a:rPr>
              <a:t>EPI schedule; HPV two-dose course for students under 15; meningococcal vaccine by age group</a:t>
            </a:r>
          </a:p>
        </p:txBody>
      </p:sp>
      <p:sp>
        <p:nvSpPr>
          <p:cNvPr id="11" name="Rounded Rectangle 10"/>
          <p:cNvSpPr/>
          <p:nvPr/>
        </p:nvSpPr>
        <p:spPr>
          <a:xfrm>
            <a:off x="64864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640" y="2875920"/>
            <a:ext cx="1400000" cy="220000"/>
          </a:xfrm>
          <a:prstGeom prst="rect">
            <a:avLst/>
          </a:prstGeom>
          <a:noFill/>
        </p:spPr>
        <p:txBody>
          <a:bodyPr wrap="square"/>
          <a:lstStyle/>
          <a:p>
            <a:pPr algn="ctr"/>
            <a:r>
              <a:rPr sz="900" b="0">
                <a:solidFill>
                  <a:srgbClr val="FFFFFF"/>
                </a:solidFill>
                <a:latin typeface="Arial"/>
              </a:rPr>
              <a:t>Op Plan obj. 14</a:t>
            </a:r>
          </a:p>
        </p:txBody>
      </p:sp>
      <p:sp>
        <p:nvSpPr>
          <p:cNvPr id="13" name="Rounded Rectangle 12"/>
          <p:cNvSpPr/>
          <p:nvPr/>
        </p:nvSpPr>
        <p:spPr>
          <a:xfrm>
            <a:off x="338040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0400" y="1725920"/>
            <a:ext cx="2451760" cy="300000"/>
          </a:xfrm>
          <a:prstGeom prst="rect">
            <a:avLst/>
          </a:prstGeom>
          <a:noFill/>
        </p:spPr>
        <p:txBody>
          <a:bodyPr wrap="square"/>
          <a:lstStyle/>
          <a:p>
            <a:pPr algn="l"/>
            <a:r>
              <a:rPr sz="1300" b="1">
                <a:solidFill>
                  <a:srgbClr val="325277"/>
                </a:solidFill>
                <a:latin typeface="Arial"/>
              </a:rPr>
              <a:t>Health screening</a:t>
            </a:r>
          </a:p>
        </p:txBody>
      </p:sp>
      <p:sp>
        <p:nvSpPr>
          <p:cNvPr id="15" name="TextBox 14"/>
          <p:cNvSpPr txBox="1"/>
          <p:nvPr/>
        </p:nvSpPr>
        <p:spPr>
          <a:xfrm>
            <a:off x="3480400" y="2025920"/>
            <a:ext cx="2451760" cy="600000"/>
          </a:xfrm>
          <a:prstGeom prst="rect">
            <a:avLst/>
          </a:prstGeom>
          <a:noFill/>
        </p:spPr>
        <p:txBody>
          <a:bodyPr wrap="square"/>
          <a:lstStyle/>
          <a:p>
            <a:pPr algn="l"/>
            <a:r>
              <a:rPr sz="1100" b="0">
                <a:solidFill>
                  <a:srgbClr val="595959"/>
                </a:solidFill>
                <a:latin typeface="Arial"/>
              </a:rPr>
              <a:t>Vision, hearing, BMI, dental; ADHD screening for suspected cases; anaemia follow-up</a:t>
            </a:r>
          </a:p>
        </p:txBody>
      </p:sp>
      <p:sp>
        <p:nvSpPr>
          <p:cNvPr id="16" name="Rounded Rectangle 15"/>
          <p:cNvSpPr/>
          <p:nvPr/>
        </p:nvSpPr>
        <p:spPr>
          <a:xfrm>
            <a:off x="348040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80400" y="2875920"/>
            <a:ext cx="1400000" cy="220000"/>
          </a:xfrm>
          <a:prstGeom prst="rect">
            <a:avLst/>
          </a:prstGeom>
          <a:noFill/>
        </p:spPr>
        <p:txBody>
          <a:bodyPr wrap="square"/>
          <a:lstStyle/>
          <a:p>
            <a:pPr algn="ctr"/>
            <a:r>
              <a:rPr sz="900" b="0">
                <a:solidFill>
                  <a:srgbClr val="FFFFFF"/>
                </a:solidFill>
                <a:latin typeface="Arial"/>
              </a:rPr>
              <a:t>Op Plan obj. 15</a:t>
            </a:r>
          </a:p>
        </p:txBody>
      </p:sp>
      <p:sp>
        <p:nvSpPr>
          <p:cNvPr id="18" name="Rounded Rectangle 17"/>
          <p:cNvSpPr/>
          <p:nvPr/>
        </p:nvSpPr>
        <p:spPr>
          <a:xfrm>
            <a:off x="621216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2160" y="1725920"/>
            <a:ext cx="2451760" cy="300000"/>
          </a:xfrm>
          <a:prstGeom prst="rect">
            <a:avLst/>
          </a:prstGeom>
          <a:noFill/>
        </p:spPr>
        <p:txBody>
          <a:bodyPr wrap="square"/>
          <a:lstStyle/>
          <a:p>
            <a:pPr algn="l"/>
            <a:r>
              <a:rPr sz="1300" b="1">
                <a:solidFill>
                  <a:srgbClr val="325277"/>
                </a:solidFill>
                <a:latin typeface="Arial"/>
              </a:rPr>
              <a:t>Annual physical examination</a:t>
            </a:r>
          </a:p>
        </p:txBody>
      </p:sp>
      <p:sp>
        <p:nvSpPr>
          <p:cNvPr id="20" name="TextBox 19"/>
          <p:cNvSpPr txBox="1"/>
          <p:nvPr/>
        </p:nvSpPr>
        <p:spPr>
          <a:xfrm>
            <a:off x="6312160" y="2025920"/>
            <a:ext cx="2451760" cy="600000"/>
          </a:xfrm>
          <a:prstGeom prst="rect">
            <a:avLst/>
          </a:prstGeom>
          <a:noFill/>
        </p:spPr>
        <p:txBody>
          <a:bodyPr wrap="square"/>
          <a:lstStyle/>
          <a:p>
            <a:pPr algn="l"/>
            <a:r>
              <a:rPr sz="1100" b="0">
                <a:solidFill>
                  <a:srgbClr val="595959"/>
                </a:solidFill>
                <a:latin typeface="Arial"/>
              </a:rPr>
              <a:t>Completion followed up with each school nurse (May 2026 review)</a:t>
            </a:r>
          </a:p>
        </p:txBody>
      </p:sp>
      <p:sp>
        <p:nvSpPr>
          <p:cNvPr id="21" name="Rounded Rectangle 20"/>
          <p:cNvSpPr/>
          <p:nvPr/>
        </p:nvSpPr>
        <p:spPr>
          <a:xfrm>
            <a:off x="631216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2160" y="2875920"/>
            <a:ext cx="1400000" cy="220000"/>
          </a:xfrm>
          <a:prstGeom prst="rect">
            <a:avLst/>
          </a:prstGeom>
          <a:noFill/>
        </p:spPr>
        <p:txBody>
          <a:bodyPr wrap="square"/>
          <a:lstStyle/>
          <a:p>
            <a:pPr algn="ctr"/>
            <a:r>
              <a:rPr sz="900" b="0">
                <a:solidFill>
                  <a:srgbClr val="FFFFFF"/>
                </a:solidFill>
                <a:latin typeface="Arial"/>
              </a:rPr>
              <a:t>MOM May 2026</a:t>
            </a:r>
          </a:p>
        </p:txBody>
      </p:sp>
      <p:sp>
        <p:nvSpPr>
          <p:cNvPr id="23" name="Rounded Rectangle 22"/>
          <p:cNvSpPr/>
          <p:nvPr/>
        </p:nvSpPr>
        <p:spPr>
          <a:xfrm>
            <a:off x="9043920" y="164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20" y="1725920"/>
            <a:ext cx="2451760" cy="300000"/>
          </a:xfrm>
          <a:prstGeom prst="rect">
            <a:avLst/>
          </a:prstGeom>
          <a:noFill/>
        </p:spPr>
        <p:txBody>
          <a:bodyPr wrap="square"/>
          <a:lstStyle/>
          <a:p>
            <a:pPr algn="l"/>
            <a:r>
              <a:rPr sz="1300" b="1">
                <a:solidFill>
                  <a:srgbClr val="325277"/>
                </a:solidFill>
                <a:latin typeface="Arial"/>
              </a:rPr>
              <a:t>Chronic conditions</a:t>
            </a:r>
          </a:p>
        </p:txBody>
      </p:sp>
      <p:sp>
        <p:nvSpPr>
          <p:cNvPr id="25" name="TextBox 24"/>
          <p:cNvSpPr txBox="1"/>
          <p:nvPr/>
        </p:nvSpPr>
        <p:spPr>
          <a:xfrm>
            <a:off x="9143920" y="2025920"/>
            <a:ext cx="2451760" cy="600000"/>
          </a:xfrm>
          <a:prstGeom prst="rect">
            <a:avLst/>
          </a:prstGeom>
          <a:noFill/>
        </p:spPr>
        <p:txBody>
          <a:bodyPr wrap="square"/>
          <a:lstStyle/>
          <a:p>
            <a:pPr algn="l"/>
            <a:r>
              <a:rPr sz="1100" b="0">
                <a:solidFill>
                  <a:srgbClr val="595959"/>
                </a:solidFill>
                <a:latin typeface="Arial"/>
              </a:rPr>
              <a:t>Diabetic student form and care arrangements</a:t>
            </a:r>
          </a:p>
        </p:txBody>
      </p:sp>
      <p:sp>
        <p:nvSpPr>
          <p:cNvPr id="26" name="Rounded Rectangle 25"/>
          <p:cNvSpPr/>
          <p:nvPr/>
        </p:nvSpPr>
        <p:spPr>
          <a:xfrm>
            <a:off x="9143920" y="287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3920" y="2875920"/>
            <a:ext cx="1400000" cy="220000"/>
          </a:xfrm>
          <a:prstGeom prst="rect">
            <a:avLst/>
          </a:prstGeom>
          <a:noFill/>
        </p:spPr>
        <p:txBody>
          <a:bodyPr wrap="square"/>
          <a:lstStyle/>
          <a:p>
            <a:pPr algn="ctr"/>
            <a:r>
              <a:rPr sz="900" b="0">
                <a:solidFill>
                  <a:srgbClr val="FFFFFF"/>
                </a:solidFill>
                <a:latin typeface="Arial"/>
              </a:rPr>
              <a:t>MOM Aug 2026</a:t>
            </a:r>
          </a:p>
        </p:txBody>
      </p:sp>
      <p:sp>
        <p:nvSpPr>
          <p:cNvPr id="28" name="Rounded Rectangle 27"/>
          <p:cNvSpPr/>
          <p:nvPr/>
        </p:nvSpPr>
        <p:spPr>
          <a:xfrm>
            <a:off x="54864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640" y="3405920"/>
            <a:ext cx="2451760" cy="300000"/>
          </a:xfrm>
          <a:prstGeom prst="rect">
            <a:avLst/>
          </a:prstGeom>
          <a:noFill/>
        </p:spPr>
        <p:txBody>
          <a:bodyPr wrap="square"/>
          <a:lstStyle/>
          <a:p>
            <a:pPr algn="l"/>
            <a:r>
              <a:rPr sz="1300" b="1">
                <a:solidFill>
                  <a:srgbClr val="325277"/>
                </a:solidFill>
                <a:latin typeface="Arial"/>
              </a:rPr>
              <a:t>Emergency readiness</a:t>
            </a:r>
          </a:p>
        </p:txBody>
      </p:sp>
      <p:sp>
        <p:nvSpPr>
          <p:cNvPr id="30" name="TextBox 29"/>
          <p:cNvSpPr txBox="1"/>
          <p:nvPr/>
        </p:nvSpPr>
        <p:spPr>
          <a:xfrm>
            <a:off x="648640" y="3705920"/>
            <a:ext cx="2451760" cy="600000"/>
          </a:xfrm>
          <a:prstGeom prst="rect">
            <a:avLst/>
          </a:prstGeom>
          <a:noFill/>
        </p:spPr>
        <p:txBody>
          <a:bodyPr wrap="square"/>
          <a:lstStyle/>
          <a:p>
            <a:pPr algn="l"/>
            <a:r>
              <a:rPr sz="1100" b="0">
                <a:solidFill>
                  <a:srgbClr val="595959"/>
                </a:solidFill>
                <a:latin typeface="Arial"/>
              </a:rPr>
              <a:t>Emergency-medication stock checks; clinic readiness visits</a:t>
            </a:r>
          </a:p>
        </p:txBody>
      </p:sp>
      <p:sp>
        <p:nvSpPr>
          <p:cNvPr id="31" name="Rounded Rectangle 30"/>
          <p:cNvSpPr/>
          <p:nvPr/>
        </p:nvSpPr>
        <p:spPr>
          <a:xfrm>
            <a:off x="64864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8640" y="4555920"/>
            <a:ext cx="1400000" cy="220000"/>
          </a:xfrm>
          <a:prstGeom prst="rect">
            <a:avLst/>
          </a:prstGeom>
          <a:noFill/>
        </p:spPr>
        <p:txBody>
          <a:bodyPr wrap="square"/>
          <a:lstStyle/>
          <a:p>
            <a:pPr algn="ctr"/>
            <a:r>
              <a:rPr sz="900" b="0">
                <a:solidFill>
                  <a:srgbClr val="FFFFFF"/>
                </a:solidFill>
                <a:latin typeface="Arial"/>
              </a:rPr>
              <a:t>Action plan 2026</a:t>
            </a:r>
          </a:p>
        </p:txBody>
      </p:sp>
      <p:sp>
        <p:nvSpPr>
          <p:cNvPr id="33" name="Rounded Rectangle 32"/>
          <p:cNvSpPr/>
          <p:nvPr/>
        </p:nvSpPr>
        <p:spPr>
          <a:xfrm>
            <a:off x="338040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80400" y="3405920"/>
            <a:ext cx="2451760" cy="300000"/>
          </a:xfrm>
          <a:prstGeom prst="rect">
            <a:avLst/>
          </a:prstGeom>
          <a:noFill/>
        </p:spPr>
        <p:txBody>
          <a:bodyPr wrap="square"/>
          <a:lstStyle/>
          <a:p>
            <a:pPr algn="l"/>
            <a:r>
              <a:rPr sz="1300" b="1">
                <a:solidFill>
                  <a:srgbClr val="325277"/>
                </a:solidFill>
                <a:latin typeface="Arial"/>
              </a:rPr>
              <a:t>Consent management</a:t>
            </a:r>
          </a:p>
        </p:txBody>
      </p:sp>
      <p:sp>
        <p:nvSpPr>
          <p:cNvPr id="35" name="TextBox 34"/>
          <p:cNvSpPr txBox="1"/>
          <p:nvPr/>
        </p:nvSpPr>
        <p:spPr>
          <a:xfrm>
            <a:off x="3480400" y="3705920"/>
            <a:ext cx="2451760" cy="600000"/>
          </a:xfrm>
          <a:prstGeom prst="rect">
            <a:avLst/>
          </a:prstGeom>
          <a:noFill/>
        </p:spPr>
        <p:txBody>
          <a:bodyPr wrap="square"/>
          <a:lstStyle/>
          <a:p>
            <a:pPr algn="l"/>
            <a:r>
              <a:rPr sz="1100" b="0">
                <a:solidFill>
                  <a:srgbClr val="595959"/>
                </a:solidFill>
                <a:latin typeface="Arial"/>
              </a:rPr>
              <a:t>Consent distribution, reminders and electronic consent</a:t>
            </a:r>
          </a:p>
        </p:txBody>
      </p:sp>
      <p:sp>
        <p:nvSpPr>
          <p:cNvPr id="36" name="Rounded Rectangle 35"/>
          <p:cNvSpPr/>
          <p:nvPr/>
        </p:nvSpPr>
        <p:spPr>
          <a:xfrm>
            <a:off x="348040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80400" y="4555920"/>
            <a:ext cx="1400000" cy="220000"/>
          </a:xfrm>
          <a:prstGeom prst="rect">
            <a:avLst/>
          </a:prstGeom>
          <a:noFill/>
        </p:spPr>
        <p:txBody>
          <a:bodyPr wrap="square"/>
          <a:lstStyle/>
          <a:p>
            <a:pPr algn="ctr"/>
            <a:r>
              <a:rPr sz="900" b="0">
                <a:solidFill>
                  <a:srgbClr val="FFFFFF"/>
                </a:solidFill>
                <a:latin typeface="Arial"/>
              </a:rPr>
              <a:t>Action plan 2026</a:t>
            </a:r>
          </a:p>
        </p:txBody>
      </p:sp>
      <p:sp>
        <p:nvSpPr>
          <p:cNvPr id="38" name="Rounded Rectangle 37"/>
          <p:cNvSpPr/>
          <p:nvPr/>
        </p:nvSpPr>
        <p:spPr>
          <a:xfrm>
            <a:off x="621216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2160" y="3405920"/>
            <a:ext cx="2451760" cy="300000"/>
          </a:xfrm>
          <a:prstGeom prst="rect">
            <a:avLst/>
          </a:prstGeom>
          <a:noFill/>
        </p:spPr>
        <p:txBody>
          <a:bodyPr wrap="square"/>
          <a:lstStyle/>
          <a:p>
            <a:pPr algn="l"/>
            <a:r>
              <a:rPr sz="1300" b="1">
                <a:solidFill>
                  <a:srgbClr val="325277"/>
                </a:solidFill>
                <a:latin typeface="Arial"/>
              </a:rPr>
              <a:t>Health education</a:t>
            </a:r>
          </a:p>
        </p:txBody>
      </p:sp>
      <p:sp>
        <p:nvSpPr>
          <p:cNvPr id="40" name="TextBox 39"/>
          <p:cNvSpPr txBox="1"/>
          <p:nvPr/>
        </p:nvSpPr>
        <p:spPr>
          <a:xfrm>
            <a:off x="6312160" y="3705920"/>
            <a:ext cx="2451760" cy="600000"/>
          </a:xfrm>
          <a:prstGeom prst="rect">
            <a:avLst/>
          </a:prstGeom>
          <a:noFill/>
        </p:spPr>
        <p:txBody>
          <a:bodyPr wrap="square"/>
          <a:lstStyle/>
          <a:p>
            <a:pPr algn="l"/>
            <a:r>
              <a:rPr sz="1100" b="0">
                <a:solidFill>
                  <a:srgbClr val="595959"/>
                </a:solidFill>
                <a:latin typeface="Arial"/>
              </a:rPr>
              <a:t>HPV awareness to parents via official channels</a:t>
            </a:r>
          </a:p>
        </p:txBody>
      </p:sp>
      <p:sp>
        <p:nvSpPr>
          <p:cNvPr id="41" name="Rounded Rectangle 40"/>
          <p:cNvSpPr/>
          <p:nvPr/>
        </p:nvSpPr>
        <p:spPr>
          <a:xfrm>
            <a:off x="631216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2160" y="4555920"/>
            <a:ext cx="1400000" cy="220000"/>
          </a:xfrm>
          <a:prstGeom prst="rect">
            <a:avLst/>
          </a:prstGeom>
          <a:noFill/>
        </p:spPr>
        <p:txBody>
          <a:bodyPr wrap="square"/>
          <a:lstStyle/>
          <a:p>
            <a:pPr algn="ctr"/>
            <a:r>
              <a:rPr sz="900" b="0">
                <a:solidFill>
                  <a:srgbClr val="FFFFFF"/>
                </a:solidFill>
                <a:latin typeface="Arial"/>
              </a:rPr>
              <a:t>MOM Feb 2026</a:t>
            </a:r>
          </a:p>
        </p:txBody>
      </p:sp>
      <p:sp>
        <p:nvSpPr>
          <p:cNvPr id="43" name="Rounded Rectangle 42"/>
          <p:cNvSpPr/>
          <p:nvPr/>
        </p:nvSpPr>
        <p:spPr>
          <a:xfrm>
            <a:off x="9043920" y="3325920"/>
            <a:ext cx="2651760" cy="155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3920" y="3405920"/>
            <a:ext cx="2451760" cy="300000"/>
          </a:xfrm>
          <a:prstGeom prst="rect">
            <a:avLst/>
          </a:prstGeom>
          <a:noFill/>
        </p:spPr>
        <p:txBody>
          <a:bodyPr wrap="square"/>
          <a:lstStyle/>
          <a:p>
            <a:pPr algn="l"/>
            <a:r>
              <a:rPr sz="1300" b="1">
                <a:solidFill>
                  <a:srgbClr val="325277"/>
                </a:solidFill>
                <a:latin typeface="Arial"/>
              </a:rPr>
              <a:t>Referral &amp; follow-up</a:t>
            </a:r>
          </a:p>
        </p:txBody>
      </p:sp>
      <p:sp>
        <p:nvSpPr>
          <p:cNvPr id="45" name="TextBox 44"/>
          <p:cNvSpPr txBox="1"/>
          <p:nvPr/>
        </p:nvSpPr>
        <p:spPr>
          <a:xfrm>
            <a:off x="9143920" y="3705920"/>
            <a:ext cx="2451760" cy="600000"/>
          </a:xfrm>
          <a:prstGeom prst="rect">
            <a:avLst/>
          </a:prstGeom>
          <a:noFill/>
        </p:spPr>
        <p:txBody>
          <a:bodyPr wrap="square"/>
          <a:lstStyle/>
          <a:p>
            <a:pPr algn="l"/>
            <a:r>
              <a:rPr sz="1100" b="0">
                <a:solidFill>
                  <a:srgbClr val="595959"/>
                </a:solidFill>
                <a:latin typeface="Arial"/>
              </a:rPr>
              <a:t>At-risk students referred and followed up — target ≥90%</a:t>
            </a:r>
          </a:p>
        </p:txBody>
      </p:sp>
      <p:sp>
        <p:nvSpPr>
          <p:cNvPr id="46" name="Rounded Rectangle 45"/>
          <p:cNvSpPr/>
          <p:nvPr/>
        </p:nvSpPr>
        <p:spPr>
          <a:xfrm>
            <a:off x="9143920" y="4555920"/>
            <a:ext cx="1400000" cy="220000"/>
          </a:xfrm>
          <a:prstGeom prst="roundRect">
            <a:avLst>
              <a:gd name="adj" fmla="val 5000"/>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3920" y="4555920"/>
            <a:ext cx="1400000" cy="220000"/>
          </a:xfrm>
          <a:prstGeom prst="rect">
            <a:avLst/>
          </a:prstGeom>
          <a:noFill/>
        </p:spPr>
        <p:txBody>
          <a:bodyPr wrap="square"/>
          <a:lstStyle/>
          <a:p>
            <a:pPr algn="ctr"/>
            <a:r>
              <a:rPr sz="900" b="0">
                <a:solidFill>
                  <a:srgbClr val="FFFFFF"/>
                </a:solidFill>
                <a:latin typeface="Arial"/>
              </a:rPr>
              <a:t>Op Plan obj. 15</a:t>
            </a:r>
          </a:p>
        </p:txBody>
      </p:sp>
      <p:sp>
        <p:nvSpPr>
          <p:cNvPr id="48" name="Rectangle 47"/>
          <p:cNvSpPr/>
          <p:nvPr/>
        </p:nvSpPr>
        <p:spPr>
          <a:xfrm>
            <a:off x="548640" y="544068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3232" y="5440680"/>
            <a:ext cx="10911535" cy="502920"/>
          </a:xfrm>
          <a:prstGeom prst="rect">
            <a:avLst/>
          </a:prstGeom>
          <a:noFill/>
        </p:spPr>
        <p:txBody>
          <a:bodyPr wrap="square"/>
          <a:lstStyle/>
          <a:p>
            <a:pPr algn="l"/>
            <a:r>
              <a:rPr sz="1100" b="0">
                <a:solidFill>
                  <a:srgbClr val="595959"/>
                </a:solidFill>
                <a:latin typeface="Arial"/>
              </a:rPr>
              <a:t>Why it matters: School nurses deliver the network's largest prevention programme; vaccination and screening are where population-health coverage targets are won or lost.</a:t>
            </a:r>
          </a:p>
        </p:txBody>
      </p:sp>
      <p:sp>
        <p:nvSpPr>
          <p:cNvPr id="50" name="TextBox 49"/>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School Health MOMs 06 Feb, 15 May, 26 Aug 2026; SH_01/SH_02/SH_03 action plans 2026; Nursing Operational Plan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SCHOOL HEALTH ANNUAL CYCLE</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An academic-year rhythm that also supports PHC in the summer</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Compiled from 2026 School Health minutes and the 2026 Operational Plan</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18</a:t>
            </a:r>
          </a:p>
        </p:txBody>
      </p:sp>
      <p:sp>
        <p:nvSpPr>
          <p:cNvPr id="8" name="Rounded Rectangle 7"/>
          <p:cNvSpPr/>
          <p:nvPr/>
        </p:nvSpPr>
        <p:spPr>
          <a:xfrm>
            <a:off x="548640" y="1737360"/>
            <a:ext cx="2148840" cy="86868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37360"/>
            <a:ext cx="2148840" cy="868680"/>
          </a:xfrm>
          <a:prstGeom prst="rect">
            <a:avLst/>
          </a:prstGeom>
          <a:noFill/>
        </p:spPr>
        <p:txBody>
          <a:bodyPr wrap="square"/>
          <a:lstStyle/>
          <a:p>
            <a:pPr algn="ctr"/>
            <a:r>
              <a:rPr sz="1400" b="1">
                <a:solidFill>
                  <a:srgbClr val="FFFFFF"/>
                </a:solidFill>
                <a:latin typeface="Arial"/>
              </a:rPr>
              <a:t>Late Aug</a:t>
            </a:r>
          </a:p>
        </p:txBody>
      </p:sp>
      <p:sp>
        <p:nvSpPr>
          <p:cNvPr id="10" name="Rounded Rectangle 9"/>
          <p:cNvSpPr/>
          <p:nvPr/>
        </p:nvSpPr>
        <p:spPr>
          <a:xfrm>
            <a:off x="548640" y="2697480"/>
            <a:ext cx="214884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640" y="2788920"/>
            <a:ext cx="1988840" cy="1600200"/>
          </a:xfrm>
          <a:prstGeom prst="rect">
            <a:avLst/>
          </a:prstGeom>
          <a:noFill/>
        </p:spPr>
        <p:txBody>
          <a:bodyPr wrap="square"/>
          <a:lstStyle/>
          <a:p>
            <a:pPr algn="l"/>
            <a:r>
              <a:rPr sz="1100" b="0">
                <a:solidFill>
                  <a:srgbClr val="595959"/>
                </a:solidFill>
                <a:latin typeface="Arial"/>
              </a:rPr>
              <a:t>Nurses return to schools (26 Aug); clinics ready by 31 Aug; readiness visits</a:t>
            </a:r>
          </a:p>
        </p:txBody>
      </p:sp>
      <p:sp>
        <p:nvSpPr>
          <p:cNvPr id="12" name="Rounded Rectangle 11"/>
          <p:cNvSpPr/>
          <p:nvPr/>
        </p:nvSpPr>
        <p:spPr>
          <a:xfrm>
            <a:off x="2779480" y="1737360"/>
            <a:ext cx="2148840" cy="86868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79480" y="1737360"/>
            <a:ext cx="2148840" cy="868680"/>
          </a:xfrm>
          <a:prstGeom prst="rect">
            <a:avLst/>
          </a:prstGeom>
          <a:noFill/>
        </p:spPr>
        <p:txBody>
          <a:bodyPr wrap="square"/>
          <a:lstStyle/>
          <a:p>
            <a:pPr algn="ctr"/>
            <a:r>
              <a:rPr sz="1400" b="1">
                <a:solidFill>
                  <a:srgbClr val="FFFFFF"/>
                </a:solidFill>
                <a:latin typeface="Arial"/>
              </a:rPr>
              <a:t>Term 1
Sep–Dec</a:t>
            </a:r>
          </a:p>
        </p:txBody>
      </p:sp>
      <p:sp>
        <p:nvSpPr>
          <p:cNvPr id="14" name="Rounded Rectangle 13"/>
          <p:cNvSpPr/>
          <p:nvPr/>
        </p:nvSpPr>
        <p:spPr>
          <a:xfrm>
            <a:off x="2779480" y="2697480"/>
            <a:ext cx="214884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9480" y="2788920"/>
            <a:ext cx="1988840" cy="1600200"/>
          </a:xfrm>
          <a:prstGeom prst="rect">
            <a:avLst/>
          </a:prstGeom>
          <a:noFill/>
        </p:spPr>
        <p:txBody>
          <a:bodyPr wrap="square"/>
          <a:lstStyle/>
          <a:p>
            <a:pPr algn="l"/>
            <a:r>
              <a:rPr sz="1100" b="0">
                <a:solidFill>
                  <a:srgbClr val="595959"/>
                </a:solidFill>
                <a:latin typeface="Arial"/>
              </a:rPr>
              <a:t>Consent distribution; term screening; vaccination sessions; HPV 2nd dose Grade 9 from Oct</a:t>
            </a:r>
          </a:p>
        </p:txBody>
      </p:sp>
      <p:sp>
        <p:nvSpPr>
          <p:cNvPr id="16" name="Rounded Rectangle 15"/>
          <p:cNvSpPr/>
          <p:nvPr/>
        </p:nvSpPr>
        <p:spPr>
          <a:xfrm>
            <a:off x="5010320" y="1737360"/>
            <a:ext cx="2148840" cy="86868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0320" y="1737360"/>
            <a:ext cx="2148840" cy="868680"/>
          </a:xfrm>
          <a:prstGeom prst="rect">
            <a:avLst/>
          </a:prstGeom>
          <a:noFill/>
        </p:spPr>
        <p:txBody>
          <a:bodyPr wrap="square"/>
          <a:lstStyle/>
          <a:p>
            <a:pPr algn="ctr"/>
            <a:r>
              <a:rPr sz="1400" b="1">
                <a:solidFill>
                  <a:srgbClr val="FFFFFF"/>
                </a:solidFill>
                <a:latin typeface="Arial"/>
              </a:rPr>
              <a:t>Term 2
Jan–Mar</a:t>
            </a:r>
          </a:p>
        </p:txBody>
      </p:sp>
      <p:sp>
        <p:nvSpPr>
          <p:cNvPr id="18" name="Rounded Rectangle 17"/>
          <p:cNvSpPr/>
          <p:nvPr/>
        </p:nvSpPr>
        <p:spPr>
          <a:xfrm>
            <a:off x="5010320" y="2697480"/>
            <a:ext cx="214884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90320" y="2788920"/>
            <a:ext cx="1988840" cy="1600200"/>
          </a:xfrm>
          <a:prstGeom prst="rect">
            <a:avLst/>
          </a:prstGeom>
          <a:noFill/>
        </p:spPr>
        <p:txBody>
          <a:bodyPr wrap="square"/>
          <a:lstStyle/>
          <a:p>
            <a:pPr algn="l"/>
            <a:r>
              <a:rPr sz="1100" b="0">
                <a:solidFill>
                  <a:srgbClr val="595959"/>
                </a:solidFill>
                <a:latin typeface="Arial"/>
              </a:rPr>
              <a:t>Screening per term; HPV awareness; KPI and statistics review</a:t>
            </a:r>
          </a:p>
        </p:txBody>
      </p:sp>
      <p:sp>
        <p:nvSpPr>
          <p:cNvPr id="20" name="Rounded Rectangle 19"/>
          <p:cNvSpPr/>
          <p:nvPr/>
        </p:nvSpPr>
        <p:spPr>
          <a:xfrm>
            <a:off x="7241160" y="1737360"/>
            <a:ext cx="2148840" cy="86868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1160" y="1737360"/>
            <a:ext cx="2148840" cy="868680"/>
          </a:xfrm>
          <a:prstGeom prst="rect">
            <a:avLst/>
          </a:prstGeom>
          <a:noFill/>
        </p:spPr>
        <p:txBody>
          <a:bodyPr wrap="square"/>
          <a:lstStyle/>
          <a:p>
            <a:pPr algn="ctr"/>
            <a:r>
              <a:rPr sz="1400" b="1">
                <a:solidFill>
                  <a:srgbClr val="FFFFFF"/>
                </a:solidFill>
                <a:latin typeface="Arial"/>
              </a:rPr>
              <a:t>Term 3
Apr–Jun</a:t>
            </a:r>
          </a:p>
        </p:txBody>
      </p:sp>
      <p:sp>
        <p:nvSpPr>
          <p:cNvPr id="22" name="Rounded Rectangle 21"/>
          <p:cNvSpPr/>
          <p:nvPr/>
        </p:nvSpPr>
        <p:spPr>
          <a:xfrm>
            <a:off x="7241160" y="2697480"/>
            <a:ext cx="214884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21160" y="2788920"/>
            <a:ext cx="1988840" cy="1600200"/>
          </a:xfrm>
          <a:prstGeom prst="rect">
            <a:avLst/>
          </a:prstGeom>
          <a:noFill/>
        </p:spPr>
        <p:txBody>
          <a:bodyPr wrap="square"/>
          <a:lstStyle/>
          <a:p>
            <a:pPr algn="l"/>
            <a:r>
              <a:rPr sz="1100" b="0">
                <a:solidFill>
                  <a:srgbClr val="595959"/>
                </a:solidFill>
                <a:latin typeface="Arial"/>
              </a:rPr>
              <a:t>Finish pending vaccines; annual physical exams; KPI finalised (May); action plans (Jun)</a:t>
            </a:r>
          </a:p>
        </p:txBody>
      </p:sp>
      <p:sp>
        <p:nvSpPr>
          <p:cNvPr id="24" name="Rounded Rectangle 23"/>
          <p:cNvSpPr/>
          <p:nvPr/>
        </p:nvSpPr>
        <p:spPr>
          <a:xfrm>
            <a:off x="9472000" y="1737360"/>
            <a:ext cx="2148840" cy="86868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72000" y="1737360"/>
            <a:ext cx="2148840" cy="868680"/>
          </a:xfrm>
          <a:prstGeom prst="rect">
            <a:avLst/>
          </a:prstGeom>
          <a:noFill/>
        </p:spPr>
        <p:txBody>
          <a:bodyPr wrap="square"/>
          <a:lstStyle/>
          <a:p>
            <a:pPr algn="ctr"/>
            <a:r>
              <a:rPr sz="1400" b="1">
                <a:solidFill>
                  <a:srgbClr val="FFFFFF"/>
                </a:solidFill>
                <a:latin typeface="Arial"/>
              </a:rPr>
              <a:t>Summer
Jul–Aug</a:t>
            </a:r>
          </a:p>
        </p:txBody>
      </p:sp>
      <p:sp>
        <p:nvSpPr>
          <p:cNvPr id="26" name="Rounded Rectangle 25"/>
          <p:cNvSpPr/>
          <p:nvPr/>
        </p:nvSpPr>
        <p:spPr>
          <a:xfrm>
            <a:off x="9472000" y="2697480"/>
            <a:ext cx="2148840" cy="173736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52000" y="2788920"/>
            <a:ext cx="1988840" cy="1600200"/>
          </a:xfrm>
          <a:prstGeom prst="rect">
            <a:avLst/>
          </a:prstGeom>
          <a:noFill/>
        </p:spPr>
        <p:txBody>
          <a:bodyPr wrap="square"/>
          <a:lstStyle/>
          <a:p>
            <a:pPr algn="l"/>
            <a:r>
              <a:rPr sz="1100" b="0">
                <a:solidFill>
                  <a:srgbClr val="595959"/>
                </a:solidFill>
                <a:latin typeface="Arial"/>
              </a:rPr>
              <a:t>School nurses join PHC centres (from 20 Jul) — cover and training</a:t>
            </a:r>
          </a:p>
        </p:txBody>
      </p:sp>
      <p:sp>
        <p:nvSpPr>
          <p:cNvPr id="28" name="Rectangle 27"/>
          <p:cNvSpPr/>
          <p:nvPr/>
        </p:nvSpPr>
        <p:spPr>
          <a:xfrm>
            <a:off x="548640" y="4572000"/>
            <a:ext cx="11091672" cy="457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681728"/>
            <a:ext cx="11091672" cy="320040"/>
          </a:xfrm>
          <a:prstGeom prst="rect">
            <a:avLst/>
          </a:prstGeom>
          <a:noFill/>
        </p:spPr>
        <p:txBody>
          <a:bodyPr wrap="square"/>
          <a:lstStyle/>
          <a:p>
            <a:pPr algn="ctr"/>
            <a:r>
              <a:rPr sz="1200" b="1">
                <a:solidFill>
                  <a:srgbClr val="325277"/>
                </a:solidFill>
                <a:latin typeface="Arial"/>
              </a:rPr>
              <a:t>Every month: School Health meeting · statistics update · KPI review with each school nurse</a:t>
            </a:r>
          </a:p>
        </p:txBody>
      </p:sp>
      <p:sp>
        <p:nvSpPr>
          <p:cNvPr id="30" name="Rectangle 29"/>
          <p:cNvSpPr/>
          <p:nvPr/>
        </p:nvSpPr>
        <p:spPr>
          <a:xfrm>
            <a:off x="548640" y="53492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349240"/>
            <a:ext cx="10911535" cy="502920"/>
          </a:xfrm>
          <a:prstGeom prst="rect">
            <a:avLst/>
          </a:prstGeom>
          <a:noFill/>
        </p:spPr>
        <p:txBody>
          <a:bodyPr wrap="square"/>
          <a:lstStyle/>
          <a:p>
            <a:pPr algn="l"/>
            <a:r>
              <a:rPr sz="1100" b="0">
                <a:solidFill>
                  <a:srgbClr val="595959"/>
                </a:solidFill>
                <a:latin typeface="Arial"/>
              </a:rPr>
              <a:t>Why it matters: The summer redeployment is a built-in workforce reserve for PHC; the September start is the peak risk window — readiness visits need to close gaps before students return.</a:t>
            </a:r>
          </a:p>
        </p:txBody>
      </p:sp>
      <p:sp>
        <p:nvSpPr>
          <p:cNvPr id="32" name="TextBox 3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School Health MOMs 06 Feb, 24 Apr, 15 May, 17 Jun, 17 Jul, 26 Aug 2026; Nursing Operational Plan 2026 (screening schedule); Staff Coverage MOM 20 Jul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SCHOOL HEALTH PERFORMANCE</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Strong people results; vaccination coverage below target</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Latest figure for each measure — periods differ, read each on its own</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19</a:t>
            </a:r>
          </a:p>
        </p:txBody>
      </p:sp>
      <p:sp>
        <p:nvSpPr>
          <p:cNvPr id="8" name="Rectangle 7"/>
          <p:cNvSpPr/>
          <p:nvPr/>
        </p:nvSpPr>
        <p:spPr>
          <a:xfrm>
            <a:off x="0" y="0"/>
            <a:ext cx="91440" cy="6858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00000" y="347472"/>
            <a:ext cx="1800000" cy="365760"/>
          </a:xfrm>
          <a:prstGeom prst="roundRect">
            <a:avLst>
              <a:gd name="adj" fmla="val 1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QUALITY</a:t>
            </a:r>
          </a:p>
        </p:txBody>
      </p:sp>
      <p:sp>
        <p:nvSpPr>
          <p:cNvPr id="10" name="Rounded Rectangle 9"/>
          <p:cNvSpPr/>
          <p:nvPr/>
        </p:nvSpPr>
        <p:spPr>
          <a:xfrm>
            <a:off x="548640" y="1645920"/>
            <a:ext cx="265176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95920"/>
            <a:ext cx="2651760" cy="500000"/>
          </a:xfrm>
          <a:prstGeom prst="rect">
            <a:avLst/>
          </a:prstGeom>
          <a:noFill/>
        </p:spPr>
        <p:txBody>
          <a:bodyPr wrap="square"/>
          <a:lstStyle/>
          <a:p>
            <a:pPr algn="ctr"/>
            <a:r>
              <a:rPr sz="4000" b="1">
                <a:solidFill>
                  <a:srgbClr val="325277"/>
                </a:solidFill>
                <a:latin typeface="Arial"/>
              </a:rPr>
              <a:t>88.4%</a:t>
            </a:r>
          </a:p>
        </p:txBody>
      </p:sp>
      <p:sp>
        <p:nvSpPr>
          <p:cNvPr id="12" name="TextBox 11"/>
          <p:cNvSpPr txBox="1"/>
          <p:nvPr/>
        </p:nvSpPr>
        <p:spPr>
          <a:xfrm>
            <a:off x="628640" y="2195920"/>
            <a:ext cx="2491760" cy="400000"/>
          </a:xfrm>
          <a:prstGeom prst="rect">
            <a:avLst/>
          </a:prstGeom>
          <a:noFill/>
        </p:spPr>
        <p:txBody>
          <a:bodyPr wrap="square"/>
          <a:lstStyle/>
          <a:p>
            <a:pPr algn="ctr"/>
            <a:r>
              <a:rPr sz="1200" b="0">
                <a:solidFill>
                  <a:srgbClr val="595959"/>
                </a:solidFill>
                <a:latin typeface="Arial"/>
              </a:rPr>
              <a:t>vaccination coverage vs 100% target</a:t>
            </a:r>
          </a:p>
        </p:txBody>
      </p:sp>
      <p:sp>
        <p:nvSpPr>
          <p:cNvPr id="13" name="TextBox 12"/>
          <p:cNvSpPr txBox="1"/>
          <p:nvPr/>
        </p:nvSpPr>
        <p:spPr>
          <a:xfrm>
            <a:off x="628640" y="2515920"/>
            <a:ext cx="2491760" cy="200000"/>
          </a:xfrm>
          <a:prstGeom prst="rect">
            <a:avLst/>
          </a:prstGeom>
          <a:noFill/>
        </p:spPr>
        <p:txBody>
          <a:bodyPr wrap="square"/>
          <a:lstStyle/>
          <a:p>
            <a:pPr algn="ctr"/>
            <a:r>
              <a:rPr sz="900" b="0">
                <a:solidFill>
                  <a:srgbClr val="A9B4C6"/>
                </a:solidFill>
                <a:latin typeface="Arial"/>
              </a:rPr>
              <a:t>July 2026 · action plan</a:t>
            </a:r>
          </a:p>
        </p:txBody>
      </p:sp>
      <p:sp>
        <p:nvSpPr>
          <p:cNvPr id="14" name="Rounded Rectangle 13"/>
          <p:cNvSpPr/>
          <p:nvPr/>
        </p:nvSpPr>
        <p:spPr>
          <a:xfrm>
            <a:off x="3410400" y="1645920"/>
            <a:ext cx="265176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0400" y="1695920"/>
            <a:ext cx="2651760" cy="500000"/>
          </a:xfrm>
          <a:prstGeom prst="rect">
            <a:avLst/>
          </a:prstGeom>
          <a:noFill/>
        </p:spPr>
        <p:txBody>
          <a:bodyPr wrap="square"/>
          <a:lstStyle/>
          <a:p>
            <a:pPr algn="ctr"/>
            <a:r>
              <a:rPr sz="4000" b="1">
                <a:solidFill>
                  <a:srgbClr val="325277"/>
                </a:solidFill>
                <a:latin typeface="Arial"/>
              </a:rPr>
              <a:t>90.9%</a:t>
            </a:r>
          </a:p>
        </p:txBody>
      </p:sp>
      <p:sp>
        <p:nvSpPr>
          <p:cNvPr id="16" name="TextBox 15"/>
          <p:cNvSpPr txBox="1"/>
          <p:nvPr/>
        </p:nvSpPr>
        <p:spPr>
          <a:xfrm>
            <a:off x="3490400" y="2195920"/>
            <a:ext cx="2491760" cy="400000"/>
          </a:xfrm>
          <a:prstGeom prst="rect">
            <a:avLst/>
          </a:prstGeom>
          <a:noFill/>
        </p:spPr>
        <p:txBody>
          <a:bodyPr wrap="square"/>
          <a:lstStyle/>
          <a:p>
            <a:pPr algn="ctr"/>
            <a:r>
              <a:rPr sz="1200" b="0">
                <a:solidFill>
                  <a:srgbClr val="595959"/>
                </a:solidFill>
                <a:latin typeface="Arial"/>
              </a:rPr>
              <a:t>consent-form return vs 100% target</a:t>
            </a:r>
          </a:p>
        </p:txBody>
      </p:sp>
      <p:sp>
        <p:nvSpPr>
          <p:cNvPr id="17" name="TextBox 16"/>
          <p:cNvSpPr txBox="1"/>
          <p:nvPr/>
        </p:nvSpPr>
        <p:spPr>
          <a:xfrm>
            <a:off x="3490400" y="2515920"/>
            <a:ext cx="2491760" cy="200000"/>
          </a:xfrm>
          <a:prstGeom prst="rect">
            <a:avLst/>
          </a:prstGeom>
          <a:noFill/>
        </p:spPr>
        <p:txBody>
          <a:bodyPr wrap="square"/>
          <a:lstStyle/>
          <a:p>
            <a:pPr algn="ctr"/>
            <a:r>
              <a:rPr sz="900" b="0">
                <a:solidFill>
                  <a:srgbClr val="A9B4C6"/>
                </a:solidFill>
                <a:latin typeface="Arial"/>
              </a:rPr>
              <a:t>November reading · action plan</a:t>
            </a:r>
          </a:p>
        </p:txBody>
      </p:sp>
      <p:sp>
        <p:nvSpPr>
          <p:cNvPr id="18" name="Rounded Rectangle 17"/>
          <p:cNvSpPr/>
          <p:nvPr/>
        </p:nvSpPr>
        <p:spPr>
          <a:xfrm>
            <a:off x="6272160" y="1645920"/>
            <a:ext cx="265176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2160" y="1695920"/>
            <a:ext cx="2651760" cy="500000"/>
          </a:xfrm>
          <a:prstGeom prst="rect">
            <a:avLst/>
          </a:prstGeom>
          <a:noFill/>
        </p:spPr>
        <p:txBody>
          <a:bodyPr wrap="square"/>
          <a:lstStyle/>
          <a:p>
            <a:pPr algn="ctr"/>
            <a:r>
              <a:rPr sz="4000" b="1">
                <a:solidFill>
                  <a:srgbClr val="325277"/>
                </a:solidFill>
                <a:latin typeface="Arial"/>
              </a:rPr>
              <a:t>93%</a:t>
            </a:r>
          </a:p>
        </p:txBody>
      </p:sp>
      <p:sp>
        <p:nvSpPr>
          <p:cNvPr id="20" name="TextBox 19"/>
          <p:cNvSpPr txBox="1"/>
          <p:nvPr/>
        </p:nvSpPr>
        <p:spPr>
          <a:xfrm>
            <a:off x="6352160" y="2195920"/>
            <a:ext cx="2491760" cy="400000"/>
          </a:xfrm>
          <a:prstGeom prst="rect">
            <a:avLst/>
          </a:prstGeom>
          <a:noFill/>
        </p:spPr>
        <p:txBody>
          <a:bodyPr wrap="square"/>
          <a:lstStyle/>
          <a:p>
            <a:pPr algn="ctr"/>
            <a:r>
              <a:rPr sz="1200" b="0">
                <a:solidFill>
                  <a:srgbClr val="595959"/>
                </a:solidFill>
                <a:latin typeface="Arial"/>
              </a:rPr>
              <a:t>leadership validation current (38 of 41)</a:t>
            </a:r>
          </a:p>
        </p:txBody>
      </p:sp>
      <p:sp>
        <p:nvSpPr>
          <p:cNvPr id="21" name="TextBox 20"/>
          <p:cNvSpPr txBox="1"/>
          <p:nvPr/>
        </p:nvSpPr>
        <p:spPr>
          <a:xfrm>
            <a:off x="6352160" y="2515920"/>
            <a:ext cx="2491760" cy="200000"/>
          </a:xfrm>
          <a:prstGeom prst="rect">
            <a:avLst/>
          </a:prstGeom>
          <a:noFill/>
        </p:spPr>
        <p:txBody>
          <a:bodyPr wrap="square"/>
          <a:lstStyle/>
          <a:p>
            <a:pPr algn="ctr"/>
            <a:r>
              <a:rPr sz="900" b="0">
                <a:solidFill>
                  <a:srgbClr val="A9B4C6"/>
                </a:solidFill>
                <a:latin typeface="Arial"/>
              </a:rPr>
              <a:t>14 Sep 2026</a:t>
            </a:r>
          </a:p>
        </p:txBody>
      </p:sp>
      <p:sp>
        <p:nvSpPr>
          <p:cNvPr id="22" name="Rounded Rectangle 21"/>
          <p:cNvSpPr/>
          <p:nvPr/>
        </p:nvSpPr>
        <p:spPr>
          <a:xfrm>
            <a:off x="9133920" y="1645920"/>
            <a:ext cx="265176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3920" y="1695920"/>
            <a:ext cx="2651760" cy="500000"/>
          </a:xfrm>
          <a:prstGeom prst="rect">
            <a:avLst/>
          </a:prstGeom>
          <a:noFill/>
        </p:spPr>
        <p:txBody>
          <a:bodyPr wrap="square"/>
          <a:lstStyle/>
          <a:p>
            <a:pPr algn="ctr"/>
            <a:r>
              <a:rPr sz="4000" b="1">
                <a:solidFill>
                  <a:srgbClr val="325277"/>
                </a:solidFill>
                <a:latin typeface="Arial"/>
              </a:rPr>
              <a:t>+2.97</a:t>
            </a:r>
          </a:p>
        </p:txBody>
      </p:sp>
      <p:sp>
        <p:nvSpPr>
          <p:cNvPr id="24" name="TextBox 23"/>
          <p:cNvSpPr txBox="1"/>
          <p:nvPr/>
        </p:nvSpPr>
        <p:spPr>
          <a:xfrm>
            <a:off x="9213920" y="2195920"/>
            <a:ext cx="2491760" cy="400000"/>
          </a:xfrm>
          <a:prstGeom prst="rect">
            <a:avLst/>
          </a:prstGeom>
          <a:noFill/>
        </p:spPr>
        <p:txBody>
          <a:bodyPr wrap="square"/>
          <a:lstStyle/>
          <a:p>
            <a:pPr algn="ctr"/>
            <a:r>
              <a:rPr sz="1200" b="0">
                <a:solidFill>
                  <a:srgbClr val="595959"/>
                </a:solidFill>
                <a:latin typeface="Arial"/>
              </a:rPr>
              <a:t>knowledge gain /10, leadership workshop</a:t>
            </a:r>
          </a:p>
        </p:txBody>
      </p:sp>
      <p:sp>
        <p:nvSpPr>
          <p:cNvPr id="25" name="TextBox 24"/>
          <p:cNvSpPr txBox="1"/>
          <p:nvPr/>
        </p:nvSpPr>
        <p:spPr>
          <a:xfrm>
            <a:off x="9213920" y="2515920"/>
            <a:ext cx="2491760" cy="200000"/>
          </a:xfrm>
          <a:prstGeom prst="rect">
            <a:avLst/>
          </a:prstGeom>
          <a:noFill/>
        </p:spPr>
        <p:txBody>
          <a:bodyPr wrap="square"/>
          <a:lstStyle/>
          <a:p>
            <a:pPr algn="ctr"/>
            <a:r>
              <a:rPr sz="900" b="0">
                <a:solidFill>
                  <a:srgbClr val="A9B4C6"/>
                </a:solidFill>
                <a:latin typeface="Arial"/>
              </a:rPr>
              <a:t>16 May 2026</a:t>
            </a:r>
          </a:p>
        </p:txBody>
      </p:sp>
      <p:sp>
        <p:nvSpPr>
          <p:cNvPr id="26" name="Rounded Rectangle 25"/>
          <p:cNvSpPr/>
          <p:nvPr/>
        </p:nvSpPr>
        <p:spPr>
          <a:xfrm>
            <a:off x="548640" y="3200400"/>
            <a:ext cx="5486400" cy="20116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291840"/>
            <a:ext cx="5120640" cy="274320"/>
          </a:xfrm>
          <a:prstGeom prst="rect">
            <a:avLst/>
          </a:prstGeom>
          <a:noFill/>
        </p:spPr>
        <p:txBody>
          <a:bodyPr wrap="square"/>
          <a:lstStyle/>
          <a:p>
            <a:pPr algn="l"/>
            <a:r>
              <a:rPr sz="1300" b="1">
                <a:solidFill>
                  <a:srgbClr val="325277"/>
                </a:solidFill>
                <a:latin typeface="Arial"/>
              </a:rPr>
              <a:t>What the numbers say</a:t>
            </a:r>
          </a:p>
        </p:txBody>
      </p:sp>
      <p:sp>
        <p:nvSpPr>
          <p:cNvPr id="28" name="TextBox 27"/>
          <p:cNvSpPr txBox="1"/>
          <p:nvPr/>
        </p:nvSpPr>
        <p:spPr>
          <a:xfrm>
            <a:off x="731520" y="3611880"/>
            <a:ext cx="5212080" cy="1554480"/>
          </a:xfrm>
          <a:prstGeom prst="rect">
            <a:avLst/>
          </a:prstGeom>
          <a:noFill/>
        </p:spPr>
        <p:txBody>
          <a:bodyPr wrap="square"/>
          <a:lstStyle/>
          <a:p>
            <a:pPr algn="l"/>
            <a:r>
              <a:rPr sz="1100" b="0">
                <a:solidFill>
                  <a:srgbClr val="595959"/>
                </a:solidFill>
                <a:latin typeface="Arial"/>
              </a:rPr>
              <a:t>Shortfall attributed to parental refusal, unreturned consent forms and HPV stock shortage (action-plan RCA)
All schools were below target in June 2026 and submitted action plans
Staff satisfaction: 86.6% → 46.3% (2024) → 62% (2025)</a:t>
            </a:r>
          </a:p>
        </p:txBody>
      </p:sp>
      <p:sp>
        <p:nvSpPr>
          <p:cNvPr id="29" name="Rounded Rectangle 28"/>
          <p:cNvSpPr/>
          <p:nvPr/>
        </p:nvSpPr>
        <p:spPr>
          <a:xfrm>
            <a:off x="6263640" y="3200400"/>
            <a:ext cx="5394960" cy="20116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291840"/>
            <a:ext cx="5029200" cy="274320"/>
          </a:xfrm>
          <a:prstGeom prst="rect">
            <a:avLst/>
          </a:prstGeom>
          <a:noFill/>
        </p:spPr>
        <p:txBody>
          <a:bodyPr wrap="square"/>
          <a:lstStyle/>
          <a:p>
            <a:pPr algn="l"/>
            <a:r>
              <a:rPr sz="1300" b="1">
                <a:solidFill>
                  <a:srgbClr val="325277"/>
                </a:solidFill>
                <a:latin typeface="Arial"/>
              </a:rPr>
              <a:t>Actions under way</a:t>
            </a:r>
          </a:p>
        </p:txBody>
      </p:sp>
      <p:sp>
        <p:nvSpPr>
          <p:cNvPr id="31" name="TextBox 30"/>
          <p:cNvSpPr txBox="1"/>
          <p:nvPr/>
        </p:nvSpPr>
        <p:spPr>
          <a:xfrm>
            <a:off x="6446520" y="3611880"/>
            <a:ext cx="5120640" cy="1554480"/>
          </a:xfrm>
          <a:prstGeom prst="rect">
            <a:avLst/>
          </a:prstGeom>
          <a:noFill/>
        </p:spPr>
        <p:txBody>
          <a:bodyPr wrap="square"/>
          <a:lstStyle/>
          <a:p>
            <a:pPr algn="l"/>
            <a:r>
              <a:rPr sz="1100" b="0">
                <a:solidFill>
                  <a:srgbClr val="595959"/>
                </a:solidFill>
                <a:latin typeface="Arial"/>
              </a:rPr>
              <a:t>Parent education and reminders via the official school channels
Simplified and electronic consent forms; teacher follow-up of unreturned forms
Catch-up sessions; pharmacy coordination for HPV stock
Target: ≥95% coverage per term (Operational Plan objective 14)</a:t>
            </a:r>
          </a:p>
        </p:txBody>
      </p:sp>
      <p:sp>
        <p:nvSpPr>
          <p:cNvPr id="32" name="Rectangle 31"/>
          <p:cNvSpPr/>
          <p:nvPr/>
        </p:nvSpPr>
        <p:spPr>
          <a:xfrm>
            <a:off x="548640" y="544068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440680"/>
            <a:ext cx="10911535" cy="502920"/>
          </a:xfrm>
          <a:prstGeom prst="rect">
            <a:avLst/>
          </a:prstGeom>
          <a:noFill/>
        </p:spPr>
        <p:txBody>
          <a:bodyPr wrap="square"/>
          <a:lstStyle/>
          <a:p>
            <a:pPr algn="l"/>
            <a:r>
              <a:rPr sz="1100" b="0">
                <a:solidFill>
                  <a:srgbClr val="595959"/>
                </a:solidFill>
                <a:latin typeface="Arial"/>
              </a:rPr>
              <a:t>Why it matters: Coverage is the measure leadership will be asked about; adding School Health to the monthly KPI report would make it visible every month.</a:t>
            </a:r>
          </a:p>
        </p:txBody>
      </p:sp>
      <p:sp>
        <p:nvSpPr>
          <p:cNvPr id="34" name="TextBox 33"/>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SH_01_Vaccination / SH_02_Other action plans 2026; School Health MOM 17 Jun 2026; leadership completion scan (14 Sep 2026); Leadership ROI report May 2026; SSIP Q2 report (Jun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NURSING QUALITY FRAMEWORK</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A monthly cycle from audit to action</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How quality is measured, reported and closed across the six centres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20</a:t>
            </a:r>
          </a:p>
        </p:txBody>
      </p:sp>
      <p:sp>
        <p:nvSpPr>
          <p:cNvPr id="8" name="Oval 7"/>
          <p:cNvSpPr/>
          <p:nvPr/>
        </p:nvSpPr>
        <p:spPr>
          <a:xfrm>
            <a:off x="800000" y="1645920"/>
            <a:ext cx="1005840" cy="100584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000" y="1645920"/>
            <a:ext cx="1005840" cy="1005840"/>
          </a:xfrm>
          <a:prstGeom prst="rect">
            <a:avLst/>
          </a:prstGeom>
          <a:noFill/>
        </p:spPr>
        <p:txBody>
          <a:bodyPr wrap="square"/>
          <a:lstStyle/>
          <a:p>
            <a:pPr algn="ctr"/>
            <a:r>
              <a:rPr sz="3200" b="1">
                <a:solidFill>
                  <a:srgbClr val="FFFFFF"/>
                </a:solidFill>
                <a:latin typeface="Arial"/>
              </a:rPr>
              <a:t>1</a:t>
            </a:r>
          </a:p>
        </p:txBody>
      </p:sp>
      <p:sp>
        <p:nvSpPr>
          <p:cNvPr id="10" name="Right Arrow 9"/>
          <p:cNvSpPr/>
          <p:nvPr/>
        </p:nvSpPr>
        <p:spPr>
          <a:xfrm>
            <a:off x="1900000" y="2011680"/>
            <a:ext cx="400000" cy="292608"/>
          </a:xfrm>
          <a:prstGeom prst="rightArrow">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000" y="2743200"/>
            <a:ext cx="2100000" cy="320040"/>
          </a:xfrm>
          <a:prstGeom prst="rect">
            <a:avLst/>
          </a:prstGeom>
          <a:noFill/>
        </p:spPr>
        <p:txBody>
          <a:bodyPr wrap="square"/>
          <a:lstStyle/>
          <a:p>
            <a:pPr algn="ctr"/>
            <a:r>
              <a:rPr sz="1600" b="1">
                <a:solidFill>
                  <a:srgbClr val="325277"/>
                </a:solidFill>
                <a:latin typeface="Arial"/>
              </a:rPr>
              <a:t>Audit</a:t>
            </a:r>
          </a:p>
        </p:txBody>
      </p:sp>
      <p:sp>
        <p:nvSpPr>
          <p:cNvPr id="12" name="TextBox 11"/>
          <p:cNvSpPr txBox="1"/>
          <p:nvPr/>
        </p:nvSpPr>
        <p:spPr>
          <a:xfrm>
            <a:off x="300000" y="3063240"/>
            <a:ext cx="2100000" cy="914400"/>
          </a:xfrm>
          <a:prstGeom prst="rect">
            <a:avLst/>
          </a:prstGeom>
          <a:noFill/>
        </p:spPr>
        <p:txBody>
          <a:bodyPr wrap="square"/>
          <a:lstStyle/>
          <a:p>
            <a:pPr algn="ctr"/>
            <a:r>
              <a:rPr sz="1100" b="0">
                <a:solidFill>
                  <a:srgbClr val="595959"/>
                </a:solidFill>
                <a:latin typeface="Arial"/>
              </a:rPr>
              <a:t>Monthly audits: documentation, pain, hand hygiene, patient ID, productivity, falls, OVR</a:t>
            </a:r>
          </a:p>
        </p:txBody>
      </p:sp>
      <p:sp>
        <p:nvSpPr>
          <p:cNvPr id="13" name="Oval 12"/>
          <p:cNvSpPr/>
          <p:nvPr/>
        </p:nvSpPr>
        <p:spPr>
          <a:xfrm>
            <a:off x="3030000" y="1645920"/>
            <a:ext cx="1005840" cy="100584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0000" y="1645920"/>
            <a:ext cx="1005840" cy="1005840"/>
          </a:xfrm>
          <a:prstGeom prst="rect">
            <a:avLst/>
          </a:prstGeom>
          <a:noFill/>
        </p:spPr>
        <p:txBody>
          <a:bodyPr wrap="square"/>
          <a:lstStyle/>
          <a:p>
            <a:pPr algn="ctr"/>
            <a:r>
              <a:rPr sz="3200" b="1">
                <a:solidFill>
                  <a:srgbClr val="FFFFFF"/>
                </a:solidFill>
                <a:latin typeface="Arial"/>
              </a:rPr>
              <a:t>2</a:t>
            </a:r>
          </a:p>
        </p:txBody>
      </p:sp>
      <p:sp>
        <p:nvSpPr>
          <p:cNvPr id="15" name="Right Arrow 14"/>
          <p:cNvSpPr/>
          <p:nvPr/>
        </p:nvSpPr>
        <p:spPr>
          <a:xfrm>
            <a:off x="4130000" y="2011680"/>
            <a:ext cx="400000" cy="292608"/>
          </a:xfrm>
          <a:prstGeom prst="rightArrow">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0000" y="2743200"/>
            <a:ext cx="2100000" cy="320040"/>
          </a:xfrm>
          <a:prstGeom prst="rect">
            <a:avLst/>
          </a:prstGeom>
          <a:noFill/>
        </p:spPr>
        <p:txBody>
          <a:bodyPr wrap="square"/>
          <a:lstStyle/>
          <a:p>
            <a:pPr algn="ctr"/>
            <a:r>
              <a:rPr sz="1600" b="1">
                <a:solidFill>
                  <a:srgbClr val="325277"/>
                </a:solidFill>
                <a:latin typeface="Arial"/>
              </a:rPr>
              <a:t>Report</a:t>
            </a:r>
          </a:p>
        </p:txBody>
      </p:sp>
      <p:sp>
        <p:nvSpPr>
          <p:cNvPr id="17" name="TextBox 16"/>
          <p:cNvSpPr txBox="1"/>
          <p:nvPr/>
        </p:nvSpPr>
        <p:spPr>
          <a:xfrm>
            <a:off x="2530000" y="3063240"/>
            <a:ext cx="2100000" cy="914400"/>
          </a:xfrm>
          <a:prstGeom prst="rect">
            <a:avLst/>
          </a:prstGeom>
          <a:noFill/>
        </p:spPr>
        <p:txBody>
          <a:bodyPr wrap="square"/>
          <a:lstStyle/>
          <a:p>
            <a:pPr algn="ctr"/>
            <a:r>
              <a:rPr sz="1100" b="0">
                <a:solidFill>
                  <a:srgbClr val="595959"/>
                </a:solidFill>
                <a:latin typeface="Arial"/>
              </a:rPr>
              <a:t>Monthly KPI report to ADNA; quarterly summary (Q1, Q2)</a:t>
            </a:r>
          </a:p>
        </p:txBody>
      </p:sp>
      <p:sp>
        <p:nvSpPr>
          <p:cNvPr id="18" name="Oval 17"/>
          <p:cNvSpPr/>
          <p:nvPr/>
        </p:nvSpPr>
        <p:spPr>
          <a:xfrm>
            <a:off x="5260000" y="1645920"/>
            <a:ext cx="1005840" cy="100584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60000" y="1645920"/>
            <a:ext cx="1005840" cy="1005840"/>
          </a:xfrm>
          <a:prstGeom prst="rect">
            <a:avLst/>
          </a:prstGeom>
          <a:noFill/>
        </p:spPr>
        <p:txBody>
          <a:bodyPr wrap="square"/>
          <a:lstStyle/>
          <a:p>
            <a:pPr algn="ctr"/>
            <a:r>
              <a:rPr sz="3200" b="1">
                <a:solidFill>
                  <a:srgbClr val="FFFFFF"/>
                </a:solidFill>
                <a:latin typeface="Arial"/>
              </a:rPr>
              <a:t>3</a:t>
            </a:r>
          </a:p>
        </p:txBody>
      </p:sp>
      <p:sp>
        <p:nvSpPr>
          <p:cNvPr id="20" name="Right Arrow 19"/>
          <p:cNvSpPr/>
          <p:nvPr/>
        </p:nvSpPr>
        <p:spPr>
          <a:xfrm>
            <a:off x="6360000" y="2011680"/>
            <a:ext cx="400000" cy="292608"/>
          </a:xfrm>
          <a:prstGeom prst="rightArrow">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60000" y="2743200"/>
            <a:ext cx="2100000" cy="320040"/>
          </a:xfrm>
          <a:prstGeom prst="rect">
            <a:avLst/>
          </a:prstGeom>
          <a:noFill/>
        </p:spPr>
        <p:txBody>
          <a:bodyPr wrap="square"/>
          <a:lstStyle/>
          <a:p>
            <a:pPr algn="ctr"/>
            <a:r>
              <a:rPr sz="1600" b="1">
                <a:solidFill>
                  <a:srgbClr val="325277"/>
                </a:solidFill>
                <a:latin typeface="Arial"/>
              </a:rPr>
              <a:t>Analyse</a:t>
            </a:r>
          </a:p>
        </p:txBody>
      </p:sp>
      <p:sp>
        <p:nvSpPr>
          <p:cNvPr id="22" name="TextBox 21"/>
          <p:cNvSpPr txBox="1"/>
          <p:nvPr/>
        </p:nvSpPr>
        <p:spPr>
          <a:xfrm>
            <a:off x="4760000" y="3063240"/>
            <a:ext cx="2100000" cy="914400"/>
          </a:xfrm>
          <a:prstGeom prst="rect">
            <a:avLst/>
          </a:prstGeom>
          <a:noFill/>
        </p:spPr>
        <p:txBody>
          <a:bodyPr wrap="square"/>
          <a:lstStyle/>
          <a:p>
            <a:pPr algn="ctr"/>
            <a:r>
              <a:rPr sz="1100" b="0">
                <a:solidFill>
                  <a:srgbClr val="595959"/>
                </a:solidFill>
                <a:latin typeface="Arial"/>
              </a:rPr>
              <a:t>Centre action plan + RCA for every miss; Master Action Plan Tracker</a:t>
            </a:r>
          </a:p>
        </p:txBody>
      </p:sp>
      <p:sp>
        <p:nvSpPr>
          <p:cNvPr id="23" name="Oval 22"/>
          <p:cNvSpPr/>
          <p:nvPr/>
        </p:nvSpPr>
        <p:spPr>
          <a:xfrm>
            <a:off x="7490000" y="1645920"/>
            <a:ext cx="1005840" cy="100584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0000" y="1645920"/>
            <a:ext cx="1005840" cy="1005840"/>
          </a:xfrm>
          <a:prstGeom prst="rect">
            <a:avLst/>
          </a:prstGeom>
          <a:noFill/>
        </p:spPr>
        <p:txBody>
          <a:bodyPr wrap="square"/>
          <a:lstStyle/>
          <a:p>
            <a:pPr algn="ctr"/>
            <a:r>
              <a:rPr sz="3200" b="1">
                <a:solidFill>
                  <a:srgbClr val="FFFFFF"/>
                </a:solidFill>
                <a:latin typeface="Arial"/>
              </a:rPr>
              <a:t>4</a:t>
            </a:r>
          </a:p>
        </p:txBody>
      </p:sp>
      <p:sp>
        <p:nvSpPr>
          <p:cNvPr id="25" name="Right Arrow 24"/>
          <p:cNvSpPr/>
          <p:nvPr/>
        </p:nvSpPr>
        <p:spPr>
          <a:xfrm>
            <a:off x="8590000" y="2011680"/>
            <a:ext cx="400000" cy="292608"/>
          </a:xfrm>
          <a:prstGeom prst="rightArrow">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0000" y="2743200"/>
            <a:ext cx="2100000" cy="320040"/>
          </a:xfrm>
          <a:prstGeom prst="rect">
            <a:avLst/>
          </a:prstGeom>
          <a:noFill/>
        </p:spPr>
        <p:txBody>
          <a:bodyPr wrap="square"/>
          <a:lstStyle/>
          <a:p>
            <a:pPr algn="ctr"/>
            <a:r>
              <a:rPr sz="1600" b="1">
                <a:solidFill>
                  <a:srgbClr val="325277"/>
                </a:solidFill>
                <a:latin typeface="Arial"/>
              </a:rPr>
              <a:t>Act</a:t>
            </a:r>
          </a:p>
        </p:txBody>
      </p:sp>
      <p:sp>
        <p:nvSpPr>
          <p:cNvPr id="27" name="TextBox 26"/>
          <p:cNvSpPr txBox="1"/>
          <p:nvPr/>
        </p:nvSpPr>
        <p:spPr>
          <a:xfrm>
            <a:off x="6990000" y="3063240"/>
            <a:ext cx="2100000" cy="914400"/>
          </a:xfrm>
          <a:prstGeom prst="rect">
            <a:avLst/>
          </a:prstGeom>
          <a:noFill/>
        </p:spPr>
        <p:txBody>
          <a:bodyPr wrap="square"/>
          <a:lstStyle/>
          <a:p>
            <a:pPr algn="ctr"/>
            <a:r>
              <a:rPr sz="1100" b="0">
                <a:solidFill>
                  <a:srgbClr val="595959"/>
                </a:solidFill>
                <a:latin typeface="Arial"/>
              </a:rPr>
              <a:t>Corrective actions closed within 15 days (target); admin rounds verify</a:t>
            </a:r>
          </a:p>
        </p:txBody>
      </p:sp>
      <p:sp>
        <p:nvSpPr>
          <p:cNvPr id="28" name="Oval 27"/>
          <p:cNvSpPr/>
          <p:nvPr/>
        </p:nvSpPr>
        <p:spPr>
          <a:xfrm>
            <a:off x="9720000" y="1645920"/>
            <a:ext cx="1005840" cy="100584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20000" y="1645920"/>
            <a:ext cx="1005840" cy="1005840"/>
          </a:xfrm>
          <a:prstGeom prst="rect">
            <a:avLst/>
          </a:prstGeom>
          <a:noFill/>
        </p:spPr>
        <p:txBody>
          <a:bodyPr wrap="square"/>
          <a:lstStyle/>
          <a:p>
            <a:pPr algn="ctr"/>
            <a:r>
              <a:rPr sz="3200" b="1">
                <a:solidFill>
                  <a:srgbClr val="FFFFFF"/>
                </a:solidFill>
                <a:latin typeface="Arial"/>
              </a:rPr>
              <a:t>5</a:t>
            </a:r>
          </a:p>
        </p:txBody>
      </p:sp>
      <p:sp>
        <p:nvSpPr>
          <p:cNvPr id="30" name="TextBox 29"/>
          <p:cNvSpPr txBox="1"/>
          <p:nvPr/>
        </p:nvSpPr>
        <p:spPr>
          <a:xfrm>
            <a:off x="9220000" y="2743200"/>
            <a:ext cx="2100000" cy="320040"/>
          </a:xfrm>
          <a:prstGeom prst="rect">
            <a:avLst/>
          </a:prstGeom>
          <a:noFill/>
        </p:spPr>
        <p:txBody>
          <a:bodyPr wrap="square"/>
          <a:lstStyle/>
          <a:p>
            <a:pPr algn="ctr"/>
            <a:r>
              <a:rPr sz="1600" b="1">
                <a:solidFill>
                  <a:srgbClr val="325277"/>
                </a:solidFill>
                <a:latin typeface="Arial"/>
              </a:rPr>
              <a:t>Govern</a:t>
            </a:r>
          </a:p>
        </p:txBody>
      </p:sp>
      <p:sp>
        <p:nvSpPr>
          <p:cNvPr id="31" name="TextBox 30"/>
          <p:cNvSpPr txBox="1"/>
          <p:nvPr/>
        </p:nvSpPr>
        <p:spPr>
          <a:xfrm>
            <a:off x="9220000" y="3063240"/>
            <a:ext cx="2100000" cy="914400"/>
          </a:xfrm>
          <a:prstGeom prst="rect">
            <a:avLst/>
          </a:prstGeom>
          <a:noFill/>
        </p:spPr>
        <p:txBody>
          <a:bodyPr wrap="square"/>
          <a:lstStyle/>
          <a:p>
            <a:pPr algn="ctr"/>
            <a:r>
              <a:rPr sz="1100" b="0">
                <a:solidFill>
                  <a:srgbClr val="595959"/>
                </a:solidFill>
                <a:latin typeface="Arial"/>
              </a:rPr>
              <a:t>Nursing Operations Council; oversight readiness register</a:t>
            </a:r>
          </a:p>
        </p:txBody>
      </p:sp>
      <p:graphicFrame>
        <p:nvGraphicFramePr>
          <p:cNvPr id="32" name="Table 31"/>
          <p:cNvGraphicFramePr>
            <a:graphicFrameLocks noGrp="1"/>
          </p:cNvGraphicFramePr>
          <p:nvPr/>
        </p:nvGraphicFramePr>
        <p:xfrm>
          <a:off x="548640" y="4069080"/>
          <a:ext cx="7498080" cy="2194560"/>
        </p:xfrm>
        <a:graphic>
          <a:graphicData uri="http://schemas.openxmlformats.org/drawingml/2006/table">
            <a:tbl>
              <a:tblPr firstRow="1" bandRow="1">
                <a:tableStyleId>{5C22544A-7EE6-4342-B048-85BDC9FD1C3A}</a:tableStyleId>
              </a:tblPr>
              <a:tblGrid>
                <a:gridCol w="2499360"/>
                <a:gridCol w="2499360"/>
                <a:gridCol w="2499360"/>
              </a:tblGrid>
              <a:tr h="365760">
                <a:tc>
                  <a:txBody>
                    <a:bodyPr/>
                    <a:lstStyle/>
                    <a:p>
                      <a:pPr>
                        <a:defRPr sz="1100" b="1">
                          <a:solidFill>
                            <a:srgbClr val="FFFFFF"/>
                          </a:solidFill>
                          <a:latin typeface="Arial"/>
                        </a:defRPr>
                      </a:pPr>
                      <a:r>
                        <a:t>KPI</a:t>
                      </a:r>
                    </a:p>
                  </a:txBody>
                  <a:tcPr>
                    <a:solidFill>
                      <a:srgbClr val="325277"/>
                    </a:solidFill>
                  </a:tcPr>
                </a:tc>
                <a:tc>
                  <a:txBody>
                    <a:bodyPr/>
                    <a:lstStyle/>
                    <a:p>
                      <a:pPr>
                        <a:defRPr sz="1100" b="1">
                          <a:solidFill>
                            <a:srgbClr val="FFFFFF"/>
                          </a:solidFill>
                          <a:latin typeface="Arial"/>
                        </a:defRPr>
                      </a:pPr>
                      <a:r>
                        <a:t>Target in monthly KPI report</a:t>
                      </a:r>
                    </a:p>
                  </a:txBody>
                  <a:tcPr>
                    <a:solidFill>
                      <a:srgbClr val="325277"/>
                    </a:solidFill>
                  </a:tcPr>
                </a:tc>
                <a:tc>
                  <a:txBody>
                    <a:bodyPr/>
                    <a:lstStyle/>
                    <a:p>
                      <a:pPr>
                        <a:defRPr sz="1100" b="1">
                          <a:solidFill>
                            <a:srgbClr val="FFFFFF"/>
                          </a:solidFill>
                          <a:latin typeface="Arial"/>
                        </a:defRPr>
                      </a:pPr>
                      <a:r>
                        <a:t>Target in Operational Plan 2026</a:t>
                      </a:r>
                    </a:p>
                  </a:txBody>
                  <a:tcPr>
                    <a:solidFill>
                      <a:srgbClr val="325277"/>
                    </a:solidFill>
                  </a:tcPr>
                </a:tc>
              </a:tr>
              <a:tr h="365760">
                <a:tc>
                  <a:txBody>
                    <a:bodyPr/>
                    <a:lstStyle/>
                    <a:p>
                      <a:pPr>
                        <a:defRPr sz="1100">
                          <a:solidFill>
                            <a:srgbClr val="595959"/>
                          </a:solidFill>
                          <a:latin typeface="Arial"/>
                        </a:defRPr>
                      </a:pPr>
                      <a:r>
                        <a:t>Documentation</a:t>
                      </a:r>
                    </a:p>
                  </a:txBody>
                  <a:tcPr>
                    <a:solidFill>
                      <a:srgbClr val="FFFFFF"/>
                    </a:solidFill>
                  </a:tcPr>
                </a:tc>
                <a:tc>
                  <a:txBody>
                    <a:bodyPr/>
                    <a:lstStyle/>
                    <a:p>
                      <a:pPr algn="r">
                        <a:defRPr sz="1100">
                          <a:solidFill>
                            <a:srgbClr val="595959"/>
                          </a:solidFill>
                          <a:latin typeface="Arial"/>
                        </a:defRPr>
                      </a:pPr>
                      <a:r>
                        <a:t>85%</a:t>
                      </a:r>
                    </a:p>
                  </a:txBody>
                  <a:tcPr>
                    <a:solidFill>
                      <a:srgbClr val="FFFFFF"/>
                    </a:solidFill>
                  </a:tcPr>
                </a:tc>
                <a:tc>
                  <a:txBody>
                    <a:bodyPr/>
                    <a:lstStyle/>
                    <a:p>
                      <a:pPr>
                        <a:defRPr sz="1100">
                          <a:solidFill>
                            <a:srgbClr val="595959"/>
                          </a:solidFill>
                          <a:latin typeface="Arial"/>
                        </a:defRPr>
                      </a:pPr>
                      <a:r>
                        <a:t>Obj. 16: 100% staff trained (no % target)</a:t>
                      </a:r>
                    </a:p>
                  </a:txBody>
                  <a:tcPr>
                    <a:solidFill>
                      <a:srgbClr val="FFFFFF"/>
                    </a:solidFill>
                  </a:tcPr>
                </a:tc>
              </a:tr>
              <a:tr h="365760">
                <a:tc>
                  <a:txBody>
                    <a:bodyPr/>
                    <a:lstStyle/>
                    <a:p>
                      <a:pPr>
                        <a:defRPr sz="1100">
                          <a:solidFill>
                            <a:srgbClr val="595959"/>
                          </a:solidFill>
                          <a:latin typeface="Arial"/>
                        </a:defRPr>
                      </a:pPr>
                      <a:r>
                        <a:t>Pain Assessment / Reassessment</a:t>
                      </a:r>
                    </a:p>
                  </a:txBody>
                  <a:tcPr>
                    <a:solidFill>
                      <a:srgbClr val="F2F2F2"/>
                    </a:solidFill>
                  </a:tcPr>
                </a:tc>
                <a:tc>
                  <a:txBody>
                    <a:bodyPr/>
                    <a:lstStyle/>
                    <a:p>
                      <a:pPr algn="r">
                        <a:defRPr sz="1100">
                          <a:solidFill>
                            <a:srgbClr val="595959"/>
                          </a:solidFill>
                          <a:latin typeface="Arial"/>
                        </a:defRPr>
                      </a:pPr>
                      <a:r>
                        <a:t>100%</a:t>
                      </a:r>
                    </a:p>
                  </a:txBody>
                  <a:tcPr>
                    <a:solidFill>
                      <a:srgbClr val="F2F2F2"/>
                    </a:solidFill>
                  </a:tcPr>
                </a:tc>
                <a:tc>
                  <a:txBody>
                    <a:bodyPr/>
                    <a:lstStyle/>
                    <a:p>
                      <a:pPr algn="r">
                        <a:defRPr sz="1100">
                          <a:solidFill>
                            <a:srgbClr val="595959"/>
                          </a:solidFill>
                          <a:latin typeface="Arial"/>
                        </a:defRPr>
                      </a:pPr>
                      <a:r>
                        <a:t>≥95% pain documentation (obj. 12)</a:t>
                      </a:r>
                    </a:p>
                  </a:txBody>
                  <a:tcPr>
                    <a:solidFill>
                      <a:srgbClr val="F2F2F2"/>
                    </a:solidFill>
                  </a:tcPr>
                </a:tc>
              </a:tr>
              <a:tr h="365760">
                <a:tc>
                  <a:txBody>
                    <a:bodyPr/>
                    <a:lstStyle/>
                    <a:p>
                      <a:pPr>
                        <a:defRPr sz="1100">
                          <a:solidFill>
                            <a:srgbClr val="595959"/>
                          </a:solidFill>
                          <a:latin typeface="Arial"/>
                        </a:defRPr>
                      </a:pPr>
                      <a:r>
                        <a:t>Hand Hygiene</a:t>
                      </a:r>
                    </a:p>
                  </a:txBody>
                  <a:tcPr>
                    <a:solidFill>
                      <a:srgbClr val="FFFFFF"/>
                    </a:solidFill>
                  </a:tcPr>
                </a:tc>
                <a:tc>
                  <a:txBody>
                    <a:bodyPr/>
                    <a:lstStyle/>
                    <a:p>
                      <a:pPr algn="r">
                        <a:defRPr sz="1100">
                          <a:solidFill>
                            <a:srgbClr val="595959"/>
                          </a:solidFill>
                          <a:latin typeface="Arial"/>
                        </a:defRPr>
                      </a:pPr>
                      <a:r>
                        <a:t>90%</a:t>
                      </a:r>
                    </a:p>
                  </a:txBody>
                  <a:tcPr>
                    <a:solidFill>
                      <a:srgbClr val="FFFFFF"/>
                    </a:solidFill>
                  </a:tcPr>
                </a:tc>
                <a:tc>
                  <a:txBody>
                    <a:bodyPr/>
                    <a:lstStyle/>
                    <a:p>
                      <a:pPr algn="r">
                        <a:defRPr sz="1100">
                          <a:solidFill>
                            <a:srgbClr val="595959"/>
                          </a:solidFill>
                          <a:latin typeface="Arial"/>
                        </a:defRPr>
                      </a:pPr>
                      <a:r>
                        <a:t>≥90%</a:t>
                      </a:r>
                    </a:p>
                  </a:txBody>
                  <a:tcPr>
                    <a:solidFill>
                      <a:srgbClr val="FFFFFF"/>
                    </a:solidFill>
                  </a:tcPr>
                </a:tc>
              </a:tr>
              <a:tr h="365760">
                <a:tc>
                  <a:txBody>
                    <a:bodyPr/>
                    <a:lstStyle/>
                    <a:p>
                      <a:pPr>
                        <a:defRPr sz="1100">
                          <a:solidFill>
                            <a:srgbClr val="595959"/>
                          </a:solidFill>
                          <a:latin typeface="Arial"/>
                        </a:defRPr>
                      </a:pPr>
                      <a:r>
                        <a:t>Patient Identification</a:t>
                      </a:r>
                    </a:p>
                  </a:txBody>
                  <a:tcPr>
                    <a:solidFill>
                      <a:srgbClr val="F2F2F2"/>
                    </a:solidFill>
                  </a:tcPr>
                </a:tc>
                <a:tc>
                  <a:txBody>
                    <a:bodyPr/>
                    <a:lstStyle/>
                    <a:p>
                      <a:pPr algn="r">
                        <a:defRPr sz="1100">
                          <a:solidFill>
                            <a:srgbClr val="595959"/>
                          </a:solidFill>
                          <a:latin typeface="Arial"/>
                        </a:defRPr>
                      </a:pPr>
                      <a:r>
                        <a:t>100%</a:t>
                      </a:r>
                    </a:p>
                  </a:txBody>
                  <a:tcPr>
                    <a:solidFill>
                      <a:srgbClr val="F2F2F2"/>
                    </a:solidFill>
                  </a:tcPr>
                </a:tc>
                <a:tc>
                  <a:txBody>
                    <a:bodyPr/>
                    <a:lstStyle/>
                    <a:p>
                      <a:pPr algn="r">
                        <a:defRPr sz="1100">
                          <a:solidFill>
                            <a:srgbClr val="595959"/>
                          </a:solidFill>
                          <a:latin typeface="Arial"/>
                        </a:defRPr>
                      </a:pPr>
                      <a:r>
                        <a:t>≥98%</a:t>
                      </a:r>
                    </a:p>
                  </a:txBody>
                  <a:tcPr>
                    <a:solidFill>
                      <a:srgbClr val="F2F2F2"/>
                    </a:solidFill>
                  </a:tcPr>
                </a:tc>
              </a:tr>
              <a:tr h="365760">
                <a:tc>
                  <a:txBody>
                    <a:bodyPr/>
                    <a:lstStyle/>
                    <a:p>
                      <a:pPr>
                        <a:defRPr sz="1100">
                          <a:solidFill>
                            <a:srgbClr val="595959"/>
                          </a:solidFill>
                          <a:latin typeface="Arial"/>
                        </a:defRPr>
                      </a:pPr>
                      <a:r>
                        <a:t>Productivity</a:t>
                      </a:r>
                    </a:p>
                  </a:txBody>
                  <a:tcPr>
                    <a:solidFill>
                      <a:srgbClr val="FFFFFF"/>
                    </a:solidFill>
                  </a:tcPr>
                </a:tc>
                <a:tc>
                  <a:txBody>
                    <a:bodyPr/>
                    <a:lstStyle/>
                    <a:p>
                      <a:pPr algn="r">
                        <a:defRPr sz="1100">
                          <a:solidFill>
                            <a:srgbClr val="595959"/>
                          </a:solidFill>
                          <a:latin typeface="Arial"/>
                        </a:defRPr>
                      </a:pPr>
                      <a:r>
                        <a:t>95%–115% (confirmed 11 Sep 2026)</a:t>
                      </a:r>
                    </a:p>
                  </a:txBody>
                  <a:tcPr>
                    <a:solidFill>
                      <a:srgbClr val="FFFFFF"/>
                    </a:solidFill>
                  </a:tcPr>
                </a:tc>
                <a:tc>
                  <a:txBody>
                    <a:bodyPr/>
                    <a:lstStyle/>
                    <a:p>
                      <a:pPr>
                        <a:defRPr sz="1100">
                          <a:solidFill>
                            <a:srgbClr val="595959"/>
                          </a:solidFill>
                          <a:latin typeface="Arial"/>
                        </a:defRPr>
                      </a:pPr>
                      <a:r>
                        <a:t>NHPPD/FTE variance ±10%</a:t>
                      </a:r>
                    </a:p>
                  </a:txBody>
                  <a:tcPr>
                    <a:solidFill>
                      <a:srgbClr val="FFFFFF"/>
                    </a:solidFill>
                  </a:tcPr>
                </a:tc>
              </a:tr>
            </a:tbl>
          </a:graphicData>
        </a:graphic>
      </p:graphicFrame>
      <p:sp>
        <p:nvSpPr>
          <p:cNvPr id="33" name="Rounded Rectangle 32"/>
          <p:cNvSpPr/>
          <p:nvPr/>
        </p:nvSpPr>
        <p:spPr>
          <a:xfrm>
            <a:off x="8275320" y="4069080"/>
            <a:ext cx="3383280" cy="1426464"/>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4114800"/>
            <a:ext cx="3154680" cy="1325880"/>
          </a:xfrm>
          <a:prstGeom prst="rect">
            <a:avLst/>
          </a:prstGeom>
          <a:noFill/>
        </p:spPr>
        <p:txBody>
          <a:bodyPr wrap="square"/>
          <a:lstStyle/>
          <a:p>
            <a:pPr algn="l"/>
            <a:r>
              <a:rPr sz="1200" b="1">
                <a:solidFill>
                  <a:srgbClr val="325277"/>
                </a:solidFill>
                <a:latin typeface="Arial"/>
              </a:rPr>
              <a:t>Two target sets are in use for the same KPIs. Recommendation: publish one approved target register.</a:t>
            </a:r>
          </a:p>
        </p:txBody>
      </p:sp>
      <p:sp>
        <p:nvSpPr>
          <p:cNvPr id="35" name="TextBox 34"/>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 PHC KPI Reports Jan–Aug 2026 &amp; Q1/Q2 2026; Nursing Operational Plan 2026 (obj. 2, 3, 6, 12, 13, 18); Productivity_Standard_Correction_2026.xlsx (11 Sep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PATIENT SAFETY PRIORITIES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Six safety priorities and where each stands in August 2026</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Status against the monthly KPI report targets</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21</a:t>
            </a:r>
          </a:p>
        </p:txBody>
      </p:sp>
      <p:sp>
        <p:nvSpPr>
          <p:cNvPr id="8" name="Rounded Rectangle 7"/>
          <p:cNvSpPr/>
          <p:nvPr/>
        </p:nvSpPr>
        <p:spPr>
          <a:xfrm>
            <a:off x="548640" y="164592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45920"/>
            <a:ext cx="100000" cy="109728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640" y="1705920"/>
            <a:ext cx="3200000" cy="300000"/>
          </a:xfrm>
          <a:prstGeom prst="rect">
            <a:avLst/>
          </a:prstGeom>
          <a:noFill/>
        </p:spPr>
        <p:txBody>
          <a:bodyPr wrap="square"/>
          <a:lstStyle/>
          <a:p>
            <a:pPr algn="l"/>
            <a:r>
              <a:rPr sz="1300" b="1">
                <a:solidFill>
                  <a:srgbClr val="325277"/>
                </a:solidFill>
                <a:latin typeface="Arial"/>
              </a:rPr>
              <a:t>Patient identification</a:t>
            </a:r>
          </a:p>
        </p:txBody>
      </p:sp>
      <p:sp>
        <p:nvSpPr>
          <p:cNvPr id="11" name="Rounded Rectangle 10"/>
          <p:cNvSpPr/>
          <p:nvPr/>
        </p:nvSpPr>
        <p:spPr>
          <a:xfrm>
            <a:off x="4348640" y="1715920"/>
            <a:ext cx="1400000" cy="220000"/>
          </a:xfrm>
          <a:prstGeom prst="roundRect">
            <a:avLst>
              <a:gd name="adj" fmla="val 5000"/>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8640" y="1715920"/>
            <a:ext cx="1400000" cy="220000"/>
          </a:xfrm>
          <a:prstGeom prst="rect">
            <a:avLst/>
          </a:prstGeom>
          <a:noFill/>
        </p:spPr>
        <p:txBody>
          <a:bodyPr wrap="square"/>
          <a:lstStyle/>
          <a:p>
            <a:pPr algn="ctr"/>
            <a:r>
              <a:rPr sz="900" b="1">
                <a:solidFill>
                  <a:srgbClr val="FFFFFF"/>
                </a:solidFill>
                <a:latin typeface="Arial"/>
              </a:rPr>
              <a:t>Active QIP</a:t>
            </a:r>
          </a:p>
        </p:txBody>
      </p:sp>
      <p:sp>
        <p:nvSpPr>
          <p:cNvPr id="13" name="TextBox 12"/>
          <p:cNvSpPr txBox="1"/>
          <p:nvPr/>
        </p:nvSpPr>
        <p:spPr>
          <a:xfrm>
            <a:off x="748640" y="2045920"/>
            <a:ext cx="5086400" cy="600000"/>
          </a:xfrm>
          <a:prstGeom prst="rect">
            <a:avLst/>
          </a:prstGeom>
          <a:noFill/>
        </p:spPr>
        <p:txBody>
          <a:bodyPr wrap="square"/>
          <a:lstStyle/>
          <a:p>
            <a:pPr algn="l"/>
            <a:r>
              <a:rPr sz="1100" b="0">
                <a:solidFill>
                  <a:srgbClr val="595959"/>
                </a:solidFill>
                <a:latin typeface="Arial"/>
              </a:rPr>
              <a:t>4 of 6 centres at 100% (Aug); Ajman PHS 93%, Mushairef 97%</a:t>
            </a:r>
          </a:p>
        </p:txBody>
      </p:sp>
      <p:sp>
        <p:nvSpPr>
          <p:cNvPr id="14" name="Rounded Rectangle 13"/>
          <p:cNvSpPr/>
          <p:nvPr/>
        </p:nvSpPr>
        <p:spPr>
          <a:xfrm>
            <a:off x="6155040" y="164592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5040" y="1645920"/>
            <a:ext cx="100000" cy="1097280"/>
          </a:xfrm>
          <a:prstGeom prst="rect">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40" y="1705920"/>
            <a:ext cx="3200000" cy="300000"/>
          </a:xfrm>
          <a:prstGeom prst="rect">
            <a:avLst/>
          </a:prstGeom>
          <a:noFill/>
        </p:spPr>
        <p:txBody>
          <a:bodyPr wrap="square"/>
          <a:lstStyle/>
          <a:p>
            <a:pPr algn="l"/>
            <a:r>
              <a:rPr sz="1300" b="1">
                <a:solidFill>
                  <a:srgbClr val="325277"/>
                </a:solidFill>
                <a:latin typeface="Arial"/>
              </a:rPr>
              <a:t>Pain assessment &amp; reassessment</a:t>
            </a:r>
          </a:p>
        </p:txBody>
      </p:sp>
      <p:sp>
        <p:nvSpPr>
          <p:cNvPr id="17" name="Rounded Rectangle 16"/>
          <p:cNvSpPr/>
          <p:nvPr/>
        </p:nvSpPr>
        <p:spPr>
          <a:xfrm>
            <a:off x="9955040" y="1715920"/>
            <a:ext cx="1400000" cy="220000"/>
          </a:xfrm>
          <a:prstGeom prst="roundRect">
            <a:avLst>
              <a:gd name="adj" fmla="val 5000"/>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55040" y="1715920"/>
            <a:ext cx="1400000" cy="220000"/>
          </a:xfrm>
          <a:prstGeom prst="rect">
            <a:avLst/>
          </a:prstGeom>
          <a:noFill/>
        </p:spPr>
        <p:txBody>
          <a:bodyPr wrap="square"/>
          <a:lstStyle/>
          <a:p>
            <a:pPr algn="ctr"/>
            <a:r>
              <a:rPr sz="900" b="1">
                <a:solidFill>
                  <a:srgbClr val="FFFFFF"/>
                </a:solidFill>
                <a:latin typeface="Arial"/>
              </a:rPr>
              <a:t>Monthly audit</a:t>
            </a:r>
          </a:p>
        </p:txBody>
      </p:sp>
      <p:sp>
        <p:nvSpPr>
          <p:cNvPr id="19" name="TextBox 18"/>
          <p:cNvSpPr txBox="1"/>
          <p:nvPr/>
        </p:nvSpPr>
        <p:spPr>
          <a:xfrm>
            <a:off x="6355040" y="2045920"/>
            <a:ext cx="5086400" cy="600000"/>
          </a:xfrm>
          <a:prstGeom prst="rect">
            <a:avLst/>
          </a:prstGeom>
          <a:noFill/>
        </p:spPr>
        <p:txBody>
          <a:bodyPr wrap="square"/>
          <a:lstStyle/>
          <a:p>
            <a:pPr algn="l"/>
            <a:r>
              <a:rPr sz="1100" b="0">
                <a:solidFill>
                  <a:srgbClr val="595959"/>
                </a:solidFill>
                <a:latin typeface="Arial"/>
              </a:rPr>
              <a:t>Reassessment 100% at all six; assessment below 100% at Al Madina (96%) and Al Hamidiya (98%)</a:t>
            </a:r>
          </a:p>
        </p:txBody>
      </p:sp>
      <p:sp>
        <p:nvSpPr>
          <p:cNvPr id="20" name="Rounded Rectangle 19"/>
          <p:cNvSpPr/>
          <p:nvPr/>
        </p:nvSpPr>
        <p:spPr>
          <a:xfrm>
            <a:off x="548640" y="288320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883200"/>
            <a:ext cx="100000" cy="1097280"/>
          </a:xfrm>
          <a:prstGeom prst="rect">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640" y="2943200"/>
            <a:ext cx="3200000" cy="300000"/>
          </a:xfrm>
          <a:prstGeom prst="rect">
            <a:avLst/>
          </a:prstGeom>
          <a:noFill/>
        </p:spPr>
        <p:txBody>
          <a:bodyPr wrap="square"/>
          <a:lstStyle/>
          <a:p>
            <a:pPr algn="l"/>
            <a:r>
              <a:rPr sz="1300" b="1">
                <a:solidFill>
                  <a:srgbClr val="325277"/>
                </a:solidFill>
                <a:latin typeface="Arial"/>
              </a:rPr>
              <a:t>Hand hygiene</a:t>
            </a:r>
          </a:p>
        </p:txBody>
      </p:sp>
      <p:sp>
        <p:nvSpPr>
          <p:cNvPr id="23" name="Rounded Rectangle 22"/>
          <p:cNvSpPr/>
          <p:nvPr/>
        </p:nvSpPr>
        <p:spPr>
          <a:xfrm>
            <a:off x="4348640" y="2953200"/>
            <a:ext cx="1400000" cy="220000"/>
          </a:xfrm>
          <a:prstGeom prst="roundRect">
            <a:avLst>
              <a:gd name="adj" fmla="val 5000"/>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8640" y="2953200"/>
            <a:ext cx="1400000" cy="220000"/>
          </a:xfrm>
          <a:prstGeom prst="rect">
            <a:avLst/>
          </a:prstGeom>
          <a:noFill/>
        </p:spPr>
        <p:txBody>
          <a:bodyPr wrap="square"/>
          <a:lstStyle/>
          <a:p>
            <a:pPr algn="ctr"/>
            <a:r>
              <a:rPr sz="900" b="1">
                <a:solidFill>
                  <a:srgbClr val="FFFFFF"/>
                </a:solidFill>
                <a:latin typeface="Arial"/>
              </a:rPr>
              <a:t>Monthly audit</a:t>
            </a:r>
          </a:p>
        </p:txBody>
      </p:sp>
      <p:sp>
        <p:nvSpPr>
          <p:cNvPr id="25" name="TextBox 24"/>
          <p:cNvSpPr txBox="1"/>
          <p:nvPr/>
        </p:nvSpPr>
        <p:spPr>
          <a:xfrm>
            <a:off x="748640" y="3283200"/>
            <a:ext cx="5086400" cy="600000"/>
          </a:xfrm>
          <a:prstGeom prst="rect">
            <a:avLst/>
          </a:prstGeom>
          <a:noFill/>
        </p:spPr>
        <p:txBody>
          <a:bodyPr wrap="square"/>
          <a:lstStyle/>
          <a:p>
            <a:pPr algn="l"/>
            <a:r>
              <a:rPr sz="1100" b="0">
                <a:solidFill>
                  <a:srgbClr val="595959"/>
                </a:solidFill>
                <a:latin typeface="Arial"/>
              </a:rPr>
              <a:t>All six centres ≥90% in August; 46 of 48 centre-months met Jan–Aug</a:t>
            </a:r>
          </a:p>
        </p:txBody>
      </p:sp>
      <p:sp>
        <p:nvSpPr>
          <p:cNvPr id="26" name="Rounded Rectangle 25"/>
          <p:cNvSpPr/>
          <p:nvPr/>
        </p:nvSpPr>
        <p:spPr>
          <a:xfrm>
            <a:off x="6155040" y="288320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5040" y="2883200"/>
            <a:ext cx="100000" cy="1097280"/>
          </a:xfrm>
          <a:prstGeom prst="rect">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40" y="2943200"/>
            <a:ext cx="3200000" cy="300000"/>
          </a:xfrm>
          <a:prstGeom prst="rect">
            <a:avLst/>
          </a:prstGeom>
          <a:noFill/>
        </p:spPr>
        <p:txBody>
          <a:bodyPr wrap="square"/>
          <a:lstStyle/>
          <a:p>
            <a:pPr algn="l"/>
            <a:r>
              <a:rPr sz="1300" b="1">
                <a:solidFill>
                  <a:srgbClr val="325277"/>
                </a:solidFill>
                <a:latin typeface="Arial"/>
              </a:rPr>
              <a:t>Fall prevention</a:t>
            </a:r>
          </a:p>
        </p:txBody>
      </p:sp>
      <p:sp>
        <p:nvSpPr>
          <p:cNvPr id="29" name="Rounded Rectangle 28"/>
          <p:cNvSpPr/>
          <p:nvPr/>
        </p:nvSpPr>
        <p:spPr>
          <a:xfrm>
            <a:off x="9955040" y="2953200"/>
            <a:ext cx="1400000" cy="220000"/>
          </a:xfrm>
          <a:prstGeom prst="roundRect">
            <a:avLst>
              <a:gd name="adj" fmla="val 5000"/>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55040" y="2953200"/>
            <a:ext cx="1400000" cy="220000"/>
          </a:xfrm>
          <a:prstGeom prst="rect">
            <a:avLst/>
          </a:prstGeom>
          <a:noFill/>
        </p:spPr>
        <p:txBody>
          <a:bodyPr wrap="square"/>
          <a:lstStyle/>
          <a:p>
            <a:pPr algn="ctr"/>
            <a:r>
              <a:rPr sz="900" b="1">
                <a:solidFill>
                  <a:srgbClr val="FFFFFF"/>
                </a:solidFill>
                <a:latin typeface="Arial"/>
              </a:rPr>
              <a:t>Pilot → scale-up</a:t>
            </a:r>
          </a:p>
        </p:txBody>
      </p:sp>
      <p:sp>
        <p:nvSpPr>
          <p:cNvPr id="31" name="TextBox 30"/>
          <p:cNvSpPr txBox="1"/>
          <p:nvPr/>
        </p:nvSpPr>
        <p:spPr>
          <a:xfrm>
            <a:off x="6355040" y="3283200"/>
            <a:ext cx="5086400" cy="600000"/>
          </a:xfrm>
          <a:prstGeom prst="rect">
            <a:avLst/>
          </a:prstGeom>
          <a:noFill/>
        </p:spPr>
        <p:txBody>
          <a:bodyPr wrap="square"/>
          <a:lstStyle/>
          <a:p>
            <a:pPr algn="l"/>
            <a:r>
              <a:rPr sz="1100" b="0">
                <a:solidFill>
                  <a:srgbClr val="595959"/>
                </a:solidFill>
                <a:latin typeface="Arial"/>
              </a:rPr>
              <a:t>Zero falls recorded Jan–Aug 2026; Al Hamidiya pilot — 6 gaps under correction</a:t>
            </a:r>
          </a:p>
        </p:txBody>
      </p:sp>
      <p:sp>
        <p:nvSpPr>
          <p:cNvPr id="32" name="Rounded Rectangle 31"/>
          <p:cNvSpPr/>
          <p:nvPr/>
        </p:nvSpPr>
        <p:spPr>
          <a:xfrm>
            <a:off x="548640" y="412048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120480"/>
            <a:ext cx="100000" cy="109728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8640" y="4180480"/>
            <a:ext cx="3200000" cy="300000"/>
          </a:xfrm>
          <a:prstGeom prst="rect">
            <a:avLst/>
          </a:prstGeom>
          <a:noFill/>
        </p:spPr>
        <p:txBody>
          <a:bodyPr wrap="square"/>
          <a:lstStyle/>
          <a:p>
            <a:pPr algn="l"/>
            <a:r>
              <a:rPr sz="1300" b="1">
                <a:solidFill>
                  <a:srgbClr val="325277"/>
                </a:solidFill>
                <a:latin typeface="Arial"/>
              </a:rPr>
              <a:t>Medication safety</a:t>
            </a:r>
          </a:p>
        </p:txBody>
      </p:sp>
      <p:sp>
        <p:nvSpPr>
          <p:cNvPr id="35" name="Rounded Rectangle 34"/>
          <p:cNvSpPr/>
          <p:nvPr/>
        </p:nvSpPr>
        <p:spPr>
          <a:xfrm>
            <a:off x="4348640" y="4190480"/>
            <a:ext cx="1400000" cy="220000"/>
          </a:xfrm>
          <a:prstGeom prst="roundRect">
            <a:avLst>
              <a:gd name="adj" fmla="val 5000"/>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48640" y="4190480"/>
            <a:ext cx="1400000" cy="220000"/>
          </a:xfrm>
          <a:prstGeom prst="rect">
            <a:avLst/>
          </a:prstGeom>
          <a:noFill/>
        </p:spPr>
        <p:txBody>
          <a:bodyPr wrap="square"/>
          <a:lstStyle/>
          <a:p>
            <a:pPr algn="ctr"/>
            <a:r>
              <a:rPr sz="900" b="1">
                <a:solidFill>
                  <a:srgbClr val="FFFFFF"/>
                </a:solidFill>
                <a:latin typeface="Arial"/>
              </a:rPr>
              <a:t>No KPI</a:t>
            </a:r>
          </a:p>
        </p:txBody>
      </p:sp>
      <p:sp>
        <p:nvSpPr>
          <p:cNvPr id="37" name="TextBox 36"/>
          <p:cNvSpPr txBox="1"/>
          <p:nvPr/>
        </p:nvSpPr>
        <p:spPr>
          <a:xfrm>
            <a:off x="748640" y="4520480"/>
            <a:ext cx="5086400" cy="600000"/>
          </a:xfrm>
          <a:prstGeom prst="rect">
            <a:avLst/>
          </a:prstGeom>
          <a:noFill/>
        </p:spPr>
        <p:txBody>
          <a:bodyPr wrap="square"/>
          <a:lstStyle/>
          <a:p>
            <a:pPr algn="l"/>
            <a:r>
              <a:rPr sz="1100" b="0">
                <a:solidFill>
                  <a:srgbClr val="595959"/>
                </a:solidFill>
                <a:latin typeface="Arial"/>
              </a:rPr>
              <a:t>5 medication/vaccine OVRs Jan–Aug (incl. 1 medication error, 1 side effect — Mushairef, Aug); no monthly KPI</a:t>
            </a:r>
          </a:p>
        </p:txBody>
      </p:sp>
      <p:sp>
        <p:nvSpPr>
          <p:cNvPr id="38" name="Rounded Rectangle 37"/>
          <p:cNvSpPr/>
          <p:nvPr/>
        </p:nvSpPr>
        <p:spPr>
          <a:xfrm>
            <a:off x="6155040" y="4120480"/>
            <a:ext cx="5486400" cy="10972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55040" y="4120480"/>
            <a:ext cx="100000" cy="1097280"/>
          </a:xfrm>
          <a:prstGeom prst="rect">
            <a:avLst/>
          </a:prstGeom>
          <a:solidFill>
            <a:srgbClr val="B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40" y="4180480"/>
            <a:ext cx="3200000" cy="300000"/>
          </a:xfrm>
          <a:prstGeom prst="rect">
            <a:avLst/>
          </a:prstGeom>
          <a:noFill/>
        </p:spPr>
        <p:txBody>
          <a:bodyPr wrap="square"/>
          <a:lstStyle/>
          <a:p>
            <a:pPr algn="l"/>
            <a:r>
              <a:rPr sz="1300" b="1">
                <a:solidFill>
                  <a:srgbClr val="325277"/>
                </a:solidFill>
                <a:latin typeface="Arial"/>
              </a:rPr>
              <a:t>Incident (OVR) reporting</a:t>
            </a:r>
          </a:p>
        </p:txBody>
      </p:sp>
      <p:sp>
        <p:nvSpPr>
          <p:cNvPr id="41" name="Rounded Rectangle 40"/>
          <p:cNvSpPr/>
          <p:nvPr/>
        </p:nvSpPr>
        <p:spPr>
          <a:xfrm>
            <a:off x="9955040" y="4190480"/>
            <a:ext cx="1400000" cy="220000"/>
          </a:xfrm>
          <a:prstGeom prst="roundRect">
            <a:avLst>
              <a:gd name="adj" fmla="val 5000"/>
            </a:avLst>
          </a:prstGeom>
          <a:solidFill>
            <a:srgbClr val="B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55040" y="4190480"/>
            <a:ext cx="1400000" cy="220000"/>
          </a:xfrm>
          <a:prstGeom prst="rect">
            <a:avLst/>
          </a:prstGeom>
          <a:noFill/>
        </p:spPr>
        <p:txBody>
          <a:bodyPr wrap="square"/>
          <a:lstStyle/>
          <a:p>
            <a:pPr algn="ctr"/>
            <a:r>
              <a:rPr sz="900" b="1">
                <a:solidFill>
                  <a:srgbClr val="FFFFFF"/>
                </a:solidFill>
                <a:latin typeface="Arial"/>
              </a:rPr>
              <a:t>Data not flowing</a:t>
            </a:r>
          </a:p>
        </p:txBody>
      </p:sp>
      <p:sp>
        <p:nvSpPr>
          <p:cNvPr id="43" name="TextBox 42"/>
          <p:cNvSpPr txBox="1"/>
          <p:nvPr/>
        </p:nvSpPr>
        <p:spPr>
          <a:xfrm>
            <a:off x="6355040" y="4520480"/>
            <a:ext cx="5086400" cy="600000"/>
          </a:xfrm>
          <a:prstGeom prst="rect">
            <a:avLst/>
          </a:prstGeom>
          <a:noFill/>
        </p:spPr>
        <p:txBody>
          <a:bodyPr wrap="square"/>
          <a:lstStyle/>
          <a:p>
            <a:pPr algn="l"/>
            <a:r>
              <a:rPr sz="1100" b="0">
                <a:solidFill>
                  <a:srgbClr val="595959"/>
                </a:solidFill>
                <a:latin typeface="Arial"/>
              </a:rPr>
              <a:t>58 OVRs logged in centre sheets Jan–Aug — yet the KPI report shows 0; Al Madina has no sheet filed</a:t>
            </a:r>
          </a:p>
        </p:txBody>
      </p:sp>
      <p:sp>
        <p:nvSpPr>
          <p:cNvPr id="44" name="Rectangle 43"/>
          <p:cNvSpPr/>
          <p:nvPr/>
        </p:nvSpPr>
        <p:spPr>
          <a:xfrm>
            <a:off x="548640" y="544068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3232" y="5440680"/>
            <a:ext cx="10911535" cy="502920"/>
          </a:xfrm>
          <a:prstGeom prst="rect">
            <a:avLst/>
          </a:prstGeom>
          <a:noFill/>
        </p:spPr>
        <p:txBody>
          <a:bodyPr wrap="square"/>
          <a:lstStyle/>
          <a:p>
            <a:pPr algn="l"/>
            <a:r>
              <a:rPr sz="1100" b="0">
                <a:solidFill>
                  <a:srgbClr val="595959"/>
                </a:solidFill>
                <a:latin typeface="Arial"/>
              </a:rPr>
              <a:t>Why it matters: Incidents are being reported at centre level (58 in eight months) but never reach the monthly KPI report — leadership sees a false zero.</a:t>
            </a:r>
          </a:p>
        </p:txBody>
      </p:sp>
      <p:sp>
        <p:nvSpPr>
          <p:cNvPr id="46" name="TextBox 45"/>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 PHC KPI Report — August 2026; centre OVR sheets Jan–Aug 2026 (unit folders, 02. OVR Sheet); Fall_Project_Post_Pilot_Jun2026.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QUALITY IMPROVEMENT PORTFOLIO</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Five improvement projects, two with measured results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Status September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22</a:t>
            </a:r>
          </a:p>
        </p:txBody>
      </p:sp>
      <p:graphicFrame>
        <p:nvGraphicFramePr>
          <p:cNvPr id="8" name="Table 7"/>
          <p:cNvGraphicFramePr>
            <a:graphicFrameLocks noGrp="1"/>
          </p:cNvGraphicFramePr>
          <p:nvPr/>
        </p:nvGraphicFramePr>
        <p:xfrm>
          <a:off x="548640" y="1645920"/>
          <a:ext cx="11091672" cy="219456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365760">
                <a:tc>
                  <a:txBody>
                    <a:bodyPr/>
                    <a:lstStyle/>
                    <a:p>
                      <a:pPr>
                        <a:defRPr sz="1100" b="1">
                          <a:solidFill>
                            <a:srgbClr val="FFFFFF"/>
                          </a:solidFill>
                          <a:latin typeface="Arial"/>
                        </a:defRPr>
                      </a:pPr>
                      <a:r>
                        <a:t>Project</a:t>
                      </a:r>
                    </a:p>
                  </a:txBody>
                  <a:tcPr>
                    <a:solidFill>
                      <a:srgbClr val="325277"/>
                    </a:solidFill>
                  </a:tcPr>
                </a:tc>
                <a:tc>
                  <a:txBody>
                    <a:bodyPr/>
                    <a:lstStyle/>
                    <a:p>
                      <a:pPr>
                        <a:defRPr sz="1100" b="1">
                          <a:solidFill>
                            <a:srgbClr val="FFFFFF"/>
                          </a:solidFill>
                          <a:latin typeface="Arial"/>
                        </a:defRPr>
                      </a:pPr>
                      <a:r>
                        <a:t>Scope</a:t>
                      </a:r>
                    </a:p>
                  </a:txBody>
                  <a:tcPr>
                    <a:solidFill>
                      <a:srgbClr val="325277"/>
                    </a:solidFill>
                  </a:tcPr>
                </a:tc>
                <a:tc>
                  <a:txBody>
                    <a:bodyPr/>
                    <a:lstStyle/>
                    <a:p>
                      <a:pPr>
                        <a:defRPr sz="1100" b="1">
                          <a:solidFill>
                            <a:srgbClr val="FFFFFF"/>
                          </a:solidFill>
                          <a:latin typeface="Arial"/>
                        </a:defRPr>
                      </a:pPr>
                      <a:r>
                        <a:t>Stage</a:t>
                      </a:r>
                    </a:p>
                  </a:txBody>
                  <a:tcPr>
                    <a:solidFill>
                      <a:srgbClr val="325277"/>
                    </a:solidFill>
                  </a:tcPr>
                </a:tc>
                <a:tc>
                  <a:txBody>
                    <a:bodyPr/>
                    <a:lstStyle/>
                    <a:p>
                      <a:pPr>
                        <a:defRPr sz="1100" b="1">
                          <a:solidFill>
                            <a:srgbClr val="FFFFFF"/>
                          </a:solidFill>
                          <a:latin typeface="Arial"/>
                        </a:defRPr>
                      </a:pPr>
                      <a:r>
                        <a:t>Measured result to date</a:t>
                      </a:r>
                    </a:p>
                  </a:txBody>
                  <a:tcPr>
                    <a:solidFill>
                      <a:srgbClr val="325277"/>
                    </a:solidFill>
                  </a:tcPr>
                </a:tc>
                <a:tc>
                  <a:txBody>
                    <a:bodyPr/>
                    <a:lstStyle/>
                    <a:p>
                      <a:pPr>
                        <a:defRPr sz="1100" b="1">
                          <a:solidFill>
                            <a:srgbClr val="FFFFFF"/>
                          </a:solidFill>
                          <a:latin typeface="Arial"/>
                        </a:defRPr>
                      </a:pPr>
                      <a:r>
                        <a:t>Status</a:t>
                      </a:r>
                    </a:p>
                  </a:txBody>
                  <a:tcPr>
                    <a:solidFill>
                      <a:srgbClr val="325277"/>
                    </a:solidFill>
                  </a:tcPr>
                </a:tc>
              </a:tr>
              <a:tr h="365760">
                <a:tc>
                  <a:txBody>
                    <a:bodyPr/>
                    <a:lstStyle/>
                    <a:p>
                      <a:pPr>
                        <a:defRPr sz="1100">
                          <a:solidFill>
                            <a:srgbClr val="595959"/>
                          </a:solidFill>
                          <a:latin typeface="Arial"/>
                        </a:defRPr>
                      </a:pPr>
                      <a:r>
                        <a:t>Patient Identification QIP (QIP-PTID-AJM-2026)</a:t>
                      </a:r>
                    </a:p>
                  </a:txBody>
                  <a:tcPr>
                    <a:solidFill>
                      <a:srgbClr val="FFFFFF"/>
                    </a:solidFill>
                  </a:tcPr>
                </a:tc>
                <a:tc>
                  <a:txBody>
                    <a:bodyPr/>
                    <a:lstStyle/>
                    <a:p>
                      <a:pPr algn="r">
                        <a:defRPr sz="1100">
                          <a:solidFill>
                            <a:srgbClr val="595959"/>
                          </a:solidFill>
                          <a:latin typeface="Arial"/>
                        </a:defRPr>
                      </a:pPr>
                      <a:r>
                        <a:t>9 sites</a:t>
                      </a:r>
                    </a:p>
                  </a:txBody>
                  <a:tcPr>
                    <a:solidFill>
                      <a:srgbClr val="FFFFFF"/>
                    </a:solidFill>
                  </a:tcPr>
                </a:tc>
                <a:tc>
                  <a:txBody>
                    <a:bodyPr/>
                    <a:lstStyle/>
                    <a:p>
                      <a:pPr>
                        <a:defRPr sz="1100">
                          <a:solidFill>
                            <a:srgbClr val="595959"/>
                          </a:solidFill>
                          <a:latin typeface="Arial"/>
                        </a:defRPr>
                      </a:pPr>
                      <a:r>
                        <a:t>Training done; behaviour phase Sep–Dec</a:t>
                      </a:r>
                    </a:p>
                  </a:txBody>
                  <a:tcPr>
                    <a:solidFill>
                      <a:srgbClr val="FFFFFF"/>
                    </a:solidFill>
                  </a:tcPr>
                </a:tc>
                <a:tc>
                  <a:txBody>
                    <a:bodyPr/>
                    <a:lstStyle/>
                    <a:p>
                      <a:pPr>
                        <a:defRPr sz="1100">
                          <a:solidFill>
                            <a:srgbClr val="595959"/>
                          </a:solidFill>
                          <a:latin typeface="Arial"/>
                        </a:defRPr>
                      </a:pPr>
                      <a:r>
                        <a:t>Knowledge 83.2% → 94.8%; pass rate 60.7% → 86.7%</a:t>
                      </a:r>
                    </a:p>
                  </a:txBody>
                  <a:tcPr>
                    <a:solidFill>
                      <a:srgbClr val="FFFFFF"/>
                    </a:solidFill>
                  </a:tcPr>
                </a:tc>
                <a:tc>
                  <a:txBody>
                    <a:bodyPr/>
                    <a:lstStyle/>
                    <a:p>
                      <a:pPr>
                        <a:defRPr sz="1100">
                          <a:solidFill>
                            <a:srgbClr val="595959"/>
                          </a:solidFill>
                          <a:latin typeface="Arial"/>
                        </a:defRPr>
                      </a:pPr>
                      <a:r>
                        <a:t>On track</a:t>
                      </a:r>
                    </a:p>
                  </a:txBody>
                  <a:tcPr>
                    <a:solidFill>
                      <a:srgbClr val="FFFFFF"/>
                    </a:solidFill>
                  </a:tcPr>
                </a:tc>
              </a:tr>
              <a:tr h="365760">
                <a:tc>
                  <a:txBody>
                    <a:bodyPr/>
                    <a:lstStyle/>
                    <a:p>
                      <a:pPr>
                        <a:defRPr sz="1100">
                          <a:solidFill>
                            <a:srgbClr val="595959"/>
                          </a:solidFill>
                          <a:latin typeface="Arial"/>
                        </a:defRPr>
                      </a:pPr>
                      <a:r>
                        <a:t>Patient Fall Risk Prevention</a:t>
                      </a:r>
                    </a:p>
                  </a:txBody>
                  <a:tcPr>
                    <a:solidFill>
                      <a:srgbClr val="F2F2F2"/>
                    </a:solidFill>
                  </a:tcPr>
                </a:tc>
                <a:tc>
                  <a:txBody>
                    <a:bodyPr/>
                    <a:lstStyle/>
                    <a:p>
                      <a:pPr>
                        <a:defRPr sz="1100">
                          <a:solidFill>
                            <a:srgbClr val="595959"/>
                          </a:solidFill>
                          <a:latin typeface="Arial"/>
                        </a:defRPr>
                      </a:pPr>
                      <a:r>
                        <a:t>Al Hamidiya pilot → all sites</a:t>
                      </a:r>
                    </a:p>
                  </a:txBody>
                  <a:tcPr>
                    <a:solidFill>
                      <a:srgbClr val="F2F2F2"/>
                    </a:solidFill>
                  </a:tcPr>
                </a:tc>
                <a:tc>
                  <a:txBody>
                    <a:bodyPr/>
                    <a:lstStyle/>
                    <a:p>
                      <a:pPr>
                        <a:defRPr sz="1100">
                          <a:solidFill>
                            <a:srgbClr val="595959"/>
                          </a:solidFill>
                          <a:latin typeface="Arial"/>
                        </a:defRPr>
                      </a:pPr>
                      <a:r>
                        <a:t>Post-pilot, Jun 2026</a:t>
                      </a:r>
                    </a:p>
                  </a:txBody>
                  <a:tcPr>
                    <a:solidFill>
                      <a:srgbClr val="F2F2F2"/>
                    </a:solidFill>
                  </a:tcPr>
                </a:tc>
                <a:tc>
                  <a:txBody>
                    <a:bodyPr/>
                    <a:lstStyle/>
                    <a:p>
                      <a:pPr algn="r">
                        <a:defRPr sz="1100">
                          <a:solidFill>
                            <a:srgbClr val="595959"/>
                          </a:solidFill>
                          <a:latin typeface="Arial"/>
                        </a:defRPr>
                      </a:pPr>
                      <a:r>
                        <a:t>6 gaps found, corrections in progress; 0 falls Jan–Aug</a:t>
                      </a:r>
                    </a:p>
                  </a:txBody>
                  <a:tcPr>
                    <a:solidFill>
                      <a:srgbClr val="F2F2F2"/>
                    </a:solidFill>
                  </a:tcPr>
                </a:tc>
                <a:tc>
                  <a:txBody>
                    <a:bodyPr/>
                    <a:lstStyle/>
                    <a:p>
                      <a:pPr>
                        <a:defRPr sz="1100">
                          <a:solidFill>
                            <a:srgbClr val="595959"/>
                          </a:solidFill>
                          <a:latin typeface="Arial"/>
                        </a:defRPr>
                      </a:pPr>
                      <a:r>
                        <a:t>Scale-up</a:t>
                      </a:r>
                    </a:p>
                  </a:txBody>
                  <a:tcPr>
                    <a:solidFill>
                      <a:srgbClr val="F2F2F2"/>
                    </a:solidFill>
                  </a:tcPr>
                </a:tc>
              </a:tr>
              <a:tr h="365760">
                <a:tc>
                  <a:txBody>
                    <a:bodyPr/>
                    <a:lstStyle/>
                    <a:p>
                      <a:pPr>
                        <a:defRPr sz="1100">
                          <a:solidFill>
                            <a:srgbClr val="595959"/>
                          </a:solidFill>
                          <a:latin typeface="Arial"/>
                        </a:defRPr>
                      </a:pPr>
                      <a:r>
                        <a:t>Productivity trend analysis &amp; RCA</a:t>
                      </a:r>
                    </a:p>
                  </a:txBody>
                  <a:tcPr>
                    <a:solidFill>
                      <a:srgbClr val="FFFFFF"/>
                    </a:solidFill>
                  </a:tcPr>
                </a:tc>
                <a:tc>
                  <a:txBody>
                    <a:bodyPr/>
                    <a:lstStyle/>
                    <a:p>
                      <a:pPr algn="r">
                        <a:defRPr sz="1100">
                          <a:solidFill>
                            <a:srgbClr val="595959"/>
                          </a:solidFill>
                          <a:latin typeface="Arial"/>
                        </a:defRPr>
                      </a:pPr>
                      <a:r>
                        <a:t>9 sites</a:t>
                      </a:r>
                    </a:p>
                  </a:txBody>
                  <a:tcPr>
                    <a:solidFill>
                      <a:srgbClr val="FFFFFF"/>
                    </a:solidFill>
                  </a:tcPr>
                </a:tc>
                <a:tc>
                  <a:txBody>
                    <a:bodyPr/>
                    <a:lstStyle/>
                    <a:p>
                      <a:pPr>
                        <a:defRPr sz="1100">
                          <a:solidFill>
                            <a:srgbClr val="595959"/>
                          </a:solidFill>
                          <a:latin typeface="Arial"/>
                        </a:defRPr>
                      </a:pPr>
                      <a:r>
                        <a:t>RCA 24 Aug 2026; centre action plans Sep 2026</a:t>
                      </a:r>
                    </a:p>
                  </a:txBody>
                  <a:tcPr>
                    <a:solidFill>
                      <a:srgbClr val="FFFFFF"/>
                    </a:solidFill>
                  </a:tcPr>
                </a:tc>
                <a:tc>
                  <a:txBody>
                    <a:bodyPr/>
                    <a:lstStyle/>
                    <a:p>
                      <a:pPr algn="r">
                        <a:defRPr sz="1100">
                          <a:solidFill>
                            <a:srgbClr val="595959"/>
                          </a:solidFill>
                          <a:latin typeface="Arial"/>
                        </a:defRPr>
                      </a:pPr>
                      <a:r>
                        <a:t>0 of 48 clinic centre-months at band</a:t>
                      </a:r>
                    </a:p>
                  </a:txBody>
                  <a:tcPr>
                    <a:solidFill>
                      <a:srgbClr val="FFFFFF"/>
                    </a:solidFill>
                  </a:tcPr>
                </a:tc>
                <a:tc>
                  <a:txBody>
                    <a:bodyPr/>
                    <a:lstStyle/>
                    <a:p>
                      <a:pPr>
                        <a:defRPr sz="1100">
                          <a:solidFill>
                            <a:srgbClr val="595959"/>
                          </a:solidFill>
                          <a:latin typeface="Arial"/>
                        </a:defRPr>
                      </a:pPr>
                      <a:r>
                        <a:t>Gap persists</a:t>
                      </a:r>
                    </a:p>
                  </a:txBody>
                  <a:tcPr>
                    <a:solidFill>
                      <a:srgbClr val="FFFFFF"/>
                    </a:solidFill>
                  </a:tcPr>
                </a:tc>
              </a:tr>
              <a:tr h="365760">
                <a:tc>
                  <a:txBody>
                    <a:bodyPr/>
                    <a:lstStyle/>
                    <a:p>
                      <a:pPr>
                        <a:defRPr sz="1100">
                          <a:solidFill>
                            <a:srgbClr val="595959"/>
                          </a:solidFill>
                          <a:latin typeface="Arial"/>
                        </a:defRPr>
                      </a:pPr>
                      <a:r>
                        <a:t>Nursing Documentation Excellence</a:t>
                      </a:r>
                    </a:p>
                  </a:txBody>
                  <a:tcPr>
                    <a:solidFill>
                      <a:srgbClr val="F2F2F2"/>
                    </a:solidFill>
                  </a:tcPr>
                </a:tc>
                <a:tc>
                  <a:txBody>
                    <a:bodyPr/>
                    <a:lstStyle/>
                    <a:p>
                      <a:pPr>
                        <a:defRPr sz="1100">
                          <a:solidFill>
                            <a:srgbClr val="595959"/>
                          </a:solidFill>
                          <a:latin typeface="Arial"/>
                        </a:defRPr>
                      </a:pPr>
                      <a:r>
                        <a:t>All sites</a:t>
                      </a:r>
                    </a:p>
                  </a:txBody>
                  <a:tcPr>
                    <a:solidFill>
                      <a:srgbClr val="F2F2F2"/>
                    </a:solidFill>
                  </a:tcPr>
                </a:tc>
                <a:tc>
                  <a:txBody>
                    <a:bodyPr/>
                    <a:lstStyle/>
                    <a:p>
                      <a:pPr>
                        <a:defRPr sz="1100">
                          <a:solidFill>
                            <a:srgbClr val="595959"/>
                          </a:solidFill>
                          <a:latin typeface="Arial"/>
                        </a:defRPr>
                      </a:pPr>
                      <a:r>
                        <a:t>Endorsed by NOC, May 2026</a:t>
                      </a:r>
                    </a:p>
                  </a:txBody>
                  <a:tcPr>
                    <a:solidFill>
                      <a:srgbClr val="F2F2F2"/>
                    </a:solidFill>
                  </a:tcPr>
                </a:tc>
                <a:tc>
                  <a:txBody>
                    <a:bodyPr/>
                    <a:lstStyle/>
                    <a:p>
                      <a:pPr>
                        <a:defRPr sz="1100">
                          <a:solidFill>
                            <a:srgbClr val="595959"/>
                          </a:solidFill>
                          <a:latin typeface="Arial"/>
                        </a:defRPr>
                      </a:pPr>
                      <a:r>
                        <a:t>Documentation 48 of 48 at target</a:t>
                      </a:r>
                    </a:p>
                  </a:txBody>
                  <a:tcPr>
                    <a:solidFill>
                      <a:srgbClr val="F2F2F2"/>
                    </a:solidFill>
                  </a:tcPr>
                </a:tc>
                <a:tc>
                  <a:txBody>
                    <a:bodyPr/>
                    <a:lstStyle/>
                    <a:p>
                      <a:pPr>
                        <a:defRPr sz="1100">
                          <a:solidFill>
                            <a:srgbClr val="595959"/>
                          </a:solidFill>
                          <a:latin typeface="Arial"/>
                        </a:defRPr>
                      </a:pPr>
                      <a:r>
                        <a:t>Sustain</a:t>
                      </a:r>
                    </a:p>
                  </a:txBody>
                  <a:tcPr>
                    <a:solidFill>
                      <a:srgbClr val="F2F2F2"/>
                    </a:solidFill>
                  </a:tcPr>
                </a:tc>
              </a:tr>
              <a:tr h="365760">
                <a:tc>
                  <a:txBody>
                    <a:bodyPr/>
                    <a:lstStyle/>
                    <a:p>
                      <a:pPr>
                        <a:defRPr sz="1100">
                          <a:solidFill>
                            <a:srgbClr val="595959"/>
                          </a:solidFill>
                          <a:latin typeface="Arial"/>
                        </a:defRPr>
                      </a:pPr>
                      <a:r>
                        <a:t>Staff culture — SSIP 2026</a:t>
                      </a:r>
                    </a:p>
                  </a:txBody>
                  <a:tcPr>
                    <a:solidFill>
                      <a:srgbClr val="FFFFFF"/>
                    </a:solidFill>
                  </a:tcPr>
                </a:tc>
                <a:tc>
                  <a:txBody>
                    <a:bodyPr/>
                    <a:lstStyle/>
                    <a:p>
                      <a:pPr>
                        <a:defRPr sz="1100">
                          <a:solidFill>
                            <a:srgbClr val="595959"/>
                          </a:solidFill>
                          <a:latin typeface="Arial"/>
                        </a:defRPr>
                      </a:pPr>
                      <a:r>
                        <a:t>PHC, PHS, SH</a:t>
                      </a:r>
                    </a:p>
                  </a:txBody>
                  <a:tcPr>
                    <a:solidFill>
                      <a:srgbClr val="FFFFFF"/>
                    </a:solidFill>
                  </a:tcPr>
                </a:tc>
                <a:tc>
                  <a:txBody>
                    <a:bodyPr/>
                    <a:lstStyle/>
                    <a:p>
                      <a:pPr>
                        <a:defRPr sz="1100">
                          <a:solidFill>
                            <a:srgbClr val="595959"/>
                          </a:solidFill>
                          <a:latin typeface="Arial"/>
                        </a:defRPr>
                      </a:pPr>
                      <a:r>
                        <a:t>Q2 review Jun 2026; 2026–27 plan</a:t>
                      </a:r>
                    </a:p>
                  </a:txBody>
                  <a:tcPr>
                    <a:solidFill>
                      <a:srgbClr val="FFFFFF"/>
                    </a:solidFill>
                  </a:tcPr>
                </a:tc>
                <a:tc>
                  <a:txBody>
                    <a:bodyPr/>
                    <a:lstStyle/>
                    <a:p>
                      <a:pPr>
                        <a:defRPr sz="1100">
                          <a:solidFill>
                            <a:srgbClr val="595959"/>
                          </a:solidFill>
                          <a:latin typeface="Arial"/>
                        </a:defRPr>
                      </a:pPr>
                      <a:r>
                        <a:t>Culture score 4.07 → 4.15; 5 of 49 actions complete</a:t>
                      </a:r>
                    </a:p>
                  </a:txBody>
                  <a:tcPr>
                    <a:solidFill>
                      <a:srgbClr val="FFFFFF"/>
                    </a:solidFill>
                  </a:tcPr>
                </a:tc>
                <a:tc>
                  <a:txBody>
                    <a:bodyPr/>
                    <a:lstStyle/>
                    <a:p>
                      <a:pPr>
                        <a:defRPr sz="1100">
                          <a:solidFill>
                            <a:srgbClr val="595959"/>
                          </a:solidFill>
                          <a:latin typeface="Arial"/>
                        </a:defRPr>
                      </a:pPr>
                      <a:r>
                        <a:t>In progress</a:t>
                      </a:r>
                    </a:p>
                  </a:txBody>
                  <a:tcPr>
                    <a:solidFill>
                      <a:srgbClr val="FFFFFF"/>
                    </a:solidFill>
                  </a:tcPr>
                </a:tc>
              </a:tr>
            </a:tbl>
          </a:graphicData>
        </a:graphic>
      </p:graphicFrame>
      <p:sp>
        <p:nvSpPr>
          <p:cNvPr id="9" name="Rectangle 8"/>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Two projects can already show before-and-after results; the productivity work now moves from analysis to action, and culture needs to be re-measured.</a:t>
            </a:r>
          </a:p>
        </p:txBody>
      </p:sp>
      <p:sp>
        <p:nvSpPr>
          <p:cNvPr id="11" name="TextBox 10"/>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07. QIPs (Patient Identification; 14. Fall Project); NP_Productivity_Trend_Analysis v1.0; centre _04_Productivity action plans (Sep 2026); SSIP 2026 Q2 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PATIENT IDENTIFICATION QIP</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Knowledge fixed in four weeks; practice must now hold at 100%</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QIP-PTID-AJM-2026 · EHS Policy PHC/Admin/002 · JCI IPSG.1 · Leads: Nadia Qasem &amp; Tareq Mohammed Abu Alkhair</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23</a:t>
            </a:r>
          </a:p>
        </p:txBody>
      </p:sp>
      <p:graphicFrame>
        <p:nvGraphicFramePr>
          <p:cNvPr id="8" name="Patient ID centres at 100% by month chart"/>
          <p:cNvGraphicFramePr>
            <a:graphicFrameLocks noGrp="1"/>
          </p:cNvGraphicFramePr>
          <p:nvPr/>
        </p:nvGraphicFramePr>
        <p:xfrm>
          <a:off x="548640" y="1645920"/>
          <a:ext cx="5120640" cy="3108960"/>
        </p:xfrm>
        <a:graphic>
          <a:graphicData uri="http://schemas.openxmlformats.org/drawingml/2006/chart">
            <c:chart xmlns:c="http://schemas.openxmlformats.org/drawingml/2006/chart" r:id="rId2"/>
          </a:graphicData>
        </a:graphic>
      </p:graphicFrame>
      <p:sp>
        <p:nvSpPr>
          <p:cNvPr id="9" name="TextBox 8"/>
          <p:cNvSpPr txBox="1"/>
          <p:nvPr/>
        </p:nvSpPr>
        <p:spPr>
          <a:xfrm>
            <a:off x="548640" y="4773168"/>
            <a:ext cx="5120640" cy="274320"/>
          </a:xfrm>
          <a:prstGeom prst="rect">
            <a:avLst/>
          </a:prstGeom>
          <a:noFill/>
        </p:spPr>
        <p:txBody>
          <a:bodyPr wrap="square"/>
          <a:lstStyle/>
          <a:p>
            <a:pPr algn="l"/>
            <a:r>
              <a:rPr sz="1100" b="0">
                <a:solidFill>
                  <a:srgbClr val="595959"/>
                </a:solidFill>
                <a:latin typeface="Arial"/>
              </a:rPr>
              <a:t>July dip: Al Muzeirah 38%, before training started in August.</a:t>
            </a:r>
          </a:p>
        </p:txBody>
      </p:sp>
      <p:graphicFrame>
        <p:nvGraphicFramePr>
          <p:cNvPr id="10" name="Patient ID before after comparison chart"/>
          <p:cNvGraphicFramePr>
            <a:graphicFrameLocks noGrp="1"/>
          </p:cNvGraphicFramePr>
          <p:nvPr/>
        </p:nvGraphicFramePr>
        <p:xfrm>
          <a:off x="5852160" y="1645920"/>
          <a:ext cx="2926080" cy="3108960"/>
        </p:xfrm>
        <a:graphic>
          <a:graphicData uri="http://schemas.openxmlformats.org/drawingml/2006/chart">
            <c:chart xmlns:c="http://schemas.openxmlformats.org/drawingml/2006/chart" r:id="rId3"/>
          </a:graphicData>
        </a:graphic>
      </p:graphicFrame>
      <p:sp>
        <p:nvSpPr>
          <p:cNvPr id="11" name="TextBox 10"/>
          <p:cNvSpPr txBox="1"/>
          <p:nvPr/>
        </p:nvSpPr>
        <p:spPr>
          <a:xfrm>
            <a:off x="9006840" y="1645920"/>
            <a:ext cx="2651760" cy="274320"/>
          </a:xfrm>
          <a:prstGeom prst="rect">
            <a:avLst/>
          </a:prstGeom>
          <a:noFill/>
        </p:spPr>
        <p:txBody>
          <a:bodyPr wrap="square"/>
          <a:lstStyle/>
          <a:p>
            <a:pPr algn="l"/>
            <a:r>
              <a:rPr sz="1300" b="1">
                <a:solidFill>
                  <a:srgbClr val="325277"/>
                </a:solidFill>
                <a:latin typeface="Arial"/>
              </a:rPr>
              <a:t>Kirkpatrick evaluation</a:t>
            </a:r>
          </a:p>
        </p:txBody>
      </p:sp>
      <p:sp>
        <p:nvSpPr>
          <p:cNvPr id="12" name="Rounded Rectangle 11"/>
          <p:cNvSpPr/>
          <p:nvPr/>
        </p:nvSpPr>
        <p:spPr>
          <a:xfrm>
            <a:off x="9006840" y="1965960"/>
            <a:ext cx="2651760" cy="56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06840" y="1965960"/>
            <a:ext cx="60000" cy="560000"/>
          </a:xfrm>
          <a:prstGeom prst="rect">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1985960"/>
            <a:ext cx="2468880" cy="230000"/>
          </a:xfrm>
          <a:prstGeom prst="rect">
            <a:avLst/>
          </a:prstGeom>
          <a:noFill/>
        </p:spPr>
        <p:txBody>
          <a:bodyPr wrap="square"/>
          <a:lstStyle/>
          <a:p>
            <a:pPr algn="l"/>
            <a:r>
              <a:rPr sz="1100" b="1">
                <a:solidFill>
                  <a:srgbClr val="325277"/>
                </a:solidFill>
                <a:latin typeface="Arial"/>
              </a:rPr>
              <a:t>1 Reaction</a:t>
            </a:r>
          </a:p>
        </p:txBody>
      </p:sp>
      <p:sp>
        <p:nvSpPr>
          <p:cNvPr id="15" name="TextBox 14"/>
          <p:cNvSpPr txBox="1"/>
          <p:nvPr/>
        </p:nvSpPr>
        <p:spPr>
          <a:xfrm>
            <a:off x="9125712" y="2225960"/>
            <a:ext cx="2468880" cy="280000"/>
          </a:xfrm>
          <a:prstGeom prst="rect">
            <a:avLst/>
          </a:prstGeom>
          <a:noFill/>
        </p:spPr>
        <p:txBody>
          <a:bodyPr wrap="square"/>
          <a:lstStyle/>
          <a:p>
            <a:pPr algn="l"/>
            <a:r>
              <a:rPr sz="1000" b="0">
                <a:solidFill>
                  <a:srgbClr val="595959"/>
                </a:solidFill>
                <a:latin typeface="Arial"/>
              </a:rPr>
              <a:t>Achieved — 53 of 65 rated 5/5</a:t>
            </a:r>
          </a:p>
        </p:txBody>
      </p:sp>
      <p:sp>
        <p:nvSpPr>
          <p:cNvPr id="16" name="Rounded Rectangle 15"/>
          <p:cNvSpPr/>
          <p:nvPr/>
        </p:nvSpPr>
        <p:spPr>
          <a:xfrm>
            <a:off x="9006840" y="2587752"/>
            <a:ext cx="2651760" cy="56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06840" y="2587752"/>
            <a:ext cx="60000" cy="560000"/>
          </a:xfrm>
          <a:prstGeom prst="rect">
            <a:avLst/>
          </a:prstGeom>
          <a:solidFill>
            <a:srgbClr val="2E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2" y="2607752"/>
            <a:ext cx="2468880" cy="230000"/>
          </a:xfrm>
          <a:prstGeom prst="rect">
            <a:avLst/>
          </a:prstGeom>
          <a:noFill/>
        </p:spPr>
        <p:txBody>
          <a:bodyPr wrap="square"/>
          <a:lstStyle/>
          <a:p>
            <a:pPr algn="l"/>
            <a:r>
              <a:rPr sz="1100" b="1">
                <a:solidFill>
                  <a:srgbClr val="325277"/>
                </a:solidFill>
                <a:latin typeface="Arial"/>
              </a:rPr>
              <a:t>2 Learning</a:t>
            </a:r>
          </a:p>
        </p:txBody>
      </p:sp>
      <p:sp>
        <p:nvSpPr>
          <p:cNvPr id="19" name="TextBox 18"/>
          <p:cNvSpPr txBox="1"/>
          <p:nvPr/>
        </p:nvSpPr>
        <p:spPr>
          <a:xfrm>
            <a:off x="9125712" y="2847752"/>
            <a:ext cx="2468880" cy="280000"/>
          </a:xfrm>
          <a:prstGeom prst="rect">
            <a:avLst/>
          </a:prstGeom>
          <a:noFill/>
        </p:spPr>
        <p:txBody>
          <a:bodyPr wrap="square"/>
          <a:lstStyle/>
          <a:p>
            <a:pPr algn="l"/>
            <a:r>
              <a:rPr sz="1000" b="0">
                <a:solidFill>
                  <a:srgbClr val="595959"/>
                </a:solidFill>
                <a:latin typeface="Arial"/>
              </a:rPr>
              <a:t>Substantially achieved</a:t>
            </a:r>
          </a:p>
        </p:txBody>
      </p:sp>
      <p:sp>
        <p:nvSpPr>
          <p:cNvPr id="20" name="Rounded Rectangle 19"/>
          <p:cNvSpPr/>
          <p:nvPr/>
        </p:nvSpPr>
        <p:spPr>
          <a:xfrm>
            <a:off x="9006840" y="3209544"/>
            <a:ext cx="2651760" cy="56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3209544"/>
            <a:ext cx="60000" cy="5600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3229544"/>
            <a:ext cx="2468880" cy="230000"/>
          </a:xfrm>
          <a:prstGeom prst="rect">
            <a:avLst/>
          </a:prstGeom>
          <a:noFill/>
        </p:spPr>
        <p:txBody>
          <a:bodyPr wrap="square"/>
          <a:lstStyle/>
          <a:p>
            <a:pPr algn="l"/>
            <a:r>
              <a:rPr sz="1100" b="1">
                <a:solidFill>
                  <a:srgbClr val="325277"/>
                </a:solidFill>
                <a:latin typeface="Arial"/>
              </a:rPr>
              <a:t>3 Behaviour</a:t>
            </a:r>
          </a:p>
        </p:txBody>
      </p:sp>
      <p:sp>
        <p:nvSpPr>
          <p:cNvPr id="23" name="TextBox 22"/>
          <p:cNvSpPr txBox="1"/>
          <p:nvPr/>
        </p:nvSpPr>
        <p:spPr>
          <a:xfrm>
            <a:off x="9125712" y="3469544"/>
            <a:ext cx="2468880" cy="280000"/>
          </a:xfrm>
          <a:prstGeom prst="rect">
            <a:avLst/>
          </a:prstGeom>
          <a:noFill/>
        </p:spPr>
        <p:txBody>
          <a:bodyPr wrap="square"/>
          <a:lstStyle/>
          <a:p>
            <a:pPr algn="l"/>
            <a:r>
              <a:rPr sz="1000" b="0">
                <a:solidFill>
                  <a:srgbClr val="595959"/>
                </a:solidFill>
                <a:latin typeface="Arial"/>
              </a:rPr>
              <a:t>In progress — observation checklist Sep–Dec</a:t>
            </a:r>
          </a:p>
        </p:txBody>
      </p:sp>
      <p:sp>
        <p:nvSpPr>
          <p:cNvPr id="24" name="Rounded Rectangle 23"/>
          <p:cNvSpPr/>
          <p:nvPr/>
        </p:nvSpPr>
        <p:spPr>
          <a:xfrm>
            <a:off x="9006840" y="3831336"/>
            <a:ext cx="2651760" cy="56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3831336"/>
            <a:ext cx="60000" cy="560000"/>
          </a:xfrm>
          <a:prstGeom prst="rect">
            <a:avLst/>
          </a:prstGeom>
          <a:solidFill>
            <a:srgbClr val="A9B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5712" y="3851336"/>
            <a:ext cx="2468880" cy="230000"/>
          </a:xfrm>
          <a:prstGeom prst="rect">
            <a:avLst/>
          </a:prstGeom>
          <a:noFill/>
        </p:spPr>
        <p:txBody>
          <a:bodyPr wrap="square"/>
          <a:lstStyle/>
          <a:p>
            <a:pPr algn="l"/>
            <a:r>
              <a:rPr sz="1100" b="1">
                <a:solidFill>
                  <a:srgbClr val="325277"/>
                </a:solidFill>
                <a:latin typeface="Arial"/>
              </a:rPr>
              <a:t>4 Results</a:t>
            </a:r>
          </a:p>
        </p:txBody>
      </p:sp>
      <p:sp>
        <p:nvSpPr>
          <p:cNvPr id="27" name="TextBox 26"/>
          <p:cNvSpPr txBox="1"/>
          <p:nvPr/>
        </p:nvSpPr>
        <p:spPr>
          <a:xfrm>
            <a:off x="9125712" y="4091336"/>
            <a:ext cx="2468880" cy="280000"/>
          </a:xfrm>
          <a:prstGeom prst="rect">
            <a:avLst/>
          </a:prstGeom>
          <a:noFill/>
        </p:spPr>
        <p:txBody>
          <a:bodyPr wrap="square"/>
          <a:lstStyle/>
          <a:p>
            <a:pPr algn="l"/>
            <a:r>
              <a:rPr sz="1000" b="0">
                <a:solidFill>
                  <a:srgbClr val="595959"/>
                </a:solidFill>
                <a:latin typeface="Arial"/>
              </a:rPr>
              <a:t>Pending — needs 3 consecutive months at 100%</a:t>
            </a:r>
          </a:p>
        </p:txBody>
      </p:sp>
      <p:sp>
        <p:nvSpPr>
          <p:cNvPr id="28" name="TextBox 27"/>
          <p:cNvSpPr txBox="1"/>
          <p:nvPr/>
        </p:nvSpPr>
        <p:spPr>
          <a:xfrm>
            <a:off x="548640" y="5074920"/>
            <a:ext cx="11091672" cy="365760"/>
          </a:xfrm>
          <a:prstGeom prst="rect">
            <a:avLst/>
          </a:prstGeom>
          <a:noFill/>
        </p:spPr>
        <p:txBody>
          <a:bodyPr wrap="square"/>
          <a:lstStyle/>
          <a:p>
            <a:pPr algn="l"/>
            <a:r>
              <a:rPr sz="1100" b="0">
                <a:solidFill>
                  <a:srgbClr val="595959"/>
                </a:solidFill>
                <a:latin typeface="Arial"/>
              </a:rPr>
              <a:t>100 staff trained across 9 sites, 12 Aug – 4 Sep 2026. Residual gaps: role of Emirates ID (78.3%) and three-identifier rule (86.7%).</a:t>
            </a:r>
          </a:p>
        </p:txBody>
      </p:sp>
      <p:sp>
        <p:nvSpPr>
          <p:cNvPr id="29" name="Rectangle 28"/>
          <p:cNvSpPr/>
          <p:nvPr/>
        </p:nvSpPr>
        <p:spPr>
          <a:xfrm>
            <a:off x="548640" y="553212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532120"/>
            <a:ext cx="10911535" cy="502920"/>
          </a:xfrm>
          <a:prstGeom prst="rect">
            <a:avLst/>
          </a:prstGeom>
          <a:noFill/>
        </p:spPr>
        <p:txBody>
          <a:bodyPr wrap="square"/>
          <a:lstStyle/>
          <a:p>
            <a:pPr algn="l"/>
            <a:r>
              <a:rPr sz="1100" b="0">
                <a:solidFill>
                  <a:srgbClr val="595959"/>
                </a:solidFill>
                <a:latin typeface="Arial"/>
              </a:rPr>
              <a:t>Why it matters: The project meets its aim only if every site holds 100% for three consecutive months (Oct–Dec 2026) — the evidence an auditor will ask for.</a:t>
            </a:r>
          </a:p>
        </p:txBody>
      </p:sp>
      <p:sp>
        <p:nvSpPr>
          <p:cNvPr id="31" name="TextBox 30"/>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Patient_ID_QIP_Deep_Analysis_ROI_Audit_Readiness_Report (8 Sep 2026); Kirkpatrick_Model_Complete_Results_Levels1-4; Ajman PHC KPI Reports Jan–Aug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NURSING GOVERNANCE</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Clear lines, five councils — two with 2026 records on file</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Structure and council evidence, September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24</a:t>
            </a:r>
          </a:p>
        </p:txBody>
      </p:sp>
      <p:sp>
        <p:nvSpPr>
          <p:cNvPr id="8" name="Rectangle 7"/>
          <p:cNvSpPr/>
          <p:nvPr/>
        </p:nvSpPr>
        <p:spPr>
          <a:xfrm>
            <a:off x="0" y="0"/>
            <a:ext cx="91440" cy="685800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00000" y="347472"/>
            <a:ext cx="1800000" cy="365760"/>
          </a:xfrm>
          <a:prstGeom prst="roundRect">
            <a:avLst>
              <a:gd name="adj" fmla="val 1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WORKFORCE</a:t>
            </a:r>
          </a:p>
        </p:txBody>
      </p:sp>
      <p:sp>
        <p:nvSpPr>
          <p:cNvPr id="10" name="Rounded Rectangle 9"/>
          <p:cNvSpPr/>
          <p:nvPr/>
        </p:nvSpPr>
        <p:spPr>
          <a:xfrm>
            <a:off x="2148840" y="1645920"/>
            <a:ext cx="2743200" cy="731520"/>
          </a:xfrm>
          <a:prstGeom prst="roundRect">
            <a:avLst>
              <a:gd name="adj" fmla="val 5000"/>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40" y="1645920"/>
            <a:ext cx="2743200" cy="731520"/>
          </a:xfrm>
          <a:prstGeom prst="rect">
            <a:avLst/>
          </a:prstGeom>
          <a:noFill/>
        </p:spPr>
        <p:txBody>
          <a:bodyPr wrap="square"/>
          <a:lstStyle/>
          <a:p>
            <a:pPr algn="ctr"/>
            <a:r>
              <a:rPr sz="1100" b="1">
                <a:solidFill>
                  <a:srgbClr val="FFFFFF"/>
                </a:solidFill>
                <a:latin typeface="Arial"/>
              </a:rPr>
              <a:t>Jihan Salem Marzooq
Assistant Director of Nursing Affairs</a:t>
            </a:r>
          </a:p>
        </p:txBody>
      </p:sp>
      <p:cxnSp>
        <p:nvCxnSpPr>
          <p:cNvPr id="12" name="Connector 11"/>
          <p:cNvCxnSpPr/>
          <p:nvPr/>
        </p:nvCxnSpPr>
        <p:spPr>
          <a:xfrm>
            <a:off x="3520440" y="2377440"/>
            <a:ext cx="0" cy="182880"/>
          </a:xfrm>
          <a:prstGeom prst="line">
            <a:avLst/>
          </a:prstGeom>
          <a:ln w="19050">
            <a:solidFill>
              <a:srgbClr val="A9B4C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965960" y="2560320"/>
            <a:ext cx="3108960" cy="0"/>
          </a:xfrm>
          <a:prstGeom prst="line">
            <a:avLst/>
          </a:prstGeom>
          <a:ln w="19050">
            <a:solidFill>
              <a:srgbClr val="A9B4C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2743200"/>
            <a:ext cx="2834640" cy="731520"/>
          </a:xfrm>
          <a:prstGeom prst="roundRect">
            <a:avLst>
              <a:gd name="adj" fmla="val 5000"/>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743200"/>
            <a:ext cx="2834640" cy="731520"/>
          </a:xfrm>
          <a:prstGeom prst="rect">
            <a:avLst/>
          </a:prstGeom>
          <a:noFill/>
        </p:spPr>
        <p:txBody>
          <a:bodyPr wrap="square"/>
          <a:lstStyle/>
          <a:p>
            <a:pPr algn="ctr"/>
            <a:r>
              <a:rPr sz="1000" b="1">
                <a:solidFill>
                  <a:srgbClr val="FFFFFF"/>
                </a:solidFill>
                <a:latin typeface="Arial"/>
              </a:rPr>
              <a:t>Tareq Mohammed Abu Alkhair
Nurse Manager — 5 PHCs</a:t>
            </a:r>
          </a:p>
        </p:txBody>
      </p:sp>
      <p:sp>
        <p:nvSpPr>
          <p:cNvPr id="16" name="Rounded Rectangle 15"/>
          <p:cNvSpPr/>
          <p:nvPr/>
        </p:nvSpPr>
        <p:spPr>
          <a:xfrm>
            <a:off x="3657600" y="2743200"/>
            <a:ext cx="2834640" cy="731520"/>
          </a:xfrm>
          <a:prstGeom prst="roundRect">
            <a:avLst>
              <a:gd name="adj" fmla="val 5000"/>
            </a:avLst>
          </a:prstGeom>
          <a:solidFill>
            <a:srgbClr val="3B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2743200"/>
            <a:ext cx="2834640" cy="731520"/>
          </a:xfrm>
          <a:prstGeom prst="rect">
            <a:avLst/>
          </a:prstGeom>
          <a:noFill/>
        </p:spPr>
        <p:txBody>
          <a:bodyPr wrap="square"/>
          <a:lstStyle/>
          <a:p>
            <a:pPr algn="ctr"/>
            <a:r>
              <a:rPr sz="1000" b="1">
                <a:solidFill>
                  <a:srgbClr val="FFFFFF"/>
                </a:solidFill>
                <a:latin typeface="Arial"/>
              </a:rPr>
              <a:t>Nadia Qasem
Nurse Manager — PHS &amp; School Health</a:t>
            </a:r>
          </a:p>
        </p:txBody>
      </p:sp>
      <p:sp>
        <p:nvSpPr>
          <p:cNvPr id="18" name="Rounded Rectangle 17"/>
          <p:cNvSpPr/>
          <p:nvPr/>
        </p:nvSpPr>
        <p:spPr>
          <a:xfrm>
            <a:off x="548640" y="3840480"/>
            <a:ext cx="2834640" cy="6858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40480"/>
            <a:ext cx="2834640" cy="685800"/>
          </a:xfrm>
          <a:prstGeom prst="rect">
            <a:avLst/>
          </a:prstGeom>
          <a:noFill/>
        </p:spPr>
        <p:txBody>
          <a:bodyPr wrap="square"/>
          <a:lstStyle/>
          <a:p>
            <a:pPr algn="ctr"/>
            <a:r>
              <a:rPr sz="900" b="0">
                <a:solidFill>
                  <a:srgbClr val="595959"/>
                </a:solidFill>
                <a:latin typeface="Arial"/>
              </a:rPr>
              <a:t>UMs / Charge Nurses
Madina · Hamidiya · Mushairef · Manama · Muzeirah</a:t>
            </a:r>
          </a:p>
        </p:txBody>
      </p:sp>
      <p:sp>
        <p:nvSpPr>
          <p:cNvPr id="20" name="Rounded Rectangle 19"/>
          <p:cNvSpPr/>
          <p:nvPr/>
        </p:nvSpPr>
        <p:spPr>
          <a:xfrm>
            <a:off x="3657600" y="3840480"/>
            <a:ext cx="2834640" cy="6858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3840480"/>
            <a:ext cx="2834640" cy="685800"/>
          </a:xfrm>
          <a:prstGeom prst="rect">
            <a:avLst/>
          </a:prstGeom>
          <a:noFill/>
        </p:spPr>
        <p:txBody>
          <a:bodyPr wrap="square"/>
          <a:lstStyle/>
          <a:p>
            <a:pPr algn="ctr"/>
            <a:r>
              <a:rPr sz="900" b="0">
                <a:solidFill>
                  <a:srgbClr val="595959"/>
                </a:solidFill>
                <a:latin typeface="Arial"/>
              </a:rPr>
              <a:t>PHS Charge Nurse · SH Unit Manager
Fouzia Abdul Rab · Hanadi Amoorah</a:t>
            </a:r>
          </a:p>
        </p:txBody>
      </p:sp>
      <p:sp>
        <p:nvSpPr>
          <p:cNvPr id="22" name="Rounded Rectangle 21"/>
          <p:cNvSpPr/>
          <p:nvPr/>
        </p:nvSpPr>
        <p:spPr>
          <a:xfrm>
            <a:off x="548640" y="4754880"/>
            <a:ext cx="5943600" cy="54864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754880"/>
            <a:ext cx="5943600" cy="548640"/>
          </a:xfrm>
          <a:prstGeom prst="rect">
            <a:avLst/>
          </a:prstGeom>
          <a:noFill/>
        </p:spPr>
        <p:txBody>
          <a:bodyPr wrap="square"/>
          <a:lstStyle/>
          <a:p>
            <a:pPr algn="ctr"/>
            <a:r>
              <a:rPr sz="1100" b="0">
                <a:solidFill>
                  <a:srgbClr val="595959"/>
                </a:solidFill>
                <a:latin typeface="Arial"/>
              </a:rPr>
              <a:t>Support: 2 Clinical Resource Nurses · Informatics Nurse · Nursing Admin Assistants</a:t>
            </a:r>
          </a:p>
        </p:txBody>
      </p:sp>
      <p:graphicFrame>
        <p:nvGraphicFramePr>
          <p:cNvPr id="24" name="Table 23"/>
          <p:cNvGraphicFramePr>
            <a:graphicFrameLocks noGrp="1"/>
          </p:cNvGraphicFramePr>
          <p:nvPr/>
        </p:nvGraphicFramePr>
        <p:xfrm>
          <a:off x="6812280" y="1645920"/>
          <a:ext cx="4846320" cy="2194560"/>
        </p:xfrm>
        <a:graphic>
          <a:graphicData uri="http://schemas.openxmlformats.org/drawingml/2006/table">
            <a:tbl>
              <a:tblPr firstRow="1" bandRow="1">
                <a:tableStyleId>{5C22544A-7EE6-4342-B048-85BDC9FD1C3A}</a:tableStyleId>
              </a:tblPr>
              <a:tblGrid>
                <a:gridCol w="1615440"/>
                <a:gridCol w="1615440"/>
                <a:gridCol w="1615440"/>
              </a:tblGrid>
              <a:tr h="365760">
                <a:tc>
                  <a:txBody>
                    <a:bodyPr/>
                    <a:lstStyle/>
                    <a:p>
                      <a:pPr>
                        <a:defRPr sz="1100" b="1">
                          <a:solidFill>
                            <a:srgbClr val="FFFFFF"/>
                          </a:solidFill>
                          <a:latin typeface="Arial"/>
                        </a:defRPr>
                      </a:pPr>
                      <a:r>
                        <a:t>Council</a:t>
                      </a:r>
                    </a:p>
                  </a:txBody>
                  <a:tcPr>
                    <a:solidFill>
                      <a:srgbClr val="325277"/>
                    </a:solidFill>
                  </a:tcPr>
                </a:tc>
                <a:tc>
                  <a:txBody>
                    <a:bodyPr/>
                    <a:lstStyle/>
                    <a:p>
                      <a:pPr>
                        <a:defRPr sz="1100" b="1">
                          <a:solidFill>
                            <a:srgbClr val="FFFFFF"/>
                          </a:solidFill>
                          <a:latin typeface="Arial"/>
                        </a:defRPr>
                      </a:pPr>
                      <a:r>
                        <a:t>Chair / cadence</a:t>
                      </a:r>
                    </a:p>
                  </a:txBody>
                  <a:tcPr>
                    <a:solidFill>
                      <a:srgbClr val="325277"/>
                    </a:solidFill>
                  </a:tcPr>
                </a:tc>
                <a:tc>
                  <a:txBody>
                    <a:bodyPr/>
                    <a:lstStyle/>
                    <a:p>
                      <a:pPr>
                        <a:defRPr sz="1100" b="1">
                          <a:solidFill>
                            <a:srgbClr val="FFFFFF"/>
                          </a:solidFill>
                          <a:latin typeface="Arial"/>
                        </a:defRPr>
                      </a:pPr>
                      <a:r>
                        <a:t>2026 records on file</a:t>
                      </a:r>
                    </a:p>
                  </a:txBody>
                  <a:tcPr>
                    <a:solidFill>
                      <a:srgbClr val="325277"/>
                    </a:solidFill>
                  </a:tcPr>
                </a:tc>
              </a:tr>
              <a:tr h="365760">
                <a:tc>
                  <a:txBody>
                    <a:bodyPr/>
                    <a:lstStyle/>
                    <a:p>
                      <a:pPr>
                        <a:defRPr sz="1100">
                          <a:solidFill>
                            <a:srgbClr val="595959"/>
                          </a:solidFill>
                          <a:latin typeface="Arial"/>
                        </a:defRPr>
                      </a:pPr>
                      <a:r>
                        <a:t>Executive Nursing Council</a:t>
                      </a:r>
                    </a:p>
                  </a:txBody>
                  <a:tcPr>
                    <a:solidFill>
                      <a:srgbClr val="FFFFFF"/>
                    </a:solidFill>
                  </a:tcPr>
                </a:tc>
                <a:tc>
                  <a:txBody>
                    <a:bodyPr/>
                    <a:lstStyle/>
                    <a:p>
                      <a:pPr>
                        <a:defRPr sz="1100">
                          <a:solidFill>
                            <a:srgbClr val="595959"/>
                          </a:solidFill>
                          <a:latin typeface="Arial"/>
                        </a:defRPr>
                      </a:pPr>
                      <a:r>
                        <a:t>ADNA · monthly</a:t>
                      </a:r>
                    </a:p>
                  </a:txBody>
                  <a:tcPr>
                    <a:solidFill>
                      <a:srgbClr val="FFFFFF"/>
                    </a:solidFill>
                  </a:tcPr>
                </a:tc>
                <a:tc>
                  <a:txBody>
                    <a:bodyPr/>
                    <a:lstStyle/>
                    <a:p>
                      <a:pPr>
                        <a:defRPr sz="1100">
                          <a:solidFill>
                            <a:srgbClr val="595959"/>
                          </a:solidFill>
                          <a:latin typeface="Arial"/>
                        </a:defRPr>
                      </a:pPr>
                      <a:r>
                        <a:t>None found</a:t>
                      </a:r>
                    </a:p>
                  </a:txBody>
                  <a:tcPr>
                    <a:solidFill>
                      <a:srgbClr val="FFFFFF"/>
                    </a:solidFill>
                  </a:tcPr>
                </a:tc>
              </a:tr>
              <a:tr h="365760">
                <a:tc>
                  <a:txBody>
                    <a:bodyPr/>
                    <a:lstStyle/>
                    <a:p>
                      <a:pPr>
                        <a:defRPr sz="1100">
                          <a:solidFill>
                            <a:srgbClr val="595959"/>
                          </a:solidFill>
                          <a:latin typeface="Arial"/>
                        </a:defRPr>
                      </a:pPr>
                      <a:r>
                        <a:t>Nursing Operations Council</a:t>
                      </a:r>
                    </a:p>
                  </a:txBody>
                  <a:tcPr>
                    <a:solidFill>
                      <a:srgbClr val="F2F2F2"/>
                    </a:solidFill>
                  </a:tcPr>
                </a:tc>
                <a:tc>
                  <a:txBody>
                    <a:bodyPr/>
                    <a:lstStyle/>
                    <a:p>
                      <a:pPr>
                        <a:defRPr sz="1100">
                          <a:solidFill>
                            <a:srgbClr val="595959"/>
                          </a:solidFill>
                          <a:latin typeface="Arial"/>
                        </a:defRPr>
                      </a:pPr>
                      <a:r>
                        <a:t>Nurse Managers · monthly</a:t>
                      </a:r>
                    </a:p>
                  </a:txBody>
                  <a:tcPr>
                    <a:solidFill>
                      <a:srgbClr val="F2F2F2"/>
                    </a:solidFill>
                  </a:tcPr>
                </a:tc>
                <a:tc>
                  <a:txBody>
                    <a:bodyPr/>
                    <a:lstStyle/>
                    <a:p>
                      <a:pPr>
                        <a:defRPr sz="1100">
                          <a:solidFill>
                            <a:srgbClr val="595959"/>
                          </a:solidFill>
                          <a:latin typeface="Arial"/>
                        </a:defRPr>
                      </a:pPr>
                      <a:r>
                        <a:t>Jan &amp; May 2026</a:t>
                      </a:r>
                    </a:p>
                  </a:txBody>
                  <a:tcPr>
                    <a:solidFill>
                      <a:srgbClr val="F2F2F2"/>
                    </a:solidFill>
                  </a:tcPr>
                </a:tc>
              </a:tr>
              <a:tr h="365760">
                <a:tc>
                  <a:txBody>
                    <a:bodyPr/>
                    <a:lstStyle/>
                    <a:p>
                      <a:pPr>
                        <a:defRPr sz="1100">
                          <a:solidFill>
                            <a:srgbClr val="595959"/>
                          </a:solidFill>
                          <a:latin typeface="Arial"/>
                        </a:defRPr>
                      </a:pPr>
                      <a:r>
                        <a:t>Evidence-Based Practice Council</a:t>
                      </a:r>
                    </a:p>
                  </a:txBody>
                  <a:tcPr>
                    <a:solidFill>
                      <a:srgbClr val="FFFFFF"/>
                    </a:solidFill>
                  </a:tcPr>
                </a:tc>
                <a:tc>
                  <a:txBody>
                    <a:bodyPr/>
                    <a:lstStyle/>
                    <a:p>
                      <a:pPr>
                        <a:defRPr sz="1100">
                          <a:solidFill>
                            <a:srgbClr val="595959"/>
                          </a:solidFill>
                          <a:latin typeface="Arial"/>
                        </a:defRPr>
                      </a:pPr>
                      <a:r>
                        <a:t>CRNs · quarterly</a:t>
                      </a:r>
                    </a:p>
                  </a:txBody>
                  <a:tcPr>
                    <a:solidFill>
                      <a:srgbClr val="FFFFFF"/>
                    </a:solidFill>
                  </a:tcPr>
                </a:tc>
                <a:tc>
                  <a:txBody>
                    <a:bodyPr/>
                    <a:lstStyle/>
                    <a:p>
                      <a:pPr>
                        <a:defRPr sz="1100">
                          <a:solidFill>
                            <a:srgbClr val="595959"/>
                          </a:solidFill>
                          <a:latin typeface="Arial"/>
                        </a:defRPr>
                      </a:pPr>
                      <a:r>
                        <a:t>None found</a:t>
                      </a:r>
                    </a:p>
                  </a:txBody>
                  <a:tcPr>
                    <a:solidFill>
                      <a:srgbClr val="FFFFFF"/>
                    </a:solidFill>
                  </a:tcPr>
                </a:tc>
              </a:tr>
              <a:tr h="365760">
                <a:tc>
                  <a:txBody>
                    <a:bodyPr/>
                    <a:lstStyle/>
                    <a:p>
                      <a:pPr>
                        <a:defRPr sz="1100">
                          <a:solidFill>
                            <a:srgbClr val="595959"/>
                          </a:solidFill>
                          <a:latin typeface="Arial"/>
                        </a:defRPr>
                      </a:pPr>
                      <a:r>
                        <a:t>Professional Development Council</a:t>
                      </a:r>
                    </a:p>
                  </a:txBody>
                  <a:tcPr>
                    <a:solidFill>
                      <a:srgbClr val="F2F2F2"/>
                    </a:solidFill>
                  </a:tcPr>
                </a:tc>
                <a:tc>
                  <a:txBody>
                    <a:bodyPr/>
                    <a:lstStyle/>
                    <a:p>
                      <a:pPr algn="r">
                        <a:defRPr sz="1100">
                          <a:solidFill>
                            <a:srgbClr val="595959"/>
                          </a:solidFill>
                          <a:latin typeface="Arial"/>
                        </a:defRPr>
                      </a:pPr>
                      <a:r>
                        <a:t>—</a:t>
                      </a:r>
                    </a:p>
                  </a:txBody>
                  <a:tcPr>
                    <a:solidFill>
                      <a:srgbClr val="F2F2F2"/>
                    </a:solidFill>
                  </a:tcPr>
                </a:tc>
                <a:tc>
                  <a:txBody>
                    <a:bodyPr/>
                    <a:lstStyle/>
                    <a:p>
                      <a:pPr>
                        <a:defRPr sz="1100">
                          <a:solidFill>
                            <a:srgbClr val="595959"/>
                          </a:solidFill>
                          <a:latin typeface="Arial"/>
                        </a:defRPr>
                      </a:pPr>
                      <a:r>
                        <a:t>None found</a:t>
                      </a:r>
                    </a:p>
                  </a:txBody>
                  <a:tcPr>
                    <a:solidFill>
                      <a:srgbClr val="F2F2F2"/>
                    </a:solidFill>
                  </a:tcPr>
                </a:tc>
              </a:tr>
              <a:tr h="365760">
                <a:tc>
                  <a:txBody>
                    <a:bodyPr/>
                    <a:lstStyle/>
                    <a:p>
                      <a:pPr>
                        <a:defRPr sz="1100">
                          <a:solidFill>
                            <a:srgbClr val="595959"/>
                          </a:solidFill>
                          <a:latin typeface="Arial"/>
                        </a:defRPr>
                      </a:pPr>
                      <a:r>
                        <a:t>Wellbeing &amp; Happiness Council</a:t>
                      </a:r>
                    </a:p>
                  </a:txBody>
                  <a:tcPr>
                    <a:solidFill>
                      <a:srgbClr val="FFFFFF"/>
                    </a:solidFill>
                  </a:tcPr>
                </a:tc>
                <a:tc>
                  <a:txBody>
                    <a:bodyPr/>
                    <a:lstStyle/>
                    <a:p>
                      <a:pPr algn="r">
                        <a:defRPr sz="1100">
                          <a:solidFill>
                            <a:srgbClr val="595959"/>
                          </a:solidFill>
                          <a:latin typeface="Arial"/>
                        </a:defRPr>
                      </a:pPr>
                      <a:r>
                        <a:t>9 members · monthly activities</a:t>
                      </a:r>
                    </a:p>
                  </a:txBody>
                  <a:tcPr>
                    <a:solidFill>
                      <a:srgbClr val="FFFFFF"/>
                    </a:solidFill>
                  </a:tcPr>
                </a:tc>
                <a:tc>
                  <a:txBody>
                    <a:bodyPr/>
                    <a:lstStyle/>
                    <a:p>
                      <a:pPr>
                        <a:defRPr sz="1100">
                          <a:solidFill>
                            <a:srgbClr val="595959"/>
                          </a:solidFill>
                          <a:latin typeface="Arial"/>
                        </a:defRPr>
                      </a:pPr>
                      <a:r>
                        <a:t>May 2026 MOM + calendar</a:t>
                      </a:r>
                    </a:p>
                  </a:txBody>
                  <a:tcPr>
                    <a:solidFill>
                      <a:srgbClr val="FFFFFF"/>
                    </a:solidFill>
                  </a:tcPr>
                </a:tc>
              </a:tr>
            </a:tbl>
          </a:graphicData>
        </a:graphic>
      </p:graphicFrame>
      <p:sp>
        <p:nvSpPr>
          <p:cNvPr id="25" name="TextBox 24"/>
          <p:cNvSpPr txBox="1"/>
          <p:nvPr/>
        </p:nvSpPr>
        <p:spPr>
          <a:xfrm>
            <a:off x="6812280" y="4526280"/>
            <a:ext cx="4846320" cy="274320"/>
          </a:xfrm>
          <a:prstGeom prst="rect">
            <a:avLst/>
          </a:prstGeom>
          <a:noFill/>
        </p:spPr>
        <p:txBody>
          <a:bodyPr wrap="square"/>
          <a:lstStyle/>
          <a:p>
            <a:pPr algn="l"/>
            <a:r>
              <a:rPr sz="1100" b="0">
                <a:solidFill>
                  <a:srgbClr val="595959"/>
                </a:solidFill>
                <a:latin typeface="Arial"/>
              </a:rPr>
              <a:t>Unit meetings minuted Jan–Aug 2026: Ajman PHS 8 · School Health 6.</a:t>
            </a:r>
          </a:p>
        </p:txBody>
      </p:sp>
      <p:sp>
        <p:nvSpPr>
          <p:cNvPr id="26" name="Rectangle 25"/>
          <p:cNvSpPr/>
          <p:nvPr/>
        </p:nvSpPr>
        <p:spPr>
          <a:xfrm>
            <a:off x="548640" y="553212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532120"/>
            <a:ext cx="10911535" cy="502920"/>
          </a:xfrm>
          <a:prstGeom prst="rect">
            <a:avLst/>
          </a:prstGeom>
          <a:noFill/>
        </p:spPr>
        <p:txBody>
          <a:bodyPr wrap="square"/>
          <a:lstStyle/>
          <a:p>
            <a:pPr algn="l"/>
            <a:r>
              <a:rPr sz="1100" b="0">
                <a:solidFill>
                  <a:srgbClr val="595959"/>
                </a:solidFill>
                <a:latin typeface="Arial"/>
              </a:rPr>
              <a:t>Why it matters: Three of five councils have no 2026 record in the shared library — shared governance exists in structure, not yet in evidence.</a:t>
            </a:r>
          </a:p>
        </p:txBody>
      </p:sp>
      <p:sp>
        <p:nvSpPr>
          <p:cNvPr id="28" name="TextBox 27"/>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Nursing profile Aug 2026; Workforce Optimization Plan sign-off (Jan 2026); 18. Shared Governance folder (scanned 25 Sep 2026); NOC MOM 08/05/2026; SSIP I-1, I-3.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WORKFORCE DEVELOPMENT</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Leadership capability is built in-house; currency is the risk</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Leadership competency programme (NLCP), training, IDPs and mentorship —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25</a:t>
            </a:r>
          </a:p>
        </p:txBody>
      </p:sp>
      <p:sp>
        <p:nvSpPr>
          <p:cNvPr id="8" name="Rounded Rectangle 7"/>
          <p:cNvSpPr/>
          <p:nvPr/>
        </p:nvSpPr>
        <p:spPr>
          <a:xfrm>
            <a:off x="54864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5920"/>
            <a:ext cx="2651760" cy="500000"/>
          </a:xfrm>
          <a:prstGeom prst="rect">
            <a:avLst/>
          </a:prstGeom>
          <a:noFill/>
        </p:spPr>
        <p:txBody>
          <a:bodyPr wrap="square"/>
          <a:lstStyle/>
          <a:p>
            <a:pPr algn="ctr"/>
            <a:r>
              <a:rPr sz="4000" b="1">
                <a:solidFill>
                  <a:srgbClr val="325277"/>
                </a:solidFill>
                <a:latin typeface="Arial"/>
              </a:rPr>
              <a:t>94%</a:t>
            </a:r>
          </a:p>
        </p:txBody>
      </p:sp>
      <p:sp>
        <p:nvSpPr>
          <p:cNvPr id="10" name="TextBox 9"/>
          <p:cNvSpPr txBox="1"/>
          <p:nvPr/>
        </p:nvSpPr>
        <p:spPr>
          <a:xfrm>
            <a:off x="628640" y="2195920"/>
            <a:ext cx="2491760" cy="400000"/>
          </a:xfrm>
          <a:prstGeom prst="rect">
            <a:avLst/>
          </a:prstGeom>
          <a:noFill/>
        </p:spPr>
        <p:txBody>
          <a:bodyPr wrap="square"/>
          <a:lstStyle/>
          <a:p>
            <a:pPr algn="ctr"/>
            <a:r>
              <a:rPr sz="1200" b="0">
                <a:solidFill>
                  <a:srgbClr val="595959"/>
                </a:solidFill>
                <a:latin typeface="Arial"/>
              </a:rPr>
              <a:t>ever validated (90 of 96 in scope)</a:t>
            </a:r>
          </a:p>
        </p:txBody>
      </p:sp>
      <p:sp>
        <p:nvSpPr>
          <p:cNvPr id="11" name="TextBox 10"/>
          <p:cNvSpPr txBox="1"/>
          <p:nvPr/>
        </p:nvSpPr>
        <p:spPr>
          <a:xfrm>
            <a:off x="628640" y="2515920"/>
            <a:ext cx="2491760" cy="200000"/>
          </a:xfrm>
          <a:prstGeom prst="rect">
            <a:avLst/>
          </a:prstGeom>
          <a:noFill/>
        </p:spPr>
        <p:txBody>
          <a:bodyPr wrap="square"/>
          <a:lstStyle/>
          <a:p>
            <a:pPr algn="ctr"/>
            <a:r>
              <a:rPr sz="900" b="0">
                <a:solidFill>
                  <a:srgbClr val="A9B4C6"/>
                </a:solidFill>
                <a:latin typeface="Arial"/>
              </a:rPr>
              <a:t>14 Sep 2026</a:t>
            </a:r>
          </a:p>
        </p:txBody>
      </p:sp>
      <p:sp>
        <p:nvSpPr>
          <p:cNvPr id="12" name="Rounded Rectangle 11"/>
          <p:cNvSpPr/>
          <p:nvPr/>
        </p:nvSpPr>
        <p:spPr>
          <a:xfrm>
            <a:off x="341040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400" y="1695920"/>
            <a:ext cx="2651760" cy="500000"/>
          </a:xfrm>
          <a:prstGeom prst="rect">
            <a:avLst/>
          </a:prstGeom>
          <a:noFill/>
        </p:spPr>
        <p:txBody>
          <a:bodyPr wrap="square"/>
          <a:lstStyle/>
          <a:p>
            <a:pPr algn="ctr"/>
            <a:r>
              <a:rPr sz="4000" b="1">
                <a:solidFill>
                  <a:srgbClr val="325277"/>
                </a:solidFill>
                <a:latin typeface="Arial"/>
              </a:rPr>
              <a:t>43%</a:t>
            </a:r>
          </a:p>
        </p:txBody>
      </p:sp>
      <p:sp>
        <p:nvSpPr>
          <p:cNvPr id="14" name="TextBox 13"/>
          <p:cNvSpPr txBox="1"/>
          <p:nvPr/>
        </p:nvSpPr>
        <p:spPr>
          <a:xfrm>
            <a:off x="3490400" y="2195920"/>
            <a:ext cx="2491760" cy="400000"/>
          </a:xfrm>
          <a:prstGeom prst="rect">
            <a:avLst/>
          </a:prstGeom>
          <a:noFill/>
        </p:spPr>
        <p:txBody>
          <a:bodyPr wrap="square"/>
          <a:lstStyle/>
          <a:p>
            <a:pPr algn="ctr"/>
            <a:r>
              <a:rPr sz="1200" b="0">
                <a:solidFill>
                  <a:srgbClr val="595959"/>
                </a:solidFill>
                <a:latin typeface="Arial"/>
              </a:rPr>
              <a:t>validation current (41 of 96)</a:t>
            </a:r>
          </a:p>
        </p:txBody>
      </p:sp>
      <p:sp>
        <p:nvSpPr>
          <p:cNvPr id="15" name="TextBox 14"/>
          <p:cNvSpPr txBox="1"/>
          <p:nvPr/>
        </p:nvSpPr>
        <p:spPr>
          <a:xfrm>
            <a:off x="3490400" y="2515920"/>
            <a:ext cx="2491760" cy="200000"/>
          </a:xfrm>
          <a:prstGeom prst="rect">
            <a:avLst/>
          </a:prstGeom>
          <a:noFill/>
        </p:spPr>
        <p:txBody>
          <a:bodyPr wrap="square"/>
          <a:lstStyle/>
          <a:p>
            <a:pPr algn="ctr"/>
            <a:r>
              <a:rPr sz="900" b="0">
                <a:solidFill>
                  <a:srgbClr val="A9B4C6"/>
                </a:solidFill>
                <a:latin typeface="Arial"/>
              </a:rPr>
              <a:t>14 Sep 2026</a:t>
            </a:r>
          </a:p>
        </p:txBody>
      </p:sp>
      <p:sp>
        <p:nvSpPr>
          <p:cNvPr id="16" name="Rounded Rectangle 15"/>
          <p:cNvSpPr/>
          <p:nvPr/>
        </p:nvSpPr>
        <p:spPr>
          <a:xfrm>
            <a:off x="627216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160" y="1695920"/>
            <a:ext cx="2651760" cy="500000"/>
          </a:xfrm>
          <a:prstGeom prst="rect">
            <a:avLst/>
          </a:prstGeom>
          <a:noFill/>
        </p:spPr>
        <p:txBody>
          <a:bodyPr wrap="square"/>
          <a:lstStyle/>
          <a:p>
            <a:pPr algn="ctr"/>
            <a:r>
              <a:rPr sz="4000" b="1">
                <a:solidFill>
                  <a:srgbClr val="325277"/>
                </a:solidFill>
                <a:latin typeface="Arial"/>
              </a:rPr>
              <a:t>92%</a:t>
            </a:r>
          </a:p>
        </p:txBody>
      </p:sp>
      <p:sp>
        <p:nvSpPr>
          <p:cNvPr id="18" name="TextBox 17"/>
          <p:cNvSpPr txBox="1"/>
          <p:nvPr/>
        </p:nvSpPr>
        <p:spPr>
          <a:xfrm>
            <a:off x="6352160" y="2195920"/>
            <a:ext cx="2491760" cy="400000"/>
          </a:xfrm>
          <a:prstGeom prst="rect">
            <a:avLst/>
          </a:prstGeom>
          <a:noFill/>
        </p:spPr>
        <p:txBody>
          <a:bodyPr wrap="square"/>
          <a:lstStyle/>
          <a:p>
            <a:pPr algn="ctr"/>
            <a:r>
              <a:rPr sz="1200" b="0">
                <a:solidFill>
                  <a:srgbClr val="595959"/>
                </a:solidFill>
                <a:latin typeface="Arial"/>
              </a:rPr>
              <a:t>workshop reach (88 of 96) · 4.97/5</a:t>
            </a:r>
          </a:p>
        </p:txBody>
      </p:sp>
      <p:sp>
        <p:nvSpPr>
          <p:cNvPr id="19" name="TextBox 18"/>
          <p:cNvSpPr txBox="1"/>
          <p:nvPr/>
        </p:nvSpPr>
        <p:spPr>
          <a:xfrm>
            <a:off x="6352160" y="2515920"/>
            <a:ext cx="2491760" cy="200000"/>
          </a:xfrm>
          <a:prstGeom prst="rect">
            <a:avLst/>
          </a:prstGeom>
          <a:noFill/>
        </p:spPr>
        <p:txBody>
          <a:bodyPr wrap="square"/>
          <a:lstStyle/>
          <a:p>
            <a:pPr algn="ctr"/>
            <a:r>
              <a:rPr sz="900" b="0">
                <a:solidFill>
                  <a:srgbClr val="A9B4C6"/>
                </a:solidFill>
                <a:latin typeface="Arial"/>
              </a:rPr>
              <a:t>16 May 2026</a:t>
            </a:r>
          </a:p>
        </p:txBody>
      </p:sp>
      <p:sp>
        <p:nvSpPr>
          <p:cNvPr id="20" name="Rounded Rectangle 19"/>
          <p:cNvSpPr/>
          <p:nvPr/>
        </p:nvSpPr>
        <p:spPr>
          <a:xfrm>
            <a:off x="9133920" y="1645920"/>
            <a:ext cx="2651760" cy="13000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3920" y="1695920"/>
            <a:ext cx="2651760" cy="500000"/>
          </a:xfrm>
          <a:prstGeom prst="rect">
            <a:avLst/>
          </a:prstGeom>
          <a:noFill/>
        </p:spPr>
        <p:txBody>
          <a:bodyPr wrap="square"/>
          <a:lstStyle/>
          <a:p>
            <a:pPr algn="ctr"/>
            <a:r>
              <a:rPr sz="4000" b="1">
                <a:solidFill>
                  <a:srgbClr val="325277"/>
                </a:solidFill>
                <a:latin typeface="Arial"/>
              </a:rPr>
              <a:t>d = 1.63</a:t>
            </a:r>
          </a:p>
        </p:txBody>
      </p:sp>
      <p:sp>
        <p:nvSpPr>
          <p:cNvPr id="22" name="TextBox 21"/>
          <p:cNvSpPr txBox="1"/>
          <p:nvPr/>
        </p:nvSpPr>
        <p:spPr>
          <a:xfrm>
            <a:off x="9213920" y="2195920"/>
            <a:ext cx="2491760" cy="400000"/>
          </a:xfrm>
          <a:prstGeom prst="rect">
            <a:avLst/>
          </a:prstGeom>
          <a:noFill/>
        </p:spPr>
        <p:txBody>
          <a:bodyPr wrap="square"/>
          <a:lstStyle/>
          <a:p>
            <a:pPr algn="ctr"/>
            <a:r>
              <a:rPr sz="1200" b="0">
                <a:solidFill>
                  <a:srgbClr val="595959"/>
                </a:solidFill>
                <a:latin typeface="Arial"/>
              </a:rPr>
              <a:t>knowledge 7.15 → 9.84 /10 (matched pairs)</a:t>
            </a:r>
          </a:p>
        </p:txBody>
      </p:sp>
      <p:sp>
        <p:nvSpPr>
          <p:cNvPr id="23" name="TextBox 22"/>
          <p:cNvSpPr txBox="1"/>
          <p:nvPr/>
        </p:nvSpPr>
        <p:spPr>
          <a:xfrm>
            <a:off x="9213920" y="2515920"/>
            <a:ext cx="2491760" cy="200000"/>
          </a:xfrm>
          <a:prstGeom prst="rect">
            <a:avLst/>
          </a:prstGeom>
          <a:noFill/>
        </p:spPr>
        <p:txBody>
          <a:bodyPr wrap="square"/>
          <a:lstStyle/>
          <a:p>
            <a:pPr algn="ctr"/>
            <a:r>
              <a:rPr sz="900" b="0">
                <a:solidFill>
                  <a:srgbClr val="A9B4C6"/>
                </a:solidFill>
                <a:latin typeface="Arial"/>
              </a:rPr>
              <a:t>n = 88</a:t>
            </a:r>
          </a:p>
        </p:txBody>
      </p:sp>
      <p:graphicFrame>
        <p:nvGraphicFramePr>
          <p:cNvPr id="24" name="Table 23"/>
          <p:cNvGraphicFramePr>
            <a:graphicFrameLocks noGrp="1"/>
          </p:cNvGraphicFramePr>
          <p:nvPr/>
        </p:nvGraphicFramePr>
        <p:xfrm>
          <a:off x="548640" y="3154680"/>
          <a:ext cx="11091672" cy="2194560"/>
        </p:xfrm>
        <a:graphic>
          <a:graphicData uri="http://schemas.openxmlformats.org/drawingml/2006/table">
            <a:tbl>
              <a:tblPr firstRow="1" bandRow="1">
                <a:tableStyleId>{5C22544A-7EE6-4342-B048-85BDC9FD1C3A}</a:tableStyleId>
              </a:tblPr>
              <a:tblGrid>
                <a:gridCol w="3697224"/>
                <a:gridCol w="3697224"/>
                <a:gridCol w="3697224"/>
              </a:tblGrid>
              <a:tr h="365760">
                <a:tc>
                  <a:txBody>
                    <a:bodyPr/>
                    <a:lstStyle/>
                    <a:p>
                      <a:pPr>
                        <a:defRPr sz="1100" b="1">
                          <a:solidFill>
                            <a:srgbClr val="FFFFFF"/>
                          </a:solidFill>
                          <a:latin typeface="Arial"/>
                        </a:defRPr>
                      </a:pPr>
                      <a:r>
                        <a:t>Programme</a:t>
                      </a:r>
                    </a:p>
                  </a:txBody>
                  <a:tcPr>
                    <a:solidFill>
                      <a:srgbClr val="325277"/>
                    </a:solidFill>
                  </a:tcPr>
                </a:tc>
                <a:tc>
                  <a:txBody>
                    <a:bodyPr/>
                    <a:lstStyle/>
                    <a:p>
                      <a:pPr>
                        <a:defRPr sz="1100" b="1">
                          <a:solidFill>
                            <a:srgbClr val="FFFFFF"/>
                          </a:solidFill>
                          <a:latin typeface="Arial"/>
                        </a:defRPr>
                      </a:pPr>
                      <a:r>
                        <a:t>2026 evidence</a:t>
                      </a:r>
                    </a:p>
                  </a:txBody>
                  <a:tcPr>
                    <a:solidFill>
                      <a:srgbClr val="325277"/>
                    </a:solidFill>
                  </a:tcPr>
                </a:tc>
                <a:tc>
                  <a:txBody>
                    <a:bodyPr/>
                    <a:lstStyle/>
                    <a:p>
                      <a:pPr>
                        <a:defRPr sz="1100" b="1">
                          <a:solidFill>
                            <a:srgbClr val="FFFFFF"/>
                          </a:solidFill>
                          <a:latin typeface="Arial"/>
                        </a:defRPr>
                      </a:pPr>
                      <a:r>
                        <a:t>Next step</a:t>
                      </a:r>
                    </a:p>
                  </a:txBody>
                  <a:tcPr>
                    <a:solidFill>
                      <a:srgbClr val="325277"/>
                    </a:solidFill>
                  </a:tcPr>
                </a:tc>
              </a:tr>
              <a:tr h="365760">
                <a:tc>
                  <a:txBody>
                    <a:bodyPr/>
                    <a:lstStyle/>
                    <a:p>
                      <a:pPr>
                        <a:defRPr sz="1100">
                          <a:solidFill>
                            <a:srgbClr val="595959"/>
                          </a:solidFill>
                          <a:latin typeface="Arial"/>
                        </a:defRPr>
                      </a:pPr>
                      <a:r>
                        <a:t>Leadership workshop</a:t>
                      </a:r>
                    </a:p>
                  </a:txBody>
                  <a:tcPr>
                    <a:solidFill>
                      <a:srgbClr val="FFFFFF"/>
                    </a:solidFill>
                  </a:tcPr>
                </a:tc>
                <a:tc>
                  <a:txBody>
                    <a:bodyPr/>
                    <a:lstStyle/>
                    <a:p>
                      <a:pPr algn="r">
                        <a:defRPr sz="1100">
                          <a:solidFill>
                            <a:srgbClr val="595959"/>
                          </a:solidFill>
                          <a:latin typeface="Arial"/>
                        </a:defRPr>
                      </a:pPr>
                      <a:r>
                        <a:t>552 participant-hours, 7 internal faculty, 0 external providers</a:t>
                      </a:r>
                    </a:p>
                  </a:txBody>
                  <a:tcPr>
                    <a:solidFill>
                      <a:srgbClr val="FFFFFF"/>
                    </a:solidFill>
                  </a:tcPr>
                </a:tc>
                <a:tc>
                  <a:txBody>
                    <a:bodyPr/>
                    <a:lstStyle/>
                    <a:p>
                      <a:pPr>
                        <a:defRPr sz="1100">
                          <a:solidFill>
                            <a:srgbClr val="595959"/>
                          </a:solidFill>
                          <a:latin typeface="Arial"/>
                        </a:defRPr>
                      </a:pPr>
                      <a:r>
                        <a:t>CPD accreditation confirmation</a:t>
                      </a:r>
                    </a:p>
                  </a:txBody>
                  <a:tcPr>
                    <a:solidFill>
                      <a:srgbClr val="FFFFFF"/>
                    </a:solidFill>
                  </a:tcPr>
                </a:tc>
              </a:tr>
              <a:tr h="365760">
                <a:tc>
                  <a:txBody>
                    <a:bodyPr/>
                    <a:lstStyle/>
                    <a:p>
                      <a:pPr>
                        <a:defRPr sz="1100">
                          <a:solidFill>
                            <a:srgbClr val="595959"/>
                          </a:solidFill>
                          <a:latin typeface="Arial"/>
                        </a:defRPr>
                      </a:pPr>
                      <a:r>
                        <a:t>Individual Development Plans</a:t>
                      </a:r>
                    </a:p>
                  </a:txBody>
                  <a:tcPr>
                    <a:solidFill>
                      <a:srgbClr val="F2F2F2"/>
                    </a:solidFill>
                  </a:tcPr>
                </a:tc>
                <a:tc>
                  <a:txBody>
                    <a:bodyPr/>
                    <a:lstStyle/>
                    <a:p>
                      <a:pPr algn="r">
                        <a:defRPr sz="1100">
                          <a:solidFill>
                            <a:srgbClr val="595959"/>
                          </a:solidFill>
                          <a:latin typeface="Arial"/>
                        </a:defRPr>
                      </a:pPr>
                      <a:r>
                        <a:t>64 IDPs on file (Madina 13, Hamidiya 13, Manama 12, Mushairif 12, PHS 11, Muzeirah 3)</a:t>
                      </a:r>
                    </a:p>
                  </a:txBody>
                  <a:tcPr>
                    <a:solidFill>
                      <a:srgbClr val="F2F2F2"/>
                    </a:solidFill>
                  </a:tcPr>
                </a:tc>
                <a:tc>
                  <a:txBody>
                    <a:bodyPr/>
                    <a:lstStyle/>
                    <a:p>
                      <a:pPr>
                        <a:defRPr sz="1100">
                          <a:solidFill>
                            <a:srgbClr val="595959"/>
                          </a:solidFill>
                          <a:latin typeface="Arial"/>
                        </a:defRPr>
                      </a:pPr>
                      <a:r>
                        <a:t>Extend to School Health and Al Muzeirah</a:t>
                      </a:r>
                    </a:p>
                  </a:txBody>
                  <a:tcPr>
                    <a:solidFill>
                      <a:srgbClr val="F2F2F2"/>
                    </a:solidFill>
                  </a:tcPr>
                </a:tc>
              </a:tr>
              <a:tr h="365760">
                <a:tc>
                  <a:txBody>
                    <a:bodyPr/>
                    <a:lstStyle/>
                    <a:p>
                      <a:pPr>
                        <a:defRPr sz="1100">
                          <a:solidFill>
                            <a:srgbClr val="595959"/>
                          </a:solidFill>
                          <a:latin typeface="Arial"/>
                        </a:defRPr>
                      </a:pPr>
                      <a:r>
                        <a:t>Mentorship</a:t>
                      </a:r>
                    </a:p>
                  </a:txBody>
                  <a:tcPr>
                    <a:solidFill>
                      <a:srgbClr val="FFFFFF"/>
                    </a:solidFill>
                  </a:tcPr>
                </a:tc>
                <a:tc>
                  <a:txBody>
                    <a:bodyPr/>
                    <a:lstStyle/>
                    <a:p>
                      <a:pPr algn="r">
                        <a:defRPr sz="1100">
                          <a:solidFill>
                            <a:srgbClr val="595959"/>
                          </a:solidFill>
                          <a:latin typeface="Arial"/>
                        </a:defRPr>
                      </a:pPr>
                      <a:r>
                        <a:t>5 mentor candidates with applications and interviews (Sep 2026)</a:t>
                      </a:r>
                    </a:p>
                  </a:txBody>
                  <a:tcPr>
                    <a:solidFill>
                      <a:srgbClr val="FFFFFF"/>
                    </a:solidFill>
                  </a:tcPr>
                </a:tc>
                <a:tc>
                  <a:txBody>
                    <a:bodyPr/>
                    <a:lstStyle/>
                    <a:p>
                      <a:pPr>
                        <a:defRPr sz="1100">
                          <a:solidFill>
                            <a:srgbClr val="595959"/>
                          </a:solidFill>
                          <a:latin typeface="Arial"/>
                        </a:defRPr>
                      </a:pPr>
                      <a:r>
                        <a:t>Match mentors to new joiners</a:t>
                      </a:r>
                    </a:p>
                  </a:txBody>
                  <a:tcPr>
                    <a:solidFill>
                      <a:srgbClr val="FFFFFF"/>
                    </a:solidFill>
                  </a:tcPr>
                </a:tc>
              </a:tr>
              <a:tr h="365760">
                <a:tc>
                  <a:txBody>
                    <a:bodyPr/>
                    <a:lstStyle/>
                    <a:p>
                      <a:pPr>
                        <a:defRPr sz="1100">
                          <a:solidFill>
                            <a:srgbClr val="595959"/>
                          </a:solidFill>
                          <a:latin typeface="Arial"/>
                        </a:defRPr>
                      </a:pPr>
                      <a:r>
                        <a:t>Succession planning</a:t>
                      </a:r>
                    </a:p>
                  </a:txBody>
                  <a:tcPr>
                    <a:solidFill>
                      <a:srgbClr val="F2F2F2"/>
                    </a:solidFill>
                  </a:tcPr>
                </a:tc>
                <a:tc>
                  <a:txBody>
                    <a:bodyPr/>
                    <a:lstStyle/>
                    <a:p>
                      <a:pPr>
                        <a:defRPr sz="1100">
                          <a:solidFill>
                            <a:srgbClr val="595959"/>
                          </a:solidFill>
                          <a:latin typeface="Arial"/>
                        </a:defRPr>
                      </a:pPr>
                      <a:r>
                        <a:t>Framework Phase 1 documented</a:t>
                      </a:r>
                    </a:p>
                  </a:txBody>
                  <a:tcPr>
                    <a:solidFill>
                      <a:srgbClr val="F2F2F2"/>
                    </a:solidFill>
                  </a:tcPr>
                </a:tc>
                <a:tc>
                  <a:txBody>
                    <a:bodyPr/>
                    <a:lstStyle/>
                    <a:p>
                      <a:pPr>
                        <a:defRPr sz="1100">
                          <a:solidFill>
                            <a:srgbClr val="595959"/>
                          </a:solidFill>
                          <a:latin typeface="Arial"/>
                        </a:defRPr>
                      </a:pPr>
                      <a:r>
                        <a:t>Phase 2</a:t>
                      </a:r>
                    </a:p>
                  </a:txBody>
                  <a:tcPr>
                    <a:solidFill>
                      <a:srgbClr val="F2F2F2"/>
                    </a:solidFill>
                  </a:tcPr>
                </a:tc>
              </a:tr>
              <a:tr h="365760">
                <a:tc>
                  <a:txBody>
                    <a:bodyPr/>
                    <a:lstStyle/>
                    <a:p>
                      <a:pPr>
                        <a:defRPr sz="1100">
                          <a:solidFill>
                            <a:srgbClr val="595959"/>
                          </a:solidFill>
                          <a:latin typeface="Arial"/>
                        </a:defRPr>
                      </a:pPr>
                      <a:r>
                        <a:t>Clinical training</a:t>
                      </a:r>
                    </a:p>
                  </a:txBody>
                  <a:tcPr>
                    <a:solidFill>
                      <a:srgbClr val="FFFFFF"/>
                    </a:solidFill>
                  </a:tcPr>
                </a:tc>
                <a:tc>
                  <a:txBody>
                    <a:bodyPr/>
                    <a:lstStyle/>
                    <a:p>
                      <a:pPr>
                        <a:defRPr sz="1100">
                          <a:solidFill>
                            <a:srgbClr val="595959"/>
                          </a:solidFill>
                          <a:latin typeface="Arial"/>
                        </a:defRPr>
                      </a:pPr>
                      <a:r>
                        <a:t>Patient ID training reached 100 staff, Aug–Sep 2026</a:t>
                      </a:r>
                    </a:p>
                  </a:txBody>
                  <a:tcPr>
                    <a:solidFill>
                      <a:srgbClr val="FFFFFF"/>
                    </a:solidFill>
                  </a:tcPr>
                </a:tc>
                <a:tc>
                  <a:txBody>
                    <a:bodyPr/>
                    <a:lstStyle/>
                    <a:p>
                      <a:pPr>
                        <a:defRPr sz="1100">
                          <a:solidFill>
                            <a:srgbClr val="595959"/>
                          </a:solidFill>
                          <a:latin typeface="Arial"/>
                        </a:defRPr>
                      </a:pPr>
                      <a:r>
                        <a:t>Behaviour checks Sep–Dec</a:t>
                      </a:r>
                    </a:p>
                  </a:txBody>
                  <a:tcPr>
                    <a:solidFill>
                      <a:srgbClr val="FFFFFF"/>
                    </a:solidFill>
                  </a:tcPr>
                </a:tc>
              </a:tr>
            </a:tbl>
          </a:graphicData>
        </a:graphic>
      </p:graphicFrame>
      <p:sp>
        <p:nvSpPr>
          <p:cNvPr id="25" name="Rectangle 24"/>
          <p:cNvSpPr/>
          <p:nvPr/>
        </p:nvSpPr>
        <p:spPr>
          <a:xfrm>
            <a:off x="548640" y="553212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532120"/>
            <a:ext cx="10911535" cy="502920"/>
          </a:xfrm>
          <a:prstGeom prst="rect">
            <a:avLst/>
          </a:prstGeom>
          <a:noFill/>
        </p:spPr>
        <p:txBody>
          <a:bodyPr wrap="square"/>
          <a:lstStyle/>
          <a:p>
            <a:pPr algn="l"/>
            <a:r>
              <a:rPr sz="1100" b="0">
                <a:solidFill>
                  <a:srgbClr val="595959"/>
                </a:solidFill>
                <a:latin typeface="Arial"/>
              </a:rPr>
              <a:t>Why it matters: 55 of 96 in-scope nurses have no current validation, including 3 unvalidated new joiners — re-validating before 12 Nov protects oversight criterion 8.</a:t>
            </a:r>
          </a:p>
        </p:txBody>
      </p:sp>
      <p:sp>
        <p:nvSpPr>
          <p:cNvPr id="27" name="TextBox 26"/>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Leadership validation files (Oversight Evidence 08 Validation) vs Aug 2026 profile; Leadership ROI report May 2026; 27. IDPs folder; 09. Workforce Plan (mentor files, succession framework); QIP-PTID.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EBP, RESEARCH &amp; INNOVATION</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Innovation is visible; research is the next build</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2026 targets and the innovations delivered so far</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26</a:t>
            </a:r>
          </a:p>
        </p:txBody>
      </p:sp>
      <p:sp>
        <p:nvSpPr>
          <p:cNvPr id="8" name="Rounded Rectangle 7"/>
          <p:cNvSpPr/>
          <p:nvPr/>
        </p:nvSpPr>
        <p:spPr>
          <a:xfrm>
            <a:off x="548640" y="1645920"/>
            <a:ext cx="5394960" cy="36118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5029200" cy="274320"/>
          </a:xfrm>
          <a:prstGeom prst="rect">
            <a:avLst/>
          </a:prstGeom>
          <a:noFill/>
        </p:spPr>
        <p:txBody>
          <a:bodyPr wrap="square"/>
          <a:lstStyle/>
          <a:p>
            <a:pPr algn="l"/>
            <a:r>
              <a:rPr sz="1300" b="1">
                <a:solidFill>
                  <a:srgbClr val="325277"/>
                </a:solidFill>
                <a:latin typeface="Arial"/>
              </a:rPr>
              <a:t>2026 TARGETS (Operational Plan, Pillar 5)</a:t>
            </a:r>
          </a:p>
        </p:txBody>
      </p:sp>
      <p:sp>
        <p:nvSpPr>
          <p:cNvPr id="10" name="TextBox 9"/>
          <p:cNvSpPr txBox="1"/>
          <p:nvPr/>
        </p:nvSpPr>
        <p:spPr>
          <a:xfrm>
            <a:off x="731520" y="2103120"/>
            <a:ext cx="2743200" cy="457200"/>
          </a:xfrm>
          <a:prstGeom prst="rect">
            <a:avLst/>
          </a:prstGeom>
          <a:noFill/>
        </p:spPr>
        <p:txBody>
          <a:bodyPr wrap="square"/>
          <a:lstStyle/>
          <a:p>
            <a:pPr algn="l"/>
            <a:r>
              <a:rPr sz="1100" b="0">
                <a:solidFill>
                  <a:srgbClr val="595959"/>
                </a:solidFill>
                <a:latin typeface="Arial"/>
              </a:rPr>
              <a:t>Monthly nursing KPI dashboard</a:t>
            </a:r>
          </a:p>
        </p:txBody>
      </p:sp>
      <p:sp>
        <p:nvSpPr>
          <p:cNvPr id="11" name="TextBox 10"/>
          <p:cNvSpPr txBox="1"/>
          <p:nvPr/>
        </p:nvSpPr>
        <p:spPr>
          <a:xfrm>
            <a:off x="3474720" y="2103120"/>
            <a:ext cx="960120" cy="457200"/>
          </a:xfrm>
          <a:prstGeom prst="rect">
            <a:avLst/>
          </a:prstGeom>
          <a:noFill/>
        </p:spPr>
        <p:txBody>
          <a:bodyPr wrap="square"/>
          <a:lstStyle/>
          <a:p>
            <a:pPr algn="ctr"/>
            <a:r>
              <a:rPr sz="1100" b="0">
                <a:solidFill>
                  <a:srgbClr val="A9B4C6"/>
                </a:solidFill>
                <a:latin typeface="Arial"/>
              </a:rPr>
              <a:t>by Q3 2026</a:t>
            </a:r>
          </a:p>
        </p:txBody>
      </p:sp>
      <p:sp>
        <p:nvSpPr>
          <p:cNvPr id="12" name="TextBox 11"/>
          <p:cNvSpPr txBox="1"/>
          <p:nvPr/>
        </p:nvSpPr>
        <p:spPr>
          <a:xfrm>
            <a:off x="4434840" y="2103120"/>
            <a:ext cx="1417320" cy="457200"/>
          </a:xfrm>
          <a:prstGeom prst="rect">
            <a:avLst/>
          </a:prstGeom>
          <a:noFill/>
        </p:spPr>
        <p:txBody>
          <a:bodyPr wrap="square"/>
          <a:lstStyle/>
          <a:p>
            <a:pPr algn="l"/>
            <a:r>
              <a:rPr sz="1100" b="1">
                <a:solidFill>
                  <a:srgbClr val="2E7D46"/>
                </a:solidFill>
                <a:latin typeface="Arial"/>
              </a:rPr>
              <a:t>Live — APMaster</a:t>
            </a:r>
          </a:p>
        </p:txBody>
      </p:sp>
      <p:sp>
        <p:nvSpPr>
          <p:cNvPr id="13" name="TextBox 12"/>
          <p:cNvSpPr txBox="1"/>
          <p:nvPr/>
        </p:nvSpPr>
        <p:spPr>
          <a:xfrm>
            <a:off x="731520" y="2615120"/>
            <a:ext cx="2743200" cy="457200"/>
          </a:xfrm>
          <a:prstGeom prst="rect">
            <a:avLst/>
          </a:prstGeom>
          <a:noFill/>
        </p:spPr>
        <p:txBody>
          <a:bodyPr wrap="square"/>
          <a:lstStyle/>
          <a:p>
            <a:pPr algn="l"/>
            <a:r>
              <a:rPr sz="1100" b="0">
                <a:solidFill>
                  <a:srgbClr val="595959"/>
                </a:solidFill>
                <a:latin typeface="Arial"/>
              </a:rPr>
              <a:t>Approved research topic</a:t>
            </a:r>
          </a:p>
        </p:txBody>
      </p:sp>
      <p:sp>
        <p:nvSpPr>
          <p:cNvPr id="14" name="TextBox 13"/>
          <p:cNvSpPr txBox="1"/>
          <p:nvPr/>
        </p:nvSpPr>
        <p:spPr>
          <a:xfrm>
            <a:off x="3474720" y="2615120"/>
            <a:ext cx="960120" cy="457200"/>
          </a:xfrm>
          <a:prstGeom prst="rect">
            <a:avLst/>
          </a:prstGeom>
          <a:noFill/>
        </p:spPr>
        <p:txBody>
          <a:bodyPr wrap="square"/>
          <a:lstStyle/>
          <a:p>
            <a:pPr algn="ctr"/>
            <a:r>
              <a:rPr sz="1100" b="0">
                <a:solidFill>
                  <a:srgbClr val="A9B4C6"/>
                </a:solidFill>
                <a:latin typeface="Arial"/>
              </a:rPr>
              <a:t>≥1</a:t>
            </a:r>
          </a:p>
        </p:txBody>
      </p:sp>
      <p:sp>
        <p:nvSpPr>
          <p:cNvPr id="15" name="TextBox 14"/>
          <p:cNvSpPr txBox="1"/>
          <p:nvPr/>
        </p:nvSpPr>
        <p:spPr>
          <a:xfrm>
            <a:off x="4434840" y="2615120"/>
            <a:ext cx="1417320" cy="457200"/>
          </a:xfrm>
          <a:prstGeom prst="rect">
            <a:avLst/>
          </a:prstGeom>
          <a:noFill/>
        </p:spPr>
        <p:txBody>
          <a:bodyPr wrap="square"/>
          <a:lstStyle/>
          <a:p>
            <a:pPr algn="l"/>
            <a:r>
              <a:rPr sz="1100" b="1">
                <a:solidFill>
                  <a:srgbClr val="B7791F"/>
                </a:solidFill>
                <a:latin typeface="Arial"/>
              </a:rPr>
              <a:t>Open</a:t>
            </a:r>
          </a:p>
        </p:txBody>
      </p:sp>
      <p:sp>
        <p:nvSpPr>
          <p:cNvPr id="16" name="TextBox 15"/>
          <p:cNvSpPr txBox="1"/>
          <p:nvPr/>
        </p:nvSpPr>
        <p:spPr>
          <a:xfrm>
            <a:off x="731520" y="3127120"/>
            <a:ext cx="2743200" cy="457200"/>
          </a:xfrm>
          <a:prstGeom prst="rect">
            <a:avLst/>
          </a:prstGeom>
          <a:noFill/>
        </p:spPr>
        <p:txBody>
          <a:bodyPr wrap="square"/>
          <a:lstStyle/>
          <a:p>
            <a:pPr algn="l"/>
            <a:r>
              <a:rPr sz="1100" b="0">
                <a:solidFill>
                  <a:srgbClr val="595959"/>
                </a:solidFill>
                <a:latin typeface="Arial"/>
              </a:rPr>
              <a:t>Pilot research project</a:t>
            </a:r>
          </a:p>
        </p:txBody>
      </p:sp>
      <p:sp>
        <p:nvSpPr>
          <p:cNvPr id="17" name="TextBox 16"/>
          <p:cNvSpPr txBox="1"/>
          <p:nvPr/>
        </p:nvSpPr>
        <p:spPr>
          <a:xfrm>
            <a:off x="3474720" y="3127120"/>
            <a:ext cx="960120" cy="457200"/>
          </a:xfrm>
          <a:prstGeom prst="rect">
            <a:avLst/>
          </a:prstGeom>
          <a:noFill/>
        </p:spPr>
        <p:txBody>
          <a:bodyPr wrap="square"/>
          <a:lstStyle/>
          <a:p>
            <a:pPr algn="ctr"/>
            <a:r>
              <a:rPr sz="1100" b="0">
                <a:solidFill>
                  <a:srgbClr val="A9B4C6"/>
                </a:solidFill>
                <a:latin typeface="Arial"/>
              </a:rPr>
              <a:t>completed</a:t>
            </a:r>
          </a:p>
        </p:txBody>
      </p:sp>
      <p:sp>
        <p:nvSpPr>
          <p:cNvPr id="18" name="TextBox 17"/>
          <p:cNvSpPr txBox="1"/>
          <p:nvPr/>
        </p:nvSpPr>
        <p:spPr>
          <a:xfrm>
            <a:off x="4434840" y="3127120"/>
            <a:ext cx="1417320" cy="457200"/>
          </a:xfrm>
          <a:prstGeom prst="rect">
            <a:avLst/>
          </a:prstGeom>
          <a:noFill/>
        </p:spPr>
        <p:txBody>
          <a:bodyPr wrap="square"/>
          <a:lstStyle/>
          <a:p>
            <a:pPr algn="l"/>
            <a:r>
              <a:rPr sz="1100" b="1">
                <a:solidFill>
                  <a:srgbClr val="B7791F"/>
                </a:solidFill>
                <a:latin typeface="Arial"/>
              </a:rPr>
              <a:t>Open</a:t>
            </a:r>
          </a:p>
        </p:txBody>
      </p:sp>
      <p:sp>
        <p:nvSpPr>
          <p:cNvPr id="19" name="TextBox 18"/>
          <p:cNvSpPr txBox="1"/>
          <p:nvPr/>
        </p:nvSpPr>
        <p:spPr>
          <a:xfrm>
            <a:off x="731520" y="3639120"/>
            <a:ext cx="2743200" cy="457200"/>
          </a:xfrm>
          <a:prstGeom prst="rect">
            <a:avLst/>
          </a:prstGeom>
          <a:noFill/>
        </p:spPr>
        <p:txBody>
          <a:bodyPr wrap="square"/>
          <a:lstStyle/>
          <a:p>
            <a:pPr algn="l"/>
            <a:r>
              <a:rPr sz="1100" b="0">
                <a:solidFill>
                  <a:srgbClr val="595959"/>
                </a:solidFill>
                <a:latin typeface="Arial"/>
              </a:rPr>
              <a:t>Staff trained in research / EBP</a:t>
            </a:r>
          </a:p>
        </p:txBody>
      </p:sp>
      <p:sp>
        <p:nvSpPr>
          <p:cNvPr id="20" name="TextBox 19"/>
          <p:cNvSpPr txBox="1"/>
          <p:nvPr/>
        </p:nvSpPr>
        <p:spPr>
          <a:xfrm>
            <a:off x="3474720" y="3639120"/>
            <a:ext cx="960120" cy="457200"/>
          </a:xfrm>
          <a:prstGeom prst="rect">
            <a:avLst/>
          </a:prstGeom>
          <a:noFill/>
        </p:spPr>
        <p:txBody>
          <a:bodyPr wrap="square"/>
          <a:lstStyle/>
          <a:p>
            <a:pPr algn="ctr"/>
            <a:r>
              <a:rPr sz="1100" b="0">
                <a:solidFill>
                  <a:srgbClr val="A9B4C6"/>
                </a:solidFill>
                <a:latin typeface="Arial"/>
              </a:rPr>
              <a:t>≥20</a:t>
            </a:r>
          </a:p>
        </p:txBody>
      </p:sp>
      <p:sp>
        <p:nvSpPr>
          <p:cNvPr id="21" name="TextBox 20"/>
          <p:cNvSpPr txBox="1"/>
          <p:nvPr/>
        </p:nvSpPr>
        <p:spPr>
          <a:xfrm>
            <a:off x="4434840" y="3639120"/>
            <a:ext cx="1417320" cy="457200"/>
          </a:xfrm>
          <a:prstGeom prst="rect">
            <a:avLst/>
          </a:prstGeom>
          <a:noFill/>
        </p:spPr>
        <p:txBody>
          <a:bodyPr wrap="square"/>
          <a:lstStyle/>
          <a:p>
            <a:pPr algn="l"/>
            <a:r>
              <a:rPr sz="1100" b="1">
                <a:solidFill>
                  <a:srgbClr val="B7791F"/>
                </a:solidFill>
                <a:latin typeface="Arial"/>
              </a:rPr>
              <a:t>Open</a:t>
            </a:r>
          </a:p>
        </p:txBody>
      </p:sp>
      <p:sp>
        <p:nvSpPr>
          <p:cNvPr id="22" name="TextBox 21"/>
          <p:cNvSpPr txBox="1"/>
          <p:nvPr/>
        </p:nvSpPr>
        <p:spPr>
          <a:xfrm>
            <a:off x="731520" y="4151120"/>
            <a:ext cx="2743200" cy="457200"/>
          </a:xfrm>
          <a:prstGeom prst="rect">
            <a:avLst/>
          </a:prstGeom>
          <a:noFill/>
        </p:spPr>
        <p:txBody>
          <a:bodyPr wrap="square"/>
          <a:lstStyle/>
          <a:p>
            <a:pPr algn="l"/>
            <a:r>
              <a:rPr sz="1100" b="0">
                <a:solidFill>
                  <a:srgbClr val="595959"/>
                </a:solidFill>
                <a:latin typeface="Arial"/>
              </a:rPr>
              <a:t>EBP outcomes — oversight criterion 13</a:t>
            </a:r>
          </a:p>
        </p:txBody>
      </p:sp>
      <p:sp>
        <p:nvSpPr>
          <p:cNvPr id="23" name="TextBox 22"/>
          <p:cNvSpPr txBox="1"/>
          <p:nvPr/>
        </p:nvSpPr>
        <p:spPr>
          <a:xfrm>
            <a:off x="3474720" y="4151120"/>
            <a:ext cx="960120" cy="457200"/>
          </a:xfrm>
          <a:prstGeom prst="rect">
            <a:avLst/>
          </a:prstGeom>
          <a:noFill/>
        </p:spPr>
        <p:txBody>
          <a:bodyPr wrap="square"/>
          <a:lstStyle/>
          <a:p>
            <a:pPr algn="ctr"/>
            <a:r>
              <a:rPr sz="1100" b="0">
                <a:solidFill>
                  <a:srgbClr val="A9B4C6"/>
                </a:solidFill>
                <a:latin typeface="Arial"/>
              </a:rPr>
              <a:t>evidence</a:t>
            </a:r>
          </a:p>
        </p:txBody>
      </p:sp>
      <p:sp>
        <p:nvSpPr>
          <p:cNvPr id="24" name="TextBox 23"/>
          <p:cNvSpPr txBox="1"/>
          <p:nvPr/>
        </p:nvSpPr>
        <p:spPr>
          <a:xfrm>
            <a:off x="4434840" y="4151120"/>
            <a:ext cx="1417320" cy="457200"/>
          </a:xfrm>
          <a:prstGeom prst="rect">
            <a:avLst/>
          </a:prstGeom>
          <a:noFill/>
        </p:spPr>
        <p:txBody>
          <a:bodyPr wrap="square"/>
          <a:lstStyle/>
          <a:p>
            <a:pPr algn="l"/>
            <a:r>
              <a:rPr sz="1100" b="1">
                <a:solidFill>
                  <a:srgbClr val="B7791F"/>
                </a:solidFill>
                <a:latin typeface="Arial"/>
              </a:rPr>
              <a:t>Open</a:t>
            </a:r>
          </a:p>
        </p:txBody>
      </p:sp>
      <p:sp>
        <p:nvSpPr>
          <p:cNvPr id="25" name="TextBox 24"/>
          <p:cNvSpPr txBox="1"/>
          <p:nvPr/>
        </p:nvSpPr>
        <p:spPr>
          <a:xfrm>
            <a:off x="731520" y="4663120"/>
            <a:ext cx="2743200" cy="457200"/>
          </a:xfrm>
          <a:prstGeom prst="rect">
            <a:avLst/>
          </a:prstGeom>
          <a:noFill/>
        </p:spPr>
        <p:txBody>
          <a:bodyPr wrap="square"/>
          <a:lstStyle/>
          <a:p>
            <a:pPr algn="l"/>
            <a:r>
              <a:rPr sz="1100" b="0">
                <a:solidFill>
                  <a:srgbClr val="595959"/>
                </a:solidFill>
                <a:latin typeface="Arial"/>
              </a:rPr>
              <a:t>Research project — oversight criterion 14</a:t>
            </a:r>
          </a:p>
        </p:txBody>
      </p:sp>
      <p:sp>
        <p:nvSpPr>
          <p:cNvPr id="26" name="TextBox 25"/>
          <p:cNvSpPr txBox="1"/>
          <p:nvPr/>
        </p:nvSpPr>
        <p:spPr>
          <a:xfrm>
            <a:off x="3474720" y="4663120"/>
            <a:ext cx="960120" cy="457200"/>
          </a:xfrm>
          <a:prstGeom prst="rect">
            <a:avLst/>
          </a:prstGeom>
          <a:noFill/>
        </p:spPr>
        <p:txBody>
          <a:bodyPr wrap="square"/>
          <a:lstStyle/>
          <a:p>
            <a:pPr algn="ctr"/>
            <a:r>
              <a:rPr sz="1100" b="0">
                <a:solidFill>
                  <a:srgbClr val="A9B4C6"/>
                </a:solidFill>
                <a:latin typeface="Arial"/>
              </a:rPr>
              <a:t>evidence</a:t>
            </a:r>
          </a:p>
        </p:txBody>
      </p:sp>
      <p:sp>
        <p:nvSpPr>
          <p:cNvPr id="27" name="TextBox 26"/>
          <p:cNvSpPr txBox="1"/>
          <p:nvPr/>
        </p:nvSpPr>
        <p:spPr>
          <a:xfrm>
            <a:off x="4434840" y="4663120"/>
            <a:ext cx="1417320" cy="457200"/>
          </a:xfrm>
          <a:prstGeom prst="rect">
            <a:avLst/>
          </a:prstGeom>
          <a:noFill/>
        </p:spPr>
        <p:txBody>
          <a:bodyPr wrap="square"/>
          <a:lstStyle/>
          <a:p>
            <a:pPr algn="l"/>
            <a:r>
              <a:rPr sz="1100" b="1">
                <a:solidFill>
                  <a:srgbClr val="B7791F"/>
                </a:solidFill>
                <a:latin typeface="Arial"/>
              </a:rPr>
              <a:t>Open</a:t>
            </a:r>
          </a:p>
        </p:txBody>
      </p:sp>
      <p:sp>
        <p:nvSpPr>
          <p:cNvPr id="28" name="Rounded Rectangle 27"/>
          <p:cNvSpPr/>
          <p:nvPr/>
        </p:nvSpPr>
        <p:spPr>
          <a:xfrm>
            <a:off x="6217920" y="1645920"/>
            <a:ext cx="5440680" cy="361188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737360"/>
            <a:ext cx="5029200" cy="274320"/>
          </a:xfrm>
          <a:prstGeom prst="rect">
            <a:avLst/>
          </a:prstGeom>
          <a:noFill/>
        </p:spPr>
        <p:txBody>
          <a:bodyPr wrap="square"/>
          <a:lstStyle/>
          <a:p>
            <a:pPr algn="l"/>
            <a:r>
              <a:rPr sz="1300" b="1">
                <a:solidFill>
                  <a:srgbClr val="325277"/>
                </a:solidFill>
                <a:latin typeface="Arial"/>
              </a:rPr>
              <a:t>INNOVATION DELIVERED IN 2026</a:t>
            </a:r>
          </a:p>
        </p:txBody>
      </p:sp>
      <p:sp>
        <p:nvSpPr>
          <p:cNvPr id="30" name="TextBox 29"/>
          <p:cNvSpPr txBox="1"/>
          <p:nvPr/>
        </p:nvSpPr>
        <p:spPr>
          <a:xfrm>
            <a:off x="6400800" y="2103120"/>
            <a:ext cx="5120640" cy="3063240"/>
          </a:xfrm>
          <a:prstGeom prst="rect">
            <a:avLst/>
          </a:prstGeom>
          <a:noFill/>
        </p:spPr>
        <p:txBody>
          <a:bodyPr wrap="square"/>
          <a:lstStyle/>
          <a:p>
            <a:pPr algn="l"/>
            <a:r>
              <a:rPr sz="1100" b="0">
                <a:solidFill>
                  <a:srgbClr val="595959"/>
                </a:solidFill>
                <a:latin typeface="Arial"/>
              </a:rPr>
              <a:t>Monthly KPI master tracker with dashboard and monthly snapshot for all 9 sites
QR-code staff support ecosystem — 4 codes (staff support, leave requests, 'Raise Your Hand', coffee with manager)
EMR red-alert flag for high fall-risk patients — proposed to Informatics
Kirkpatrick-evaluated training (Patient ID; leadership) — pre/post, matched pairs
Four-year productivity trend analysis with RCA (2023–2026)
Technology &amp; Innovation culture score 4.03 → 4.14; EHS rank 10th → 9th</a:t>
            </a:r>
          </a:p>
        </p:txBody>
      </p:sp>
      <p:sp>
        <p:nvSpPr>
          <p:cNvPr id="31" name="Rectangle 30"/>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Research and EBP are two of the nine Professional Development criteria assessed on 12 Nov; they are the priority build for the EBP Council.</a:t>
            </a:r>
          </a:p>
        </p:txBody>
      </p:sp>
      <p:sp>
        <p:nvSpPr>
          <p:cNvPr id="33" name="TextBox 32"/>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Nursing Operational Plan 2026 (obj. 25, 26); AjmanNursing_APMaster (Dashboard, Monthly Snapshot); SSIP I-8; Fall post-pilot report; Culture 2026 action plan; oversight evidence scan 25 Sep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2026 PERFORMANCE DASHBOARD</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Five of six KPIs near target; productivity far below</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Six clinical centres (5 PHCs + Ajman PHS) plus fitness-centre productivity · August 2026 and January–August 2026</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27</a:t>
            </a:r>
          </a:p>
        </p:txBody>
      </p:sp>
      <p:graphicFrame>
        <p:nvGraphicFramePr>
          <p:cNvPr id="8" name="Table 7"/>
          <p:cNvGraphicFramePr>
            <a:graphicFrameLocks noGrp="1"/>
          </p:cNvGraphicFramePr>
          <p:nvPr/>
        </p:nvGraphicFramePr>
        <p:xfrm>
          <a:off x="548640" y="1645920"/>
          <a:ext cx="11091672" cy="3657600"/>
        </p:xfrm>
        <a:graphic>
          <a:graphicData uri="http://schemas.openxmlformats.org/drawingml/2006/table">
            <a:tbl>
              <a:tblPr firstRow="1" bandRow="1">
                <a:tableStyleId>{5C22544A-7EE6-4342-B048-85BDC9FD1C3A}</a:tableStyleId>
              </a:tblPr>
              <a:tblGrid>
                <a:gridCol w="1584524"/>
                <a:gridCol w="1584524"/>
                <a:gridCol w="1584524"/>
                <a:gridCol w="1584524"/>
                <a:gridCol w="1584524"/>
                <a:gridCol w="1584524"/>
                <a:gridCol w="1584528"/>
              </a:tblGrid>
              <a:tr h="365760">
                <a:tc>
                  <a:txBody>
                    <a:bodyPr/>
                    <a:lstStyle/>
                    <a:p>
                      <a:pPr>
                        <a:defRPr sz="1100" b="1">
                          <a:solidFill>
                            <a:srgbClr val="FFFFFF"/>
                          </a:solidFill>
                          <a:latin typeface="Arial"/>
                        </a:defRPr>
                      </a:pPr>
                      <a:r>
                        <a:t>KPI</a:t>
                      </a:r>
                    </a:p>
                  </a:txBody>
                  <a:tcPr>
                    <a:solidFill>
                      <a:srgbClr val="325277"/>
                    </a:solidFill>
                  </a:tcPr>
                </a:tc>
                <a:tc>
                  <a:txBody>
                    <a:bodyPr/>
                    <a:lstStyle/>
                    <a:p>
                      <a:pPr>
                        <a:defRPr sz="1100" b="1">
                          <a:solidFill>
                            <a:srgbClr val="FFFFFF"/>
                          </a:solidFill>
                          <a:latin typeface="Arial"/>
                        </a:defRPr>
                      </a:pPr>
                      <a:r>
                        <a:t>Target</a:t>
                      </a:r>
                    </a:p>
                  </a:txBody>
                  <a:tcPr>
                    <a:solidFill>
                      <a:srgbClr val="325277"/>
                    </a:solidFill>
                  </a:tcPr>
                </a:tc>
                <a:tc>
                  <a:txBody>
                    <a:bodyPr/>
                    <a:lstStyle/>
                    <a:p>
                      <a:pPr>
                        <a:defRPr sz="1100" b="1">
                          <a:solidFill>
                            <a:srgbClr val="FFFFFF"/>
                          </a:solidFill>
                          <a:latin typeface="Arial"/>
                        </a:defRPr>
                      </a:pPr>
                      <a:r>
                        <a:t>August range</a:t>
                      </a:r>
                    </a:p>
                  </a:txBody>
                  <a:tcPr>
                    <a:solidFill>
                      <a:srgbClr val="325277"/>
                    </a:solidFill>
                  </a:tcPr>
                </a:tc>
                <a:tc>
                  <a:txBody>
                    <a:bodyPr/>
                    <a:lstStyle/>
                    <a:p>
                      <a:pPr>
                        <a:defRPr sz="1100" b="1">
                          <a:solidFill>
                            <a:srgbClr val="FFFFFF"/>
                          </a:solidFill>
                          <a:latin typeface="Arial"/>
                        </a:defRPr>
                      </a:pPr>
                      <a:r>
                        <a:t>Centres at target (Aug)</a:t>
                      </a:r>
                    </a:p>
                  </a:txBody>
                  <a:tcPr>
                    <a:solidFill>
                      <a:srgbClr val="325277"/>
                    </a:solidFill>
                  </a:tcPr>
                </a:tc>
                <a:tc>
                  <a:txBody>
                    <a:bodyPr/>
                    <a:lstStyle/>
                    <a:p>
                      <a:pPr>
                        <a:defRPr sz="1100" b="1">
                          <a:solidFill>
                            <a:srgbClr val="FFFFFF"/>
                          </a:solidFill>
                          <a:latin typeface="Arial"/>
                        </a:defRPr>
                      </a:pPr>
                      <a:r>
                        <a:t>Centre-months met, Jan–Aug</a:t>
                      </a:r>
                    </a:p>
                  </a:txBody>
                  <a:tcPr>
                    <a:solidFill>
                      <a:srgbClr val="325277"/>
                    </a:solidFill>
                  </a:tcPr>
                </a:tc>
                <a:tc>
                  <a:txBody>
                    <a:bodyPr/>
                    <a:lstStyle/>
                    <a:p>
                      <a:pPr>
                        <a:defRPr sz="1100" b="1">
                          <a:solidFill>
                            <a:srgbClr val="FFFFFF"/>
                          </a:solidFill>
                          <a:latin typeface="Arial"/>
                        </a:defRPr>
                      </a:pPr>
                      <a:r>
                        <a:t>Network avg Jan → Aug</a:t>
                      </a:r>
                    </a:p>
                  </a:txBody>
                  <a:tcPr>
                    <a:solidFill>
                      <a:srgbClr val="325277"/>
                    </a:solidFill>
                  </a:tcPr>
                </a:tc>
                <a:tc>
                  <a:txBody>
                    <a:bodyPr/>
                    <a:lstStyle/>
                    <a:p>
                      <a:pPr>
                        <a:defRPr sz="1100" b="1">
                          <a:solidFill>
                            <a:srgbClr val="FFFFFF"/>
                          </a:solidFill>
                          <a:latin typeface="Arial"/>
                        </a:defRPr>
                      </a:pPr>
                      <a:r>
                        <a:t>Status</a:t>
                      </a:r>
                    </a:p>
                  </a:txBody>
                  <a:tcPr>
                    <a:solidFill>
                      <a:srgbClr val="325277"/>
                    </a:solidFill>
                  </a:tcPr>
                </a:tc>
              </a:tr>
              <a:tr h="365760">
                <a:tc>
                  <a:txBody>
                    <a:bodyPr/>
                    <a:lstStyle/>
                    <a:p>
                      <a:pPr>
                        <a:defRPr sz="1100">
                          <a:solidFill>
                            <a:srgbClr val="595959"/>
                          </a:solidFill>
                          <a:latin typeface="Arial"/>
                        </a:defRPr>
                      </a:pPr>
                      <a:r>
                        <a:t>Documentation compliance</a:t>
                      </a:r>
                    </a:p>
                  </a:txBody>
                  <a:tcPr>
                    <a:solidFill>
                      <a:srgbClr val="FFFFFF"/>
                    </a:solidFill>
                  </a:tcPr>
                </a:tc>
                <a:tc>
                  <a:txBody>
                    <a:bodyPr/>
                    <a:lstStyle/>
                    <a:p>
                      <a:pPr algn="r">
                        <a:defRPr sz="1100">
                          <a:solidFill>
                            <a:srgbClr val="595959"/>
                          </a:solidFill>
                          <a:latin typeface="Arial"/>
                        </a:defRPr>
                      </a:pPr>
                      <a:r>
                        <a:t>85%</a:t>
                      </a:r>
                    </a:p>
                  </a:txBody>
                  <a:tcPr>
                    <a:solidFill>
                      <a:srgbClr val="FFFFFF"/>
                    </a:solidFill>
                  </a:tcPr>
                </a:tc>
                <a:tc>
                  <a:txBody>
                    <a:bodyPr/>
                    <a:lstStyle/>
                    <a:p>
                      <a:pPr algn="r">
                        <a:defRPr sz="1100">
                          <a:solidFill>
                            <a:srgbClr val="595959"/>
                          </a:solidFill>
                          <a:latin typeface="Arial"/>
                        </a:defRPr>
                      </a:pPr>
                      <a:r>
                        <a:t>98% – 100%</a:t>
                      </a:r>
                    </a:p>
                  </a:txBody>
                  <a:tcPr>
                    <a:solidFill>
                      <a:srgbClr val="FFFFFF"/>
                    </a:solidFill>
                  </a:tcPr>
                </a:tc>
                <a:tc>
                  <a:txBody>
                    <a:bodyPr/>
                    <a:lstStyle/>
                    <a:p>
                      <a:pPr algn="r">
                        <a:defRPr sz="1100">
                          <a:solidFill>
                            <a:srgbClr val="595959"/>
                          </a:solidFill>
                          <a:latin typeface="Arial"/>
                        </a:defRPr>
                      </a:pPr>
                      <a:r>
                        <a:t>6 of 6</a:t>
                      </a:r>
                    </a:p>
                  </a:txBody>
                  <a:tcPr>
                    <a:solidFill>
                      <a:srgbClr val="FFFFFF"/>
                    </a:solidFill>
                  </a:tcPr>
                </a:tc>
                <a:tc>
                  <a:txBody>
                    <a:bodyPr/>
                    <a:lstStyle/>
                    <a:p>
                      <a:pPr algn="r">
                        <a:defRPr sz="1100">
                          <a:solidFill>
                            <a:srgbClr val="595959"/>
                          </a:solidFill>
                          <a:latin typeface="Arial"/>
                        </a:defRPr>
                      </a:pPr>
                      <a:r>
                        <a:t>48 of 48</a:t>
                      </a:r>
                    </a:p>
                  </a:txBody>
                  <a:tcPr>
                    <a:solidFill>
                      <a:srgbClr val="FFFFFF"/>
                    </a:solidFill>
                  </a:tcPr>
                </a:tc>
                <a:tc>
                  <a:txBody>
                    <a:bodyPr/>
                    <a:lstStyle/>
                    <a:p>
                      <a:pPr algn="r">
                        <a:defRPr sz="1100">
                          <a:solidFill>
                            <a:srgbClr val="595959"/>
                          </a:solidFill>
                          <a:latin typeface="Arial"/>
                        </a:defRPr>
                      </a:pPr>
                      <a:r>
                        <a:t>98.2% → 99.3%</a:t>
                      </a:r>
                    </a:p>
                  </a:txBody>
                  <a:tcPr>
                    <a:solidFill>
                      <a:srgbClr val="FFFFFF"/>
                    </a:solidFill>
                  </a:tcPr>
                </a:tc>
                <a:tc>
                  <a:txBody>
                    <a:bodyPr/>
                    <a:lstStyle/>
                    <a:p>
                      <a:pPr>
                        <a:defRPr sz="1100">
                          <a:solidFill>
                            <a:srgbClr val="2E7D46"/>
                          </a:solidFill>
                          <a:latin typeface="Arial"/>
                        </a:defRPr>
                      </a:pPr>
                      <a:r>
                        <a:t>●  On target</a:t>
                      </a:r>
                    </a:p>
                  </a:txBody>
                  <a:tcPr>
                    <a:solidFill>
                      <a:srgbClr val="FFFFFF"/>
                    </a:solidFill>
                  </a:tcPr>
                </a:tc>
              </a:tr>
              <a:tr h="365760">
                <a:tc>
                  <a:txBody>
                    <a:bodyPr/>
                    <a:lstStyle/>
                    <a:p>
                      <a:pPr>
                        <a:defRPr sz="1100">
                          <a:solidFill>
                            <a:srgbClr val="595959"/>
                          </a:solidFill>
                          <a:latin typeface="Arial"/>
                        </a:defRPr>
                      </a:pPr>
                      <a:r>
                        <a:t>Pain reassessment</a:t>
                      </a:r>
                    </a:p>
                  </a:txBody>
                  <a:tcPr>
                    <a:solidFill>
                      <a:srgbClr val="F2F2F2"/>
                    </a:solidFill>
                  </a:tcPr>
                </a:tc>
                <a:tc>
                  <a:txBody>
                    <a:bodyPr/>
                    <a:lstStyle/>
                    <a:p>
                      <a:pPr algn="r">
                        <a:defRPr sz="1100">
                          <a:solidFill>
                            <a:srgbClr val="595959"/>
                          </a:solidFill>
                          <a:latin typeface="Arial"/>
                        </a:defRPr>
                      </a:pPr>
                      <a:r>
                        <a:t>100%</a:t>
                      </a:r>
                    </a:p>
                  </a:txBody>
                  <a:tcPr>
                    <a:solidFill>
                      <a:srgbClr val="F2F2F2"/>
                    </a:solidFill>
                  </a:tcPr>
                </a:tc>
                <a:tc>
                  <a:txBody>
                    <a:bodyPr/>
                    <a:lstStyle/>
                    <a:p>
                      <a:pPr algn="r">
                        <a:defRPr sz="1100">
                          <a:solidFill>
                            <a:srgbClr val="595959"/>
                          </a:solidFill>
                          <a:latin typeface="Arial"/>
                        </a:defRPr>
                      </a:pPr>
                      <a:r>
                        <a:t>100%</a:t>
                      </a:r>
                    </a:p>
                  </a:txBody>
                  <a:tcPr>
                    <a:solidFill>
                      <a:srgbClr val="F2F2F2"/>
                    </a:solidFill>
                  </a:tcPr>
                </a:tc>
                <a:tc>
                  <a:txBody>
                    <a:bodyPr/>
                    <a:lstStyle/>
                    <a:p>
                      <a:pPr algn="r">
                        <a:defRPr sz="1100">
                          <a:solidFill>
                            <a:srgbClr val="595959"/>
                          </a:solidFill>
                          <a:latin typeface="Arial"/>
                        </a:defRPr>
                      </a:pPr>
                      <a:r>
                        <a:t>6 of 6</a:t>
                      </a:r>
                    </a:p>
                  </a:txBody>
                  <a:tcPr>
                    <a:solidFill>
                      <a:srgbClr val="F2F2F2"/>
                    </a:solidFill>
                  </a:tcPr>
                </a:tc>
                <a:tc>
                  <a:txBody>
                    <a:bodyPr/>
                    <a:lstStyle/>
                    <a:p>
                      <a:pPr algn="r">
                        <a:defRPr sz="1100">
                          <a:solidFill>
                            <a:srgbClr val="595959"/>
                          </a:solidFill>
                          <a:latin typeface="Arial"/>
                        </a:defRPr>
                      </a:pPr>
                      <a:r>
                        <a:t>40 of 48</a:t>
                      </a:r>
                    </a:p>
                  </a:txBody>
                  <a:tcPr>
                    <a:solidFill>
                      <a:srgbClr val="F2F2F2"/>
                    </a:solidFill>
                  </a:tcPr>
                </a:tc>
                <a:tc>
                  <a:txBody>
                    <a:bodyPr/>
                    <a:lstStyle/>
                    <a:p>
                      <a:pPr algn="r">
                        <a:defRPr sz="1100">
                          <a:solidFill>
                            <a:srgbClr val="595959"/>
                          </a:solidFill>
                          <a:latin typeface="Arial"/>
                        </a:defRPr>
                      </a:pPr>
                      <a:r>
                        <a:t>96.0% → 100%</a:t>
                      </a:r>
                    </a:p>
                  </a:txBody>
                  <a:tcPr>
                    <a:solidFill>
                      <a:srgbClr val="F2F2F2"/>
                    </a:solidFill>
                  </a:tcPr>
                </a:tc>
                <a:tc>
                  <a:txBody>
                    <a:bodyPr/>
                    <a:lstStyle/>
                    <a:p>
                      <a:pPr>
                        <a:defRPr sz="1100">
                          <a:solidFill>
                            <a:srgbClr val="2E7D46"/>
                          </a:solidFill>
                          <a:latin typeface="Arial"/>
                        </a:defRPr>
                      </a:pPr>
                      <a:r>
                        <a:t>●  On target</a:t>
                      </a:r>
                    </a:p>
                  </a:txBody>
                  <a:tcPr>
                    <a:solidFill>
                      <a:srgbClr val="F2F2F2"/>
                    </a:solidFill>
                  </a:tcPr>
                </a:tc>
              </a:tr>
              <a:tr h="365760">
                <a:tc>
                  <a:txBody>
                    <a:bodyPr/>
                    <a:lstStyle/>
                    <a:p>
                      <a:pPr>
                        <a:defRPr sz="1100">
                          <a:solidFill>
                            <a:srgbClr val="595959"/>
                          </a:solidFill>
                          <a:latin typeface="Arial"/>
                        </a:defRPr>
                      </a:pPr>
                      <a:r>
                        <a:t>Hand hygiene</a:t>
                      </a:r>
                    </a:p>
                  </a:txBody>
                  <a:tcPr>
                    <a:solidFill>
                      <a:srgbClr val="FFFFFF"/>
                    </a:solidFill>
                  </a:tcPr>
                </a:tc>
                <a:tc>
                  <a:txBody>
                    <a:bodyPr/>
                    <a:lstStyle/>
                    <a:p>
                      <a:pPr algn="r">
                        <a:defRPr sz="1100">
                          <a:solidFill>
                            <a:srgbClr val="595959"/>
                          </a:solidFill>
                          <a:latin typeface="Arial"/>
                        </a:defRPr>
                      </a:pPr>
                      <a:r>
                        <a:t>90%</a:t>
                      </a:r>
                    </a:p>
                  </a:txBody>
                  <a:tcPr>
                    <a:solidFill>
                      <a:srgbClr val="FFFFFF"/>
                    </a:solidFill>
                  </a:tcPr>
                </a:tc>
                <a:tc>
                  <a:txBody>
                    <a:bodyPr/>
                    <a:lstStyle/>
                    <a:p>
                      <a:pPr algn="r">
                        <a:defRPr sz="1100">
                          <a:solidFill>
                            <a:srgbClr val="595959"/>
                          </a:solidFill>
                          <a:latin typeface="Arial"/>
                        </a:defRPr>
                      </a:pPr>
                      <a:r>
                        <a:t>90% – 95%</a:t>
                      </a:r>
                    </a:p>
                  </a:txBody>
                  <a:tcPr>
                    <a:solidFill>
                      <a:srgbClr val="FFFFFF"/>
                    </a:solidFill>
                  </a:tcPr>
                </a:tc>
                <a:tc>
                  <a:txBody>
                    <a:bodyPr/>
                    <a:lstStyle/>
                    <a:p>
                      <a:pPr algn="r">
                        <a:defRPr sz="1100">
                          <a:solidFill>
                            <a:srgbClr val="595959"/>
                          </a:solidFill>
                          <a:latin typeface="Arial"/>
                        </a:defRPr>
                      </a:pPr>
                      <a:r>
                        <a:t>6 of 6</a:t>
                      </a:r>
                    </a:p>
                  </a:txBody>
                  <a:tcPr>
                    <a:solidFill>
                      <a:srgbClr val="FFFFFF"/>
                    </a:solidFill>
                  </a:tcPr>
                </a:tc>
                <a:tc>
                  <a:txBody>
                    <a:bodyPr/>
                    <a:lstStyle/>
                    <a:p>
                      <a:pPr algn="r">
                        <a:defRPr sz="1100">
                          <a:solidFill>
                            <a:srgbClr val="595959"/>
                          </a:solidFill>
                          <a:latin typeface="Arial"/>
                        </a:defRPr>
                      </a:pPr>
                      <a:r>
                        <a:t>46 of 48</a:t>
                      </a:r>
                    </a:p>
                  </a:txBody>
                  <a:tcPr>
                    <a:solidFill>
                      <a:srgbClr val="FFFFFF"/>
                    </a:solidFill>
                  </a:tcPr>
                </a:tc>
                <a:tc>
                  <a:txBody>
                    <a:bodyPr/>
                    <a:lstStyle/>
                    <a:p>
                      <a:pPr algn="r">
                        <a:defRPr sz="1100">
                          <a:solidFill>
                            <a:srgbClr val="595959"/>
                          </a:solidFill>
                          <a:latin typeface="Arial"/>
                        </a:defRPr>
                      </a:pPr>
                      <a:r>
                        <a:t>93.8% → 92.3%</a:t>
                      </a:r>
                    </a:p>
                  </a:txBody>
                  <a:tcPr>
                    <a:solidFill>
                      <a:srgbClr val="FFFFFF"/>
                    </a:solidFill>
                  </a:tcPr>
                </a:tc>
                <a:tc>
                  <a:txBody>
                    <a:bodyPr/>
                    <a:lstStyle/>
                    <a:p>
                      <a:pPr>
                        <a:defRPr sz="1100">
                          <a:solidFill>
                            <a:srgbClr val="2E7D46"/>
                          </a:solidFill>
                          <a:latin typeface="Arial"/>
                        </a:defRPr>
                      </a:pPr>
                      <a:r>
                        <a:t>●  On target</a:t>
                      </a:r>
                    </a:p>
                  </a:txBody>
                  <a:tcPr>
                    <a:solidFill>
                      <a:srgbClr val="FFFFFF"/>
                    </a:solidFill>
                  </a:tcPr>
                </a:tc>
              </a:tr>
              <a:tr h="365760">
                <a:tc>
                  <a:txBody>
                    <a:bodyPr/>
                    <a:lstStyle/>
                    <a:p>
                      <a:pPr>
                        <a:defRPr sz="1100">
                          <a:solidFill>
                            <a:srgbClr val="595959"/>
                          </a:solidFill>
                          <a:latin typeface="Arial"/>
                        </a:defRPr>
                      </a:pPr>
                      <a:r>
                        <a:t>Pain assessment</a:t>
                      </a:r>
                    </a:p>
                  </a:txBody>
                  <a:tcPr>
                    <a:solidFill>
                      <a:srgbClr val="F2F2F2"/>
                    </a:solidFill>
                  </a:tcPr>
                </a:tc>
                <a:tc>
                  <a:txBody>
                    <a:bodyPr/>
                    <a:lstStyle/>
                    <a:p>
                      <a:pPr algn="r">
                        <a:defRPr sz="1100">
                          <a:solidFill>
                            <a:srgbClr val="595959"/>
                          </a:solidFill>
                          <a:latin typeface="Arial"/>
                        </a:defRPr>
                      </a:pPr>
                      <a:r>
                        <a:t>100%</a:t>
                      </a:r>
                    </a:p>
                  </a:txBody>
                  <a:tcPr>
                    <a:solidFill>
                      <a:srgbClr val="F2F2F2"/>
                    </a:solidFill>
                  </a:tcPr>
                </a:tc>
                <a:tc>
                  <a:txBody>
                    <a:bodyPr/>
                    <a:lstStyle/>
                    <a:p>
                      <a:pPr algn="r">
                        <a:defRPr sz="1100">
                          <a:solidFill>
                            <a:srgbClr val="595959"/>
                          </a:solidFill>
                          <a:latin typeface="Arial"/>
                        </a:defRPr>
                      </a:pPr>
                      <a:r>
                        <a:t>96% – 100%</a:t>
                      </a:r>
                    </a:p>
                  </a:txBody>
                  <a:tcPr>
                    <a:solidFill>
                      <a:srgbClr val="F2F2F2"/>
                    </a:solidFill>
                  </a:tcPr>
                </a:tc>
                <a:tc>
                  <a:txBody>
                    <a:bodyPr/>
                    <a:lstStyle/>
                    <a:p>
                      <a:pPr algn="r">
                        <a:defRPr sz="1100">
                          <a:solidFill>
                            <a:srgbClr val="595959"/>
                          </a:solidFill>
                          <a:latin typeface="Arial"/>
                        </a:defRPr>
                      </a:pPr>
                      <a:r>
                        <a:t>4 of 6</a:t>
                      </a:r>
                    </a:p>
                  </a:txBody>
                  <a:tcPr>
                    <a:solidFill>
                      <a:srgbClr val="F2F2F2"/>
                    </a:solidFill>
                  </a:tcPr>
                </a:tc>
                <a:tc>
                  <a:txBody>
                    <a:bodyPr/>
                    <a:lstStyle/>
                    <a:p>
                      <a:pPr algn="r">
                        <a:defRPr sz="1100">
                          <a:solidFill>
                            <a:srgbClr val="595959"/>
                          </a:solidFill>
                          <a:latin typeface="Arial"/>
                        </a:defRPr>
                      </a:pPr>
                      <a:r>
                        <a:t>29 of 48</a:t>
                      </a:r>
                    </a:p>
                  </a:txBody>
                  <a:tcPr>
                    <a:solidFill>
                      <a:srgbClr val="F2F2F2"/>
                    </a:solidFill>
                  </a:tcPr>
                </a:tc>
                <a:tc>
                  <a:txBody>
                    <a:bodyPr/>
                    <a:lstStyle/>
                    <a:p>
                      <a:pPr algn="r">
                        <a:defRPr sz="1100">
                          <a:solidFill>
                            <a:srgbClr val="595959"/>
                          </a:solidFill>
                          <a:latin typeface="Arial"/>
                        </a:defRPr>
                      </a:pPr>
                      <a:r>
                        <a:t>98.7% → 99.0%</a:t>
                      </a:r>
                    </a:p>
                  </a:txBody>
                  <a:tcPr>
                    <a:solidFill>
                      <a:srgbClr val="F2F2F2"/>
                    </a:solidFill>
                  </a:tcPr>
                </a:tc>
                <a:tc>
                  <a:txBody>
                    <a:bodyPr/>
                    <a:lstStyle/>
                    <a:p>
                      <a:pPr>
                        <a:defRPr sz="1100">
                          <a:solidFill>
                            <a:srgbClr val="B7791F"/>
                          </a:solidFill>
                          <a:latin typeface="Arial"/>
                        </a:defRPr>
                      </a:pPr>
                      <a:r>
                        <a:t>●  Watch</a:t>
                      </a:r>
                    </a:p>
                  </a:txBody>
                  <a:tcPr>
                    <a:solidFill>
                      <a:srgbClr val="F2F2F2"/>
                    </a:solidFill>
                  </a:tcPr>
                </a:tc>
              </a:tr>
              <a:tr h="365760">
                <a:tc>
                  <a:txBody>
                    <a:bodyPr/>
                    <a:lstStyle/>
                    <a:p>
                      <a:pPr>
                        <a:defRPr sz="1100">
                          <a:solidFill>
                            <a:srgbClr val="595959"/>
                          </a:solidFill>
                          <a:latin typeface="Arial"/>
                        </a:defRPr>
                      </a:pPr>
                      <a:r>
                        <a:t>Patient identification</a:t>
                      </a:r>
                    </a:p>
                  </a:txBody>
                  <a:tcPr>
                    <a:solidFill>
                      <a:srgbClr val="FFFFFF"/>
                    </a:solidFill>
                  </a:tcPr>
                </a:tc>
                <a:tc>
                  <a:txBody>
                    <a:bodyPr/>
                    <a:lstStyle/>
                    <a:p>
                      <a:pPr algn="r">
                        <a:defRPr sz="1100">
                          <a:solidFill>
                            <a:srgbClr val="595959"/>
                          </a:solidFill>
                          <a:latin typeface="Arial"/>
                        </a:defRPr>
                      </a:pPr>
                      <a:r>
                        <a:t>100%</a:t>
                      </a:r>
                    </a:p>
                  </a:txBody>
                  <a:tcPr>
                    <a:solidFill>
                      <a:srgbClr val="FFFFFF"/>
                    </a:solidFill>
                  </a:tcPr>
                </a:tc>
                <a:tc>
                  <a:txBody>
                    <a:bodyPr/>
                    <a:lstStyle/>
                    <a:p>
                      <a:pPr algn="r">
                        <a:defRPr sz="1100">
                          <a:solidFill>
                            <a:srgbClr val="595959"/>
                          </a:solidFill>
                          <a:latin typeface="Arial"/>
                        </a:defRPr>
                      </a:pPr>
                      <a:r>
                        <a:t>93% – 100%</a:t>
                      </a:r>
                    </a:p>
                  </a:txBody>
                  <a:tcPr>
                    <a:solidFill>
                      <a:srgbClr val="FFFFFF"/>
                    </a:solidFill>
                  </a:tcPr>
                </a:tc>
                <a:tc>
                  <a:txBody>
                    <a:bodyPr/>
                    <a:lstStyle/>
                    <a:p>
                      <a:pPr algn="r">
                        <a:defRPr sz="1100">
                          <a:solidFill>
                            <a:srgbClr val="595959"/>
                          </a:solidFill>
                          <a:latin typeface="Arial"/>
                        </a:defRPr>
                      </a:pPr>
                      <a:r>
                        <a:t>4 of 6</a:t>
                      </a:r>
                    </a:p>
                  </a:txBody>
                  <a:tcPr>
                    <a:solidFill>
                      <a:srgbClr val="FFFFFF"/>
                    </a:solidFill>
                  </a:tcPr>
                </a:tc>
                <a:tc>
                  <a:txBody>
                    <a:bodyPr/>
                    <a:lstStyle/>
                    <a:p>
                      <a:pPr algn="r">
                        <a:defRPr sz="1100">
                          <a:solidFill>
                            <a:srgbClr val="595959"/>
                          </a:solidFill>
                          <a:latin typeface="Arial"/>
                        </a:defRPr>
                      </a:pPr>
                      <a:r>
                        <a:t>32 of 48</a:t>
                      </a:r>
                    </a:p>
                  </a:txBody>
                  <a:tcPr>
                    <a:solidFill>
                      <a:srgbClr val="FFFFFF"/>
                    </a:solidFill>
                  </a:tcPr>
                </a:tc>
                <a:tc>
                  <a:txBody>
                    <a:bodyPr/>
                    <a:lstStyle/>
                    <a:p>
                      <a:pPr algn="r">
                        <a:defRPr sz="1100">
                          <a:solidFill>
                            <a:srgbClr val="595959"/>
                          </a:solidFill>
                          <a:latin typeface="Arial"/>
                        </a:defRPr>
                      </a:pPr>
                      <a:r>
                        <a:t>90.5% → 98.3%</a:t>
                      </a:r>
                    </a:p>
                  </a:txBody>
                  <a:tcPr>
                    <a:solidFill>
                      <a:srgbClr val="FFFFFF"/>
                    </a:solidFill>
                  </a:tcPr>
                </a:tc>
                <a:tc>
                  <a:txBody>
                    <a:bodyPr/>
                    <a:lstStyle/>
                    <a:p>
                      <a:pPr>
                        <a:defRPr sz="1100">
                          <a:solidFill>
                            <a:srgbClr val="B7791F"/>
                          </a:solidFill>
                          <a:latin typeface="Arial"/>
                        </a:defRPr>
                      </a:pPr>
                      <a:r>
                        <a:t>●  Watch</a:t>
                      </a:r>
                    </a:p>
                  </a:txBody>
                  <a:tcPr>
                    <a:solidFill>
                      <a:srgbClr val="FFFFFF"/>
                    </a:solidFill>
                  </a:tcPr>
                </a:tc>
              </a:tr>
              <a:tr h="365760">
                <a:tc>
                  <a:txBody>
                    <a:bodyPr/>
                    <a:lstStyle/>
                    <a:p>
                      <a:pPr>
                        <a:defRPr sz="1100">
                          <a:solidFill>
                            <a:srgbClr val="595959"/>
                          </a:solidFill>
                          <a:latin typeface="Arial"/>
                        </a:defRPr>
                      </a:pPr>
                      <a:r>
                        <a:t>Productivity (clinics)</a:t>
                      </a:r>
                    </a:p>
                  </a:txBody>
                  <a:tcPr>
                    <a:solidFill>
                      <a:srgbClr val="F2F2F2"/>
                    </a:solidFill>
                  </a:tcPr>
                </a:tc>
                <a:tc>
                  <a:txBody>
                    <a:bodyPr/>
                    <a:lstStyle/>
                    <a:p>
                      <a:pPr algn="r">
                        <a:defRPr sz="1100">
                          <a:solidFill>
                            <a:srgbClr val="595959"/>
                          </a:solidFill>
                          <a:latin typeface="Arial"/>
                        </a:defRPr>
                      </a:pPr>
                      <a:r>
                        <a:t>95% – 115%</a:t>
                      </a:r>
                    </a:p>
                  </a:txBody>
                  <a:tcPr>
                    <a:solidFill>
                      <a:srgbClr val="F2F2F2"/>
                    </a:solidFill>
                  </a:tcPr>
                </a:tc>
                <a:tc>
                  <a:txBody>
                    <a:bodyPr/>
                    <a:lstStyle/>
                    <a:p>
                      <a:pPr algn="r">
                        <a:defRPr sz="1100">
                          <a:solidFill>
                            <a:srgbClr val="595959"/>
                          </a:solidFill>
                          <a:latin typeface="Arial"/>
                        </a:defRPr>
                      </a:pPr>
                      <a:r>
                        <a:t>15% – 53%</a:t>
                      </a:r>
                    </a:p>
                  </a:txBody>
                  <a:tcPr>
                    <a:solidFill>
                      <a:srgbClr val="F2F2F2"/>
                    </a:solidFill>
                  </a:tcPr>
                </a:tc>
                <a:tc>
                  <a:txBody>
                    <a:bodyPr/>
                    <a:lstStyle/>
                    <a:p>
                      <a:pPr algn="r">
                        <a:defRPr sz="1100">
                          <a:solidFill>
                            <a:srgbClr val="595959"/>
                          </a:solidFill>
                          <a:latin typeface="Arial"/>
                        </a:defRPr>
                      </a:pPr>
                      <a:r>
                        <a:t>0 of 6</a:t>
                      </a:r>
                    </a:p>
                  </a:txBody>
                  <a:tcPr>
                    <a:solidFill>
                      <a:srgbClr val="F2F2F2"/>
                    </a:solidFill>
                  </a:tcPr>
                </a:tc>
                <a:tc>
                  <a:txBody>
                    <a:bodyPr/>
                    <a:lstStyle/>
                    <a:p>
                      <a:pPr algn="r">
                        <a:defRPr sz="1100">
                          <a:solidFill>
                            <a:srgbClr val="595959"/>
                          </a:solidFill>
                          <a:latin typeface="Arial"/>
                        </a:defRPr>
                      </a:pPr>
                      <a:r>
                        <a:t>0 of 48</a:t>
                      </a:r>
                    </a:p>
                  </a:txBody>
                  <a:tcPr>
                    <a:solidFill>
                      <a:srgbClr val="F2F2F2"/>
                    </a:solidFill>
                  </a:tcPr>
                </a:tc>
                <a:tc>
                  <a:txBody>
                    <a:bodyPr/>
                    <a:lstStyle/>
                    <a:p>
                      <a:pPr>
                        <a:defRPr sz="1100">
                          <a:solidFill>
                            <a:srgbClr val="595959"/>
                          </a:solidFill>
                          <a:latin typeface="Arial"/>
                        </a:defRPr>
                      </a:pPr>
                      <a:r>
                        <a:t>Jan–Aug avg 25.8%–55.2%</a:t>
                      </a:r>
                    </a:p>
                  </a:txBody>
                  <a:tcPr>
                    <a:solidFill>
                      <a:srgbClr val="F2F2F2"/>
                    </a:solidFill>
                  </a:tcPr>
                </a:tc>
                <a:tc>
                  <a:txBody>
                    <a:bodyPr/>
                    <a:lstStyle/>
                    <a:p>
                      <a:pPr>
                        <a:defRPr sz="1100">
                          <a:solidFill>
                            <a:srgbClr val="B23B3B"/>
                          </a:solidFill>
                          <a:latin typeface="Arial"/>
                        </a:defRPr>
                      </a:pPr>
                      <a:r>
                        <a:t>●  Below target</a:t>
                      </a:r>
                    </a:p>
                  </a:txBody>
                  <a:tcPr>
                    <a:solidFill>
                      <a:srgbClr val="F2F2F2"/>
                    </a:solidFill>
                  </a:tcPr>
                </a:tc>
              </a:tr>
              <a:tr h="365760">
                <a:tc>
                  <a:txBody>
                    <a:bodyPr/>
                    <a:lstStyle/>
                    <a:p>
                      <a:pPr>
                        <a:defRPr sz="1100">
                          <a:solidFill>
                            <a:srgbClr val="595959"/>
                          </a:solidFill>
                          <a:latin typeface="Arial"/>
                        </a:defRPr>
                      </a:pPr>
                      <a:r>
                        <a:t>Productivity (3 fitness centres)</a:t>
                      </a:r>
                    </a:p>
                  </a:txBody>
                  <a:tcPr>
                    <a:solidFill>
                      <a:srgbClr val="FFFFFF"/>
                    </a:solidFill>
                  </a:tcPr>
                </a:tc>
                <a:tc>
                  <a:txBody>
                    <a:bodyPr/>
                    <a:lstStyle/>
                    <a:p>
                      <a:pPr algn="r">
                        <a:defRPr sz="1100">
                          <a:solidFill>
                            <a:srgbClr val="595959"/>
                          </a:solidFill>
                          <a:latin typeface="Arial"/>
                        </a:defRPr>
                      </a:pPr>
                      <a:r>
                        <a:t>95% – 115%</a:t>
                      </a:r>
                    </a:p>
                  </a:txBody>
                  <a:tcPr>
                    <a:solidFill>
                      <a:srgbClr val="FFFFFF"/>
                    </a:solidFill>
                  </a:tcPr>
                </a:tc>
                <a:tc>
                  <a:txBody>
                    <a:bodyPr/>
                    <a:lstStyle/>
                    <a:p>
                      <a:pPr algn="r">
                        <a:defRPr sz="1100">
                          <a:solidFill>
                            <a:srgbClr val="595959"/>
                          </a:solidFill>
                          <a:latin typeface="Arial"/>
                        </a:defRPr>
                      </a:pPr>
                      <a:r>
                        <a:t>81% – 130%</a:t>
                      </a:r>
                    </a:p>
                  </a:txBody>
                  <a:tcPr>
                    <a:solidFill>
                      <a:srgbClr val="FFFFFF"/>
                    </a:solidFill>
                  </a:tcPr>
                </a:tc>
                <a:tc>
                  <a:txBody>
                    <a:bodyPr/>
                    <a:lstStyle/>
                    <a:p>
                      <a:pPr algn="r">
                        <a:defRPr sz="1100">
                          <a:solidFill>
                            <a:srgbClr val="595959"/>
                          </a:solidFill>
                          <a:latin typeface="Arial"/>
                        </a:defRPr>
                      </a:pPr>
                      <a:r>
                        <a:t>0 of 3</a:t>
                      </a:r>
                    </a:p>
                  </a:txBody>
                  <a:tcPr>
                    <a:solidFill>
                      <a:srgbClr val="FFFFFF"/>
                    </a:solidFill>
                  </a:tcPr>
                </a:tc>
                <a:tc>
                  <a:txBody>
                    <a:bodyPr/>
                    <a:lstStyle/>
                    <a:p>
                      <a:pPr algn="r">
                        <a:defRPr sz="1100">
                          <a:solidFill>
                            <a:srgbClr val="595959"/>
                          </a:solidFill>
                          <a:latin typeface="Arial"/>
                        </a:defRPr>
                      </a:pPr>
                      <a:r>
                        <a:t>5 of 24 in band</a:t>
                      </a:r>
                    </a:p>
                  </a:txBody>
                  <a:tcPr>
                    <a:solidFill>
                      <a:srgbClr val="FFFFFF"/>
                    </a:solidFill>
                  </a:tcPr>
                </a:tc>
                <a:tc>
                  <a:txBody>
                    <a:bodyPr/>
                    <a:lstStyle/>
                    <a:p>
                      <a:pPr>
                        <a:defRPr sz="1100">
                          <a:solidFill>
                            <a:srgbClr val="595959"/>
                          </a:solidFill>
                          <a:latin typeface="Arial"/>
                        </a:defRPr>
                      </a:pPr>
                      <a:r>
                        <a:t>Jan–Aug avg 98.6%–120.8%</a:t>
                      </a:r>
                    </a:p>
                  </a:txBody>
                  <a:tcPr>
                    <a:solidFill>
                      <a:srgbClr val="FFFFFF"/>
                    </a:solidFill>
                  </a:tcPr>
                </a:tc>
                <a:tc>
                  <a:txBody>
                    <a:bodyPr/>
                    <a:lstStyle/>
                    <a:p>
                      <a:pPr>
                        <a:defRPr sz="1100">
                          <a:solidFill>
                            <a:srgbClr val="B7791F"/>
                          </a:solidFill>
                          <a:latin typeface="Arial"/>
                        </a:defRPr>
                      </a:pPr>
                      <a:r>
                        <a:t>●  Watch</a:t>
                      </a:r>
                    </a:p>
                  </a:txBody>
                  <a:tcPr>
                    <a:solidFill>
                      <a:srgbClr val="FFFFFF"/>
                    </a:solidFill>
                  </a:tcPr>
                </a:tc>
              </a:tr>
              <a:tr h="365760">
                <a:tc>
                  <a:txBody>
                    <a:bodyPr/>
                    <a:lstStyle/>
                    <a:p>
                      <a:pPr>
                        <a:defRPr sz="1100">
                          <a:solidFill>
                            <a:srgbClr val="595959"/>
                          </a:solidFill>
                          <a:latin typeface="Arial"/>
                        </a:defRPr>
                      </a:pPr>
                      <a:r>
                        <a:t>Patient falls (recorded)</a:t>
                      </a:r>
                    </a:p>
                  </a:txBody>
                  <a:tcPr>
                    <a:solidFill>
                      <a:srgbClr val="F2F2F2"/>
                    </a:solidFill>
                  </a:tcPr>
                </a:tc>
                <a:tc>
                  <a:txBody>
                    <a:bodyPr/>
                    <a:lstStyle/>
                    <a:p>
                      <a:pPr algn="r">
                        <a:defRPr sz="1100">
                          <a:solidFill>
                            <a:srgbClr val="595959"/>
                          </a:solidFill>
                          <a:latin typeface="Arial"/>
                        </a:defRPr>
                      </a:pPr>
                      <a:r>
                        <a:t>—</a:t>
                      </a:r>
                    </a:p>
                  </a:txBody>
                  <a:tcPr>
                    <a:solidFill>
                      <a:srgbClr val="F2F2F2"/>
                    </a:solidFill>
                  </a:tcPr>
                </a:tc>
                <a:tc>
                  <a:txBody>
                    <a:bodyPr/>
                    <a:lstStyle/>
                    <a:p>
                      <a:pPr algn="r">
                        <a:defRPr sz="1100">
                          <a:solidFill>
                            <a:srgbClr val="595959"/>
                          </a:solidFill>
                          <a:latin typeface="Arial"/>
                        </a:defRPr>
                      </a:pPr>
                      <a:r>
                        <a:t>0</a:t>
                      </a:r>
                    </a:p>
                  </a:txBody>
                  <a:tcPr>
                    <a:solidFill>
                      <a:srgbClr val="F2F2F2"/>
                    </a:solidFill>
                  </a:tcPr>
                </a:tc>
                <a:tc>
                  <a:txBody>
                    <a:bodyPr/>
                    <a:lstStyle/>
                    <a:p>
                      <a:pPr algn="r">
                        <a:defRPr sz="1100">
                          <a:solidFill>
                            <a:srgbClr val="595959"/>
                          </a:solidFill>
                          <a:latin typeface="Arial"/>
                        </a:defRPr>
                      </a:pPr>
                      <a:r>
                        <a:t>—</a:t>
                      </a:r>
                    </a:p>
                  </a:txBody>
                  <a:tcPr>
                    <a:solidFill>
                      <a:srgbClr val="F2F2F2"/>
                    </a:solidFill>
                  </a:tcPr>
                </a:tc>
                <a:tc>
                  <a:txBody>
                    <a:bodyPr/>
                    <a:lstStyle/>
                    <a:p>
                      <a:pPr algn="r">
                        <a:defRPr sz="1100">
                          <a:solidFill>
                            <a:srgbClr val="595959"/>
                          </a:solidFill>
                          <a:latin typeface="Arial"/>
                        </a:defRPr>
                      </a:pPr>
                      <a:r>
                        <a:t>0 falls in 48</a:t>
                      </a:r>
                    </a:p>
                  </a:txBody>
                  <a:tcPr>
                    <a:solidFill>
                      <a:srgbClr val="F2F2F2"/>
                    </a:solidFill>
                  </a:tcPr>
                </a:tc>
                <a:tc>
                  <a:txBody>
                    <a:bodyPr/>
                    <a:lstStyle/>
                    <a:p>
                      <a:pPr algn="r">
                        <a:defRPr sz="1100">
                          <a:solidFill>
                            <a:srgbClr val="595959"/>
                          </a:solidFill>
                          <a:latin typeface="Arial"/>
                        </a:defRPr>
                      </a:pPr>
                      <a:r>
                        <a:t>0 → 0</a:t>
                      </a:r>
                    </a:p>
                  </a:txBody>
                  <a:tcPr>
                    <a:solidFill>
                      <a:srgbClr val="F2F2F2"/>
                    </a:solidFill>
                  </a:tcPr>
                </a:tc>
                <a:tc>
                  <a:txBody>
                    <a:bodyPr/>
                    <a:lstStyle/>
                    <a:p>
                      <a:pPr>
                        <a:defRPr sz="1100">
                          <a:solidFill>
                            <a:srgbClr val="2E7D46"/>
                          </a:solidFill>
                          <a:latin typeface="Arial"/>
                        </a:defRPr>
                      </a:pPr>
                      <a:r>
                        <a:t>●  On target</a:t>
                      </a:r>
                    </a:p>
                  </a:txBody>
                  <a:tcPr>
                    <a:solidFill>
                      <a:srgbClr val="F2F2F2"/>
                    </a:solidFill>
                  </a:tcPr>
                </a:tc>
              </a:tr>
              <a:tr h="365760">
                <a:tc>
                  <a:txBody>
                    <a:bodyPr/>
                    <a:lstStyle/>
                    <a:p>
                      <a:pPr>
                        <a:defRPr sz="1100">
                          <a:solidFill>
                            <a:srgbClr val="595959"/>
                          </a:solidFill>
                          <a:latin typeface="Arial"/>
                        </a:defRPr>
                      </a:pPr>
                      <a:r>
                        <a:t>OVRs logged (centre sheets)</a:t>
                      </a:r>
                    </a:p>
                  </a:txBody>
                  <a:tcPr>
                    <a:solidFill>
                      <a:srgbClr val="FFFFFF"/>
                    </a:solidFill>
                  </a:tcPr>
                </a:tc>
                <a:tc>
                  <a:txBody>
                    <a:bodyPr/>
                    <a:lstStyle/>
                    <a:p>
                      <a:pPr algn="r">
                        <a:defRPr sz="1100">
                          <a:solidFill>
                            <a:srgbClr val="595959"/>
                          </a:solidFill>
                          <a:latin typeface="Arial"/>
                        </a:defRPr>
                      </a:pPr>
                      <a:r>
                        <a:t>—</a:t>
                      </a:r>
                    </a:p>
                  </a:txBody>
                  <a:tcPr>
                    <a:solidFill>
                      <a:srgbClr val="FFFFFF"/>
                    </a:solidFill>
                  </a:tcPr>
                </a:tc>
                <a:tc>
                  <a:txBody>
                    <a:bodyPr/>
                    <a:lstStyle/>
                    <a:p>
                      <a:pPr algn="r">
                        <a:defRPr sz="1100">
                          <a:solidFill>
                            <a:srgbClr val="595959"/>
                          </a:solidFill>
                          <a:latin typeface="Arial"/>
                        </a:defRPr>
                      </a:pPr>
                      <a:r>
                        <a:t>7 in Aug</a:t>
                      </a:r>
                    </a:p>
                  </a:txBody>
                  <a:tcPr>
                    <a:solidFill>
                      <a:srgbClr val="FFFFFF"/>
                    </a:solidFill>
                  </a:tcPr>
                </a:tc>
                <a:tc>
                  <a:txBody>
                    <a:bodyPr/>
                    <a:lstStyle/>
                    <a:p>
                      <a:pPr algn="r">
                        <a:defRPr sz="1100">
                          <a:solidFill>
                            <a:srgbClr val="595959"/>
                          </a:solidFill>
                          <a:latin typeface="Arial"/>
                        </a:defRPr>
                      </a:pPr>
                      <a:r>
                        <a:t>—</a:t>
                      </a:r>
                    </a:p>
                  </a:txBody>
                  <a:tcPr>
                    <a:solidFill>
                      <a:srgbClr val="FFFFFF"/>
                    </a:solidFill>
                  </a:tcPr>
                </a:tc>
                <a:tc>
                  <a:txBody>
                    <a:bodyPr/>
                    <a:lstStyle/>
                    <a:p>
                      <a:pPr algn="r">
                        <a:defRPr sz="1100">
                          <a:solidFill>
                            <a:srgbClr val="595959"/>
                          </a:solidFill>
                          <a:latin typeface="Arial"/>
                        </a:defRPr>
                      </a:pPr>
                      <a:r>
                        <a:t>58 Jan–Aug</a:t>
                      </a:r>
                    </a:p>
                  </a:txBody>
                  <a:tcPr>
                    <a:solidFill>
                      <a:srgbClr val="FFFFFF"/>
                    </a:solidFill>
                  </a:tcPr>
                </a:tc>
                <a:tc>
                  <a:txBody>
                    <a:bodyPr/>
                    <a:lstStyle/>
                    <a:p>
                      <a:pPr>
                        <a:defRPr sz="1100">
                          <a:solidFill>
                            <a:srgbClr val="595959"/>
                          </a:solidFill>
                          <a:latin typeface="Arial"/>
                        </a:defRPr>
                      </a:pPr>
                      <a:r>
                        <a:t>KPI report shows 0</a:t>
                      </a:r>
                    </a:p>
                  </a:txBody>
                  <a:tcPr>
                    <a:solidFill>
                      <a:srgbClr val="FFFFFF"/>
                    </a:solidFill>
                  </a:tcPr>
                </a:tc>
                <a:tc>
                  <a:txBody>
                    <a:bodyPr/>
                    <a:lstStyle/>
                    <a:p>
                      <a:pPr>
                        <a:defRPr sz="1100">
                          <a:solidFill>
                            <a:srgbClr val="B23B3B"/>
                          </a:solidFill>
                          <a:latin typeface="Arial"/>
                        </a:defRPr>
                      </a:pPr>
                      <a:r>
                        <a:t>●  Not in KPI report</a:t>
                      </a:r>
                    </a:p>
                  </a:txBody>
                  <a:tcPr>
                    <a:solidFill>
                      <a:srgbClr val="FFFFFF"/>
                    </a:solidFill>
                  </a:tcPr>
                </a:tc>
              </a:tr>
            </a:tbl>
          </a:graphicData>
        </a:graphic>
      </p:graphicFrame>
      <p:sp>
        <p:nvSpPr>
          <p:cNvPr id="9" name="TextBox 8"/>
          <p:cNvSpPr txBox="1"/>
          <p:nvPr/>
        </p:nvSpPr>
        <p:spPr>
          <a:xfrm>
            <a:off x="548640" y="5230368"/>
            <a:ext cx="11091672" cy="274320"/>
          </a:xfrm>
          <a:prstGeom prst="rect">
            <a:avLst/>
          </a:prstGeom>
          <a:noFill/>
        </p:spPr>
        <p:txBody>
          <a:bodyPr wrap="square"/>
          <a:lstStyle/>
          <a:p>
            <a:pPr algn="l"/>
            <a:r>
              <a:rPr sz="1000" b="0">
                <a:solidFill>
                  <a:srgbClr val="595959"/>
                </a:solidFill>
                <a:latin typeface="Arial"/>
              </a:rPr>
              <a:t>Network averages are unweighted means of the six centres (calculated). OVR counts come from the centres' OVR sheets, not the KPI report.</a:t>
            </a:r>
          </a:p>
        </p:txBody>
      </p:sp>
      <p:sp>
        <p:nvSpPr>
          <p:cNvPr id="10" name="Rectangle 9"/>
          <p:cNvSpPr/>
          <p:nvPr/>
        </p:nvSpPr>
        <p:spPr>
          <a:xfrm>
            <a:off x="548640" y="5577840"/>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577840"/>
            <a:ext cx="10911535" cy="502920"/>
          </a:xfrm>
          <a:prstGeom prst="rect">
            <a:avLst/>
          </a:prstGeom>
          <a:noFill/>
        </p:spPr>
        <p:txBody>
          <a:bodyPr wrap="square"/>
          <a:lstStyle/>
          <a:p>
            <a:pPr algn="l"/>
            <a:r>
              <a:rPr sz="1100" b="0">
                <a:solidFill>
                  <a:srgbClr val="595959"/>
                </a:solidFill>
                <a:latin typeface="Arial"/>
              </a:rPr>
              <a:t>Why it matters: Compliance is a strength to sustain; the investment case sits in productivity and in turning patient-ID quality into an OVR-pipeline fix.</a:t>
            </a:r>
          </a:p>
        </p:txBody>
      </p:sp>
      <p:sp>
        <p:nvSpPr>
          <p:cNvPr id="12" name="TextBox 1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Ajman PHC KPI Reports January–August 2026 (section 2, KPI Performance Overview); calculations in the companion data inventory.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KEY CHALLENGES &amp; RISKS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Seven risks, ranked by impact on patients and on 12 November</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Evidence (fact) and implication (interpretation) for each</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28</a:t>
            </a:r>
          </a:p>
        </p:txBody>
      </p:sp>
      <p:graphicFrame>
        <p:nvGraphicFramePr>
          <p:cNvPr id="8" name="Table 7"/>
          <p:cNvGraphicFramePr>
            <a:graphicFrameLocks noGrp="1"/>
          </p:cNvGraphicFramePr>
          <p:nvPr/>
        </p:nvGraphicFramePr>
        <p:xfrm>
          <a:off x="548640" y="1645920"/>
          <a:ext cx="11091672" cy="292608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defRPr sz="1100" b="1">
                          <a:solidFill>
                            <a:srgbClr val="FFFFFF"/>
                          </a:solidFill>
                          <a:latin typeface="Arial"/>
                        </a:defRPr>
                      </a:pPr>
                      <a:r>
                        <a:t>Risk</a:t>
                      </a:r>
                    </a:p>
                  </a:txBody>
                  <a:tcPr>
                    <a:solidFill>
                      <a:srgbClr val="325277"/>
                    </a:solidFill>
                  </a:tcPr>
                </a:tc>
                <a:tc>
                  <a:txBody>
                    <a:bodyPr/>
                    <a:lstStyle/>
                    <a:p>
                      <a:pPr>
                        <a:defRPr sz="1100" b="1">
                          <a:solidFill>
                            <a:srgbClr val="FFFFFF"/>
                          </a:solidFill>
                          <a:latin typeface="Arial"/>
                        </a:defRPr>
                      </a:pPr>
                      <a:r>
                        <a:t>Evidence (FACT)</a:t>
                      </a:r>
                    </a:p>
                  </a:txBody>
                  <a:tcPr>
                    <a:solidFill>
                      <a:srgbClr val="325277"/>
                    </a:solidFill>
                  </a:tcPr>
                </a:tc>
                <a:tc>
                  <a:txBody>
                    <a:bodyPr/>
                    <a:lstStyle/>
                    <a:p>
                      <a:pPr>
                        <a:defRPr sz="1100" b="1">
                          <a:solidFill>
                            <a:srgbClr val="FFFFFF"/>
                          </a:solidFill>
                          <a:latin typeface="Arial"/>
                        </a:defRPr>
                      </a:pPr>
                      <a:r>
                        <a:t>Implication (INTERPRETATION)</a:t>
                      </a:r>
                    </a:p>
                  </a:txBody>
                  <a:tcPr>
                    <a:solidFill>
                      <a:srgbClr val="325277"/>
                    </a:solidFill>
                  </a:tcPr>
                </a:tc>
                <a:tc>
                  <a:txBody>
                    <a:bodyPr/>
                    <a:lstStyle/>
                    <a:p>
                      <a:pPr>
                        <a:defRPr sz="1100" b="1">
                          <a:solidFill>
                            <a:srgbClr val="FFFFFF"/>
                          </a:solidFill>
                          <a:latin typeface="Arial"/>
                        </a:defRPr>
                      </a:pPr>
                      <a:r>
                        <a:t>Level</a:t>
                      </a:r>
                    </a:p>
                  </a:txBody>
                  <a:tcPr>
                    <a:solidFill>
                      <a:srgbClr val="325277"/>
                    </a:solidFill>
                  </a:tcPr>
                </a:tc>
              </a:tr>
              <a:tr h="365760">
                <a:tc>
                  <a:txBody>
                    <a:bodyPr/>
                    <a:lstStyle/>
                    <a:p>
                      <a:pPr>
                        <a:defRPr sz="1100">
                          <a:solidFill>
                            <a:srgbClr val="595959"/>
                          </a:solidFill>
                          <a:latin typeface="Arial"/>
                        </a:defRPr>
                      </a:pPr>
                      <a:r>
                        <a:t>Productivity far below band</a:t>
                      </a:r>
                    </a:p>
                  </a:txBody>
                  <a:tcPr>
                    <a:solidFill>
                      <a:srgbClr val="FFFFFF"/>
                    </a:solidFill>
                  </a:tcPr>
                </a:tc>
                <a:tc>
                  <a:txBody>
                    <a:bodyPr/>
                    <a:lstStyle/>
                    <a:p>
                      <a:pPr algn="r">
                        <a:defRPr sz="1100">
                          <a:solidFill>
                            <a:srgbClr val="595959"/>
                          </a:solidFill>
                          <a:latin typeface="Arial"/>
                        </a:defRPr>
                      </a:pPr>
                      <a:r>
                        <a:t>0 of 48 readings ≥95%; four years below</a:t>
                      </a:r>
                    </a:p>
                  </a:txBody>
                  <a:tcPr>
                    <a:solidFill>
                      <a:srgbClr val="FFFFFF"/>
                    </a:solidFill>
                  </a:tcPr>
                </a:tc>
                <a:tc>
                  <a:txBody>
                    <a:bodyPr/>
                    <a:lstStyle/>
                    <a:p>
                      <a:pPr>
                        <a:defRPr sz="1100">
                          <a:solidFill>
                            <a:srgbClr val="595959"/>
                          </a:solidFill>
                          <a:latin typeface="Arial"/>
                        </a:defRPr>
                      </a:pPr>
                      <a:r>
                        <a:t>Staffing not matched to demand; low-volume sites dilute capacity</a:t>
                      </a:r>
                    </a:p>
                  </a:txBody>
                  <a:tcPr>
                    <a:solidFill>
                      <a:srgbClr val="FFFFFF"/>
                    </a:solidFill>
                  </a:tcPr>
                </a:tc>
                <a:tc>
                  <a:txBody>
                    <a:bodyPr/>
                    <a:lstStyle/>
                    <a:p>
                      <a:pPr>
                        <a:defRPr sz="1100" b="1">
                          <a:solidFill>
                            <a:srgbClr val="B23B3B"/>
                          </a:solidFill>
                          <a:latin typeface="Arial"/>
                        </a:defRPr>
                      </a:pPr>
                      <a:r>
                        <a:t>High</a:t>
                      </a:r>
                    </a:p>
                  </a:txBody>
                  <a:tcPr>
                    <a:solidFill>
                      <a:srgbClr val="FFFFFF"/>
                    </a:solidFill>
                  </a:tcPr>
                </a:tc>
              </a:tr>
              <a:tr h="365760">
                <a:tc>
                  <a:txBody>
                    <a:bodyPr/>
                    <a:lstStyle/>
                    <a:p>
                      <a:pPr>
                        <a:defRPr sz="1100">
                          <a:solidFill>
                            <a:srgbClr val="595959"/>
                          </a:solidFill>
                          <a:latin typeface="Arial"/>
                        </a:defRPr>
                      </a:pPr>
                      <a:r>
                        <a:t>Oversight evidence gaps</a:t>
                      </a:r>
                    </a:p>
                  </a:txBody>
                  <a:tcPr>
                    <a:solidFill>
                      <a:srgbClr val="F2F2F2"/>
                    </a:solidFill>
                  </a:tcPr>
                </a:tc>
                <a:tc>
                  <a:txBody>
                    <a:bodyPr/>
                    <a:lstStyle/>
                    <a:p>
                      <a:pPr algn="r">
                        <a:defRPr sz="1100">
                          <a:solidFill>
                            <a:srgbClr val="595959"/>
                          </a:solidFill>
                          <a:latin typeface="Arial"/>
                        </a:defRPr>
                      </a:pPr>
                      <a:r>
                        <a:t>11 of 23 facility criteria empty; Oct 2025 score 30% vs 80%</a:t>
                      </a:r>
                    </a:p>
                  </a:txBody>
                  <a:tcPr>
                    <a:solidFill>
                      <a:srgbClr val="F2F2F2"/>
                    </a:solidFill>
                  </a:tcPr>
                </a:tc>
                <a:tc>
                  <a:txBody>
                    <a:bodyPr/>
                    <a:lstStyle/>
                    <a:p>
                      <a:pPr>
                        <a:defRPr sz="1100">
                          <a:solidFill>
                            <a:srgbClr val="595959"/>
                          </a:solidFill>
                          <a:latin typeface="Arial"/>
                        </a:defRPr>
                      </a:pPr>
                      <a:r>
                        <a:t>Repeat of 2025 findings if not closed by 12 Nov</a:t>
                      </a:r>
                    </a:p>
                  </a:txBody>
                  <a:tcPr>
                    <a:solidFill>
                      <a:srgbClr val="F2F2F2"/>
                    </a:solidFill>
                  </a:tcPr>
                </a:tc>
                <a:tc>
                  <a:txBody>
                    <a:bodyPr/>
                    <a:lstStyle/>
                    <a:p>
                      <a:pPr>
                        <a:defRPr sz="1100" b="1">
                          <a:solidFill>
                            <a:srgbClr val="B23B3B"/>
                          </a:solidFill>
                          <a:latin typeface="Arial"/>
                        </a:defRPr>
                      </a:pPr>
                      <a:r>
                        <a:t>High</a:t>
                      </a:r>
                    </a:p>
                  </a:txBody>
                  <a:tcPr>
                    <a:solidFill>
                      <a:srgbClr val="F2F2F2"/>
                    </a:solidFill>
                  </a:tcPr>
                </a:tc>
              </a:tr>
              <a:tr h="365760">
                <a:tc>
                  <a:txBody>
                    <a:bodyPr/>
                    <a:lstStyle/>
                    <a:p>
                      <a:pPr>
                        <a:defRPr sz="1100">
                          <a:solidFill>
                            <a:srgbClr val="595959"/>
                          </a:solidFill>
                          <a:latin typeface="Arial"/>
                        </a:defRPr>
                      </a:pPr>
                      <a:r>
                        <a:t>Leadership validation lapsing</a:t>
                      </a:r>
                    </a:p>
                  </a:txBody>
                  <a:tcPr>
                    <a:solidFill>
                      <a:srgbClr val="FFFFFF"/>
                    </a:solidFill>
                  </a:tcPr>
                </a:tc>
                <a:tc>
                  <a:txBody>
                    <a:bodyPr/>
                    <a:lstStyle/>
                    <a:p>
                      <a:pPr algn="r">
                        <a:defRPr sz="1100">
                          <a:solidFill>
                            <a:srgbClr val="595959"/>
                          </a:solidFill>
                          <a:latin typeface="Arial"/>
                        </a:defRPr>
                      </a:pPr>
                      <a:r>
                        <a:t>41 of 96 current; Nurse Manager set lapsed 10 Sep</a:t>
                      </a:r>
                    </a:p>
                  </a:txBody>
                  <a:tcPr>
                    <a:solidFill>
                      <a:srgbClr val="FFFFFF"/>
                    </a:solidFill>
                  </a:tcPr>
                </a:tc>
                <a:tc>
                  <a:txBody>
                    <a:bodyPr/>
                    <a:lstStyle/>
                    <a:p>
                      <a:pPr>
                        <a:defRPr sz="1100">
                          <a:solidFill>
                            <a:srgbClr val="595959"/>
                          </a:solidFill>
                          <a:latin typeface="Arial"/>
                        </a:defRPr>
                      </a:pPr>
                      <a:r>
                        <a:t>Criterion 8 sample likely to fail</a:t>
                      </a:r>
                    </a:p>
                  </a:txBody>
                  <a:tcPr>
                    <a:solidFill>
                      <a:srgbClr val="FFFFFF"/>
                    </a:solidFill>
                  </a:tcPr>
                </a:tc>
                <a:tc>
                  <a:txBody>
                    <a:bodyPr/>
                    <a:lstStyle/>
                    <a:p>
                      <a:pPr>
                        <a:defRPr sz="1100" b="1">
                          <a:solidFill>
                            <a:srgbClr val="B23B3B"/>
                          </a:solidFill>
                          <a:latin typeface="Arial"/>
                        </a:defRPr>
                      </a:pPr>
                      <a:r>
                        <a:t>High</a:t>
                      </a:r>
                    </a:p>
                  </a:txBody>
                  <a:tcPr>
                    <a:solidFill>
                      <a:srgbClr val="FFFFFF"/>
                    </a:solidFill>
                  </a:tcPr>
                </a:tc>
              </a:tr>
              <a:tr h="365760">
                <a:tc>
                  <a:txBody>
                    <a:bodyPr/>
                    <a:lstStyle/>
                    <a:p>
                      <a:pPr>
                        <a:defRPr sz="1100">
                          <a:solidFill>
                            <a:srgbClr val="595959"/>
                          </a:solidFill>
                          <a:latin typeface="Arial"/>
                        </a:defRPr>
                      </a:pPr>
                      <a:r>
                        <a:t>OVR data not reaching the KPI report</a:t>
                      </a:r>
                    </a:p>
                  </a:txBody>
                  <a:tcPr>
                    <a:solidFill>
                      <a:srgbClr val="F2F2F2"/>
                    </a:solidFill>
                  </a:tcPr>
                </a:tc>
                <a:tc>
                  <a:txBody>
                    <a:bodyPr/>
                    <a:lstStyle/>
                    <a:p>
                      <a:pPr algn="r">
                        <a:defRPr sz="1100">
                          <a:solidFill>
                            <a:srgbClr val="595959"/>
                          </a:solidFill>
                          <a:latin typeface="Arial"/>
                        </a:defRPr>
                      </a:pPr>
                      <a:r>
                        <a:t>58 OVRs in centre sheets vs 0 in KPI reports; Al Madina has no OVR sheet filed</a:t>
                      </a:r>
                    </a:p>
                  </a:txBody>
                  <a:tcPr>
                    <a:solidFill>
                      <a:srgbClr val="F2F2F2"/>
                    </a:solidFill>
                  </a:tcPr>
                </a:tc>
                <a:tc>
                  <a:txBody>
                    <a:bodyPr/>
                    <a:lstStyle/>
                    <a:p>
                      <a:pPr>
                        <a:defRPr sz="1100">
                          <a:solidFill>
                            <a:srgbClr val="595959"/>
                          </a:solidFill>
                          <a:latin typeface="Arial"/>
                        </a:defRPr>
                      </a:pPr>
                      <a:r>
                        <a:t>Leadership sees a false zero; trends are missed</a:t>
                      </a:r>
                    </a:p>
                  </a:txBody>
                  <a:tcPr>
                    <a:solidFill>
                      <a:srgbClr val="F2F2F2"/>
                    </a:solidFill>
                  </a:tcPr>
                </a:tc>
                <a:tc>
                  <a:txBody>
                    <a:bodyPr/>
                    <a:lstStyle/>
                    <a:p>
                      <a:pPr>
                        <a:defRPr sz="1100" b="1">
                          <a:solidFill>
                            <a:srgbClr val="B23B3B"/>
                          </a:solidFill>
                          <a:latin typeface="Arial"/>
                        </a:defRPr>
                      </a:pPr>
                      <a:r>
                        <a:t>High</a:t>
                      </a:r>
                    </a:p>
                  </a:txBody>
                  <a:tcPr>
                    <a:solidFill>
                      <a:srgbClr val="F2F2F2"/>
                    </a:solidFill>
                  </a:tcPr>
                </a:tc>
              </a:tr>
              <a:tr h="365760">
                <a:tc>
                  <a:txBody>
                    <a:bodyPr/>
                    <a:lstStyle/>
                    <a:p>
                      <a:pPr>
                        <a:defRPr sz="1100">
                          <a:solidFill>
                            <a:srgbClr val="595959"/>
                          </a:solidFill>
                          <a:latin typeface="Arial"/>
                        </a:defRPr>
                      </a:pPr>
                      <a:r>
                        <a:t>Staff culture</a:t>
                      </a:r>
                    </a:p>
                  </a:txBody>
                  <a:tcPr>
                    <a:solidFill>
                      <a:srgbClr val="FFFFFF"/>
                    </a:solidFill>
                  </a:tcPr>
                </a:tc>
                <a:tc>
                  <a:txBody>
                    <a:bodyPr/>
                    <a:lstStyle/>
                    <a:p>
                      <a:pPr>
                        <a:defRPr sz="1100">
                          <a:solidFill>
                            <a:srgbClr val="595959"/>
                          </a:solidFill>
                          <a:latin typeface="Arial"/>
                        </a:defRPr>
                      </a:pPr>
                      <a:r>
                        <a:t>PHC satisfaction 41.9% vs 80% target (2025); EHS rank 7th → 8th</a:t>
                      </a:r>
                    </a:p>
                  </a:txBody>
                  <a:tcPr>
                    <a:solidFill>
                      <a:srgbClr val="FFFFFF"/>
                    </a:solidFill>
                  </a:tcPr>
                </a:tc>
                <a:tc>
                  <a:txBody>
                    <a:bodyPr/>
                    <a:lstStyle/>
                    <a:p>
                      <a:pPr>
                        <a:defRPr sz="1100">
                          <a:solidFill>
                            <a:srgbClr val="595959"/>
                          </a:solidFill>
                          <a:latin typeface="Arial"/>
                        </a:defRPr>
                      </a:pPr>
                      <a:r>
                        <a:t>Retention and engagement risk</a:t>
                      </a:r>
                    </a:p>
                  </a:txBody>
                  <a:tcPr>
                    <a:solidFill>
                      <a:srgbClr val="FFFFFF"/>
                    </a:solidFill>
                  </a:tcPr>
                </a:tc>
                <a:tc>
                  <a:txBody>
                    <a:bodyPr/>
                    <a:lstStyle/>
                    <a:p>
                      <a:pPr>
                        <a:defRPr sz="1100" b="1">
                          <a:solidFill>
                            <a:srgbClr val="B7791F"/>
                          </a:solidFill>
                          <a:latin typeface="Arial"/>
                        </a:defRPr>
                      </a:pPr>
                      <a:r>
                        <a:t>Medium</a:t>
                      </a:r>
                    </a:p>
                  </a:txBody>
                  <a:tcPr>
                    <a:solidFill>
                      <a:srgbClr val="FFFFFF"/>
                    </a:solidFill>
                  </a:tcPr>
                </a:tc>
              </a:tr>
              <a:tr h="365760">
                <a:tc>
                  <a:txBody>
                    <a:bodyPr/>
                    <a:lstStyle/>
                    <a:p>
                      <a:pPr>
                        <a:defRPr sz="1100">
                          <a:solidFill>
                            <a:srgbClr val="595959"/>
                          </a:solidFill>
                          <a:latin typeface="Arial"/>
                        </a:defRPr>
                      </a:pPr>
                      <a:r>
                        <a:t>School vaccination coverage</a:t>
                      </a:r>
                    </a:p>
                  </a:txBody>
                  <a:tcPr>
                    <a:solidFill>
                      <a:srgbClr val="F2F2F2"/>
                    </a:solidFill>
                  </a:tcPr>
                </a:tc>
                <a:tc>
                  <a:txBody>
                    <a:bodyPr/>
                    <a:lstStyle/>
                    <a:p>
                      <a:pPr algn="r">
                        <a:defRPr sz="1100">
                          <a:solidFill>
                            <a:srgbClr val="595959"/>
                          </a:solidFill>
                          <a:latin typeface="Arial"/>
                        </a:defRPr>
                      </a:pPr>
                      <a:r>
                        <a:t>88.4% vs 100% (Jul 2026); HPV stock; consent</a:t>
                      </a:r>
                    </a:p>
                  </a:txBody>
                  <a:tcPr>
                    <a:solidFill>
                      <a:srgbClr val="F2F2F2"/>
                    </a:solidFill>
                  </a:tcPr>
                </a:tc>
                <a:tc>
                  <a:txBody>
                    <a:bodyPr/>
                    <a:lstStyle/>
                    <a:p>
                      <a:pPr>
                        <a:defRPr sz="1100">
                          <a:solidFill>
                            <a:srgbClr val="595959"/>
                          </a:solidFill>
                          <a:latin typeface="Arial"/>
                        </a:defRPr>
                      </a:pPr>
                      <a:r>
                        <a:t>Population-health target missed</a:t>
                      </a:r>
                    </a:p>
                  </a:txBody>
                  <a:tcPr>
                    <a:solidFill>
                      <a:srgbClr val="F2F2F2"/>
                    </a:solidFill>
                  </a:tcPr>
                </a:tc>
                <a:tc>
                  <a:txBody>
                    <a:bodyPr/>
                    <a:lstStyle/>
                    <a:p>
                      <a:pPr>
                        <a:defRPr sz="1100" b="1">
                          <a:solidFill>
                            <a:srgbClr val="B7791F"/>
                          </a:solidFill>
                          <a:latin typeface="Arial"/>
                        </a:defRPr>
                      </a:pPr>
                      <a:r>
                        <a:t>Medium</a:t>
                      </a:r>
                    </a:p>
                  </a:txBody>
                  <a:tcPr>
                    <a:solidFill>
                      <a:srgbClr val="F2F2F2"/>
                    </a:solidFill>
                  </a:tcPr>
                </a:tc>
              </a:tr>
              <a:tr h="365760">
                <a:tc>
                  <a:txBody>
                    <a:bodyPr/>
                    <a:lstStyle/>
                    <a:p>
                      <a:pPr>
                        <a:defRPr sz="1100">
                          <a:solidFill>
                            <a:srgbClr val="595959"/>
                          </a:solidFill>
                          <a:latin typeface="Arial"/>
                        </a:defRPr>
                      </a:pPr>
                      <a:r>
                        <a:t>Data governance</a:t>
                      </a:r>
                    </a:p>
                  </a:txBody>
                  <a:tcPr>
                    <a:solidFill>
                      <a:srgbClr val="FFFFFF"/>
                    </a:solidFill>
                  </a:tcPr>
                </a:tc>
                <a:tc>
                  <a:txBody>
                    <a:bodyPr/>
                    <a:lstStyle/>
                    <a:p>
                      <a:pPr>
                        <a:defRPr sz="1100">
                          <a:solidFill>
                            <a:srgbClr val="595959"/>
                          </a:solidFill>
                          <a:latin typeface="Arial"/>
                        </a:defRPr>
                      </a:pPr>
                      <a:r>
                        <a:t>Two target sets; 33 vs 34 schools; 2025 baselines differ</a:t>
                      </a:r>
                    </a:p>
                  </a:txBody>
                  <a:tcPr>
                    <a:solidFill>
                      <a:srgbClr val="FFFFFF"/>
                    </a:solidFill>
                  </a:tcPr>
                </a:tc>
                <a:tc>
                  <a:txBody>
                    <a:bodyPr/>
                    <a:lstStyle/>
                    <a:p>
                      <a:pPr>
                        <a:defRPr sz="1100">
                          <a:solidFill>
                            <a:srgbClr val="595959"/>
                          </a:solidFill>
                          <a:latin typeface="Arial"/>
                        </a:defRPr>
                      </a:pPr>
                      <a:r>
                        <a:t>Decisions made on inconsistent numbers</a:t>
                      </a:r>
                    </a:p>
                  </a:txBody>
                  <a:tcPr>
                    <a:solidFill>
                      <a:srgbClr val="FFFFFF"/>
                    </a:solidFill>
                  </a:tcPr>
                </a:tc>
                <a:tc>
                  <a:txBody>
                    <a:bodyPr/>
                    <a:lstStyle/>
                    <a:p>
                      <a:pPr>
                        <a:defRPr sz="1100" b="1">
                          <a:solidFill>
                            <a:srgbClr val="B7791F"/>
                          </a:solidFill>
                          <a:latin typeface="Arial"/>
                        </a:defRPr>
                      </a:pPr>
                      <a:r>
                        <a:t>Medium</a:t>
                      </a:r>
                    </a:p>
                  </a:txBody>
                  <a:tcPr>
                    <a:solidFill>
                      <a:srgbClr val="FFFFFF"/>
                    </a:solidFill>
                  </a:tcPr>
                </a:tc>
              </a:tr>
            </a:tbl>
          </a:graphicData>
        </a:graphic>
      </p:graphicFrame>
      <p:sp>
        <p:nvSpPr>
          <p:cNvPr id="9" name="TextBox 8"/>
          <p:cNvSpPr txBox="1"/>
          <p:nvPr/>
        </p:nvSpPr>
        <p:spPr>
          <a:xfrm>
            <a:off x="548640" y="5230368"/>
            <a:ext cx="11091672" cy="274320"/>
          </a:xfrm>
          <a:prstGeom prst="rect">
            <a:avLst/>
          </a:prstGeom>
          <a:noFill/>
        </p:spPr>
        <p:txBody>
          <a:bodyPr wrap="square"/>
          <a:lstStyle/>
          <a:p>
            <a:pPr algn="l"/>
            <a:r>
              <a:rPr sz="1000" b="0">
                <a:solidFill>
                  <a:srgbClr val="595959"/>
                </a:solidFill>
                <a:latin typeface="Arial"/>
              </a:rPr>
              <a:t>Context stated in departmental documents: no EHS hospital in Ajman; Al Muzeirah and Al Manama are remote from central Ajman.</a:t>
            </a:r>
          </a:p>
        </p:txBody>
      </p:sp>
      <p:sp>
        <p:nvSpPr>
          <p:cNvPr id="10" name="Rectangle 9"/>
          <p:cNvSpPr/>
          <p:nvPr/>
        </p:nvSpPr>
        <p:spPr>
          <a:xfrm>
            <a:off x="548640" y="5559552"/>
            <a:ext cx="64008" cy="502920"/>
          </a:xfrm>
          <a:prstGeom prst="rect">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559552"/>
            <a:ext cx="10911535" cy="502920"/>
          </a:xfrm>
          <a:prstGeom prst="rect">
            <a:avLst/>
          </a:prstGeom>
          <a:noFill/>
        </p:spPr>
        <p:txBody>
          <a:bodyPr wrap="square"/>
          <a:lstStyle/>
          <a:p>
            <a:pPr algn="l"/>
            <a:r>
              <a:rPr sz="1100" b="0">
                <a:solidFill>
                  <a:srgbClr val="595959"/>
                </a:solidFill>
                <a:latin typeface="Arial"/>
              </a:rPr>
              <a:t>Why it matters: The four high risks are all visible to the 12 November assessors; three of them (evidence, validation, OVR roll-up) can be closed with protected time and a monthly consolidation step.</a:t>
            </a:r>
          </a:p>
        </p:txBody>
      </p:sp>
      <p:sp>
        <p:nvSpPr>
          <p:cNvPr id="12" name="TextBox 11"/>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KPI Reports 2026; Productivity correction notice (11 Sep 2026); Oversight evidence scan (25 Sep 2026); Oct 2025 gap analysis; leadership completion scan (14 Sep 2026); SSIP Q2 report; Culture 2026 action plan.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256032"/>
          </a:xfrm>
          <a:prstGeom prst="rect">
            <a:avLst/>
          </a:prstGeom>
          <a:noFill/>
        </p:spPr>
        <p:txBody>
          <a:bodyPr wrap="square"/>
          <a:lstStyle/>
          <a:p>
            <a:pPr algn="l"/>
            <a:r>
              <a:rPr sz="2400" b="1">
                <a:solidFill>
                  <a:srgbClr val="325277"/>
                </a:solidFill>
                <a:latin typeface="Arial"/>
              </a:rPr>
              <a:t>2026–2027 STRATEGIC PRIORITIES</a:t>
            </a:r>
          </a:p>
        </p:txBody>
      </p:sp>
      <p:sp>
        <p:nvSpPr>
          <p:cNvPr id="3" name="TextBox 2"/>
          <p:cNvSpPr txBox="1"/>
          <p:nvPr/>
        </p:nvSpPr>
        <p:spPr>
          <a:xfrm>
            <a:off x="548640" y="603504"/>
            <a:ext cx="11094415" cy="548640"/>
          </a:xfrm>
          <a:prstGeom prst="rect">
            <a:avLst/>
          </a:prstGeom>
          <a:noFill/>
        </p:spPr>
        <p:txBody>
          <a:bodyPr wrap="square"/>
          <a:lstStyle/>
          <a:p>
            <a:pPr algn="l"/>
            <a:r>
              <a:rPr sz="1600" b="0">
                <a:solidFill>
                  <a:srgbClr val="3B577A"/>
                </a:solidFill>
                <a:latin typeface="Arial"/>
              </a:rPr>
              <a:t>Five priorities, each tied to a measure already in our plans</a:t>
            </a:r>
          </a:p>
        </p:txBody>
      </p:sp>
      <p:sp>
        <p:nvSpPr>
          <p:cNvPr id="4" name="TextBox 3"/>
          <p:cNvSpPr txBox="1"/>
          <p:nvPr/>
        </p:nvSpPr>
        <p:spPr>
          <a:xfrm>
            <a:off x="548640" y="1143000"/>
            <a:ext cx="11094415" cy="329184"/>
          </a:xfrm>
          <a:prstGeom prst="rect">
            <a:avLst/>
          </a:prstGeom>
          <a:noFill/>
        </p:spPr>
        <p:txBody>
          <a:bodyPr wrap="square"/>
          <a:lstStyle/>
          <a:p>
            <a:pPr algn="l"/>
            <a:r>
              <a:rPr sz="1100" b="0">
                <a:solidFill>
                  <a:srgbClr val="A9B4C6"/>
                </a:solidFill>
                <a:latin typeface="Arial"/>
              </a:rPr>
              <a:t>RECOMMENDATIONS for leadership endorsement</a:t>
            </a:r>
          </a:p>
        </p:txBody>
      </p:sp>
      <p:sp>
        <p:nvSpPr>
          <p:cNvPr id="5" name="TextBox 4"/>
          <p:cNvSpPr txBox="1"/>
          <p:nvPr/>
        </p:nvSpPr>
        <p:spPr>
          <a:xfrm>
            <a:off x="548640" y="6547104"/>
            <a:ext cx="3657600" cy="237744"/>
          </a:xfrm>
          <a:prstGeom prst="rect">
            <a:avLst/>
          </a:prstGeom>
          <a:noFill/>
        </p:spPr>
        <p:txBody>
          <a:bodyPr wrap="square"/>
          <a:lstStyle/>
          <a:p>
            <a:pPr algn="l"/>
            <a:r>
              <a:rPr sz="900" b="0">
                <a:solidFill>
                  <a:srgbClr val="A9B4C6"/>
                </a:solidFill>
                <a:latin typeface="Arial"/>
              </a:rPr>
              <a:t>Classification: Internal</a:t>
            </a:r>
          </a:p>
        </p:txBody>
      </p:sp>
      <p:sp>
        <p:nvSpPr>
          <p:cNvPr id="6" name="TextBox 5"/>
          <p:cNvSpPr txBox="1"/>
          <p:nvPr/>
        </p:nvSpPr>
        <p:spPr>
          <a:xfrm>
            <a:off x="3352648" y="6547104"/>
            <a:ext cx="5486400" cy="237744"/>
          </a:xfrm>
          <a:prstGeom prst="rect">
            <a:avLst/>
          </a:prstGeom>
          <a:noFill/>
        </p:spPr>
        <p:txBody>
          <a:bodyPr wrap="square"/>
          <a:lstStyle/>
          <a:p>
            <a:pPr algn="ctr"/>
            <a:r>
              <a:rPr sz="900" b="0">
                <a:solidFill>
                  <a:srgbClr val="A9B4C6"/>
                </a:solidFill>
                <a:latin typeface="Arial"/>
              </a:rPr>
              <a:t>Ajman Nursing Services — PHC | PHS | School Health</a:t>
            </a:r>
          </a:p>
        </p:txBody>
      </p:sp>
      <p:sp>
        <p:nvSpPr>
          <p:cNvPr id="7" name="TextBox 6"/>
          <p:cNvSpPr txBox="1"/>
          <p:nvPr/>
        </p:nvSpPr>
        <p:spPr>
          <a:xfrm>
            <a:off x="11277295" y="6547104"/>
            <a:ext cx="457200" cy="237744"/>
          </a:xfrm>
          <a:prstGeom prst="rect">
            <a:avLst/>
          </a:prstGeom>
          <a:noFill/>
        </p:spPr>
        <p:txBody>
          <a:bodyPr wrap="square"/>
          <a:lstStyle/>
          <a:p>
            <a:pPr algn="r"/>
            <a:r>
              <a:rPr sz="900" b="0">
                <a:solidFill>
                  <a:srgbClr val="A9B4C6"/>
                </a:solidFill>
                <a:latin typeface="Arial"/>
              </a:rPr>
              <a:t>29</a:t>
            </a:r>
          </a:p>
        </p:txBody>
      </p:sp>
      <p:sp>
        <p:nvSpPr>
          <p:cNvPr id="8" name="Oval 7"/>
          <p:cNvSpPr/>
          <p:nvPr/>
        </p:nvSpPr>
        <p:spPr>
          <a:xfrm>
            <a:off x="548640" y="1645920"/>
            <a:ext cx="548640" cy="60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45920"/>
            <a:ext cx="548640" cy="600000"/>
          </a:xfrm>
          <a:prstGeom prst="rect">
            <a:avLst/>
          </a:prstGeom>
          <a:noFill/>
        </p:spPr>
        <p:txBody>
          <a:bodyPr wrap="square"/>
          <a:lstStyle/>
          <a:p>
            <a:pPr algn="ctr"/>
            <a:r>
              <a:rPr sz="2200" b="1">
                <a:solidFill>
                  <a:srgbClr val="FFFFFF"/>
                </a:solidFill>
                <a:latin typeface="Arial"/>
              </a:rPr>
              <a:t>1</a:t>
            </a:r>
          </a:p>
        </p:txBody>
      </p:sp>
      <p:sp>
        <p:nvSpPr>
          <p:cNvPr id="10" name="Rounded Rectangle 9"/>
          <p:cNvSpPr/>
          <p:nvPr/>
        </p:nvSpPr>
        <p:spPr>
          <a:xfrm>
            <a:off x="1143000" y="1645920"/>
            <a:ext cx="10497312" cy="676656"/>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645920"/>
            <a:ext cx="2743200" cy="676656"/>
          </a:xfrm>
          <a:prstGeom prst="rect">
            <a:avLst/>
          </a:prstGeom>
          <a:noFill/>
        </p:spPr>
        <p:txBody>
          <a:bodyPr wrap="square"/>
          <a:lstStyle/>
          <a:p>
            <a:pPr algn="l"/>
            <a:r>
              <a:rPr sz="1400" b="1">
                <a:solidFill>
                  <a:srgbClr val="325277"/>
                </a:solidFill>
                <a:latin typeface="Arial"/>
              </a:rPr>
              <a:t>Close the oversight gaps</a:t>
            </a:r>
          </a:p>
        </p:txBody>
      </p:sp>
      <p:sp>
        <p:nvSpPr>
          <p:cNvPr id="12" name="TextBox 11"/>
          <p:cNvSpPr txBox="1"/>
          <p:nvPr/>
        </p:nvSpPr>
        <p:spPr>
          <a:xfrm>
            <a:off x="4023360" y="1645920"/>
            <a:ext cx="4572000" cy="676656"/>
          </a:xfrm>
          <a:prstGeom prst="rect">
            <a:avLst/>
          </a:prstGeom>
          <a:noFill/>
        </p:spPr>
        <p:txBody>
          <a:bodyPr wrap="square"/>
          <a:lstStyle/>
          <a:p>
            <a:pPr algn="l"/>
            <a:r>
              <a:rPr sz="1100" b="0">
                <a:solidFill>
                  <a:srgbClr val="595959"/>
                </a:solidFill>
                <a:latin typeface="Arial"/>
              </a:rPr>
              <a:t>Evidence for criteria 02–04, 10–11, 13–18; re-validate 55 lapsed leadership records</a:t>
            </a:r>
          </a:p>
        </p:txBody>
      </p:sp>
      <p:sp>
        <p:nvSpPr>
          <p:cNvPr id="13" name="TextBox 12"/>
          <p:cNvSpPr txBox="1"/>
          <p:nvPr/>
        </p:nvSpPr>
        <p:spPr>
          <a:xfrm>
            <a:off x="8686800" y="1645920"/>
            <a:ext cx="2880360" cy="676656"/>
          </a:xfrm>
          <a:prstGeom prst="rect">
            <a:avLst/>
          </a:prstGeom>
          <a:noFill/>
        </p:spPr>
        <p:txBody>
          <a:bodyPr wrap="square"/>
          <a:lstStyle/>
          <a:p>
            <a:pPr algn="l"/>
            <a:r>
              <a:rPr sz="1000" b="0">
                <a:solidFill>
                  <a:srgbClr val="3B577A"/>
                </a:solidFill>
                <a:latin typeface="Arial"/>
              </a:rPr>
              <a:t>All 23 facility criteria evidenced by 12 Nov 2026</a:t>
            </a:r>
          </a:p>
        </p:txBody>
      </p:sp>
      <p:sp>
        <p:nvSpPr>
          <p:cNvPr id="14" name="Oval 13"/>
          <p:cNvSpPr/>
          <p:nvPr/>
        </p:nvSpPr>
        <p:spPr>
          <a:xfrm>
            <a:off x="548640" y="2413920"/>
            <a:ext cx="548640" cy="60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13920"/>
            <a:ext cx="548640" cy="600000"/>
          </a:xfrm>
          <a:prstGeom prst="rect">
            <a:avLst/>
          </a:prstGeom>
          <a:noFill/>
        </p:spPr>
        <p:txBody>
          <a:bodyPr wrap="square"/>
          <a:lstStyle/>
          <a:p>
            <a:pPr algn="ctr"/>
            <a:r>
              <a:rPr sz="2200" b="1">
                <a:solidFill>
                  <a:srgbClr val="FFFFFF"/>
                </a:solidFill>
                <a:latin typeface="Arial"/>
              </a:rPr>
              <a:t>2</a:t>
            </a:r>
          </a:p>
        </p:txBody>
      </p:sp>
      <p:sp>
        <p:nvSpPr>
          <p:cNvPr id="16" name="Rounded Rectangle 15"/>
          <p:cNvSpPr/>
          <p:nvPr/>
        </p:nvSpPr>
        <p:spPr>
          <a:xfrm>
            <a:off x="1143000" y="2413920"/>
            <a:ext cx="10497312" cy="676656"/>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2413920"/>
            <a:ext cx="2743200" cy="676656"/>
          </a:xfrm>
          <a:prstGeom prst="rect">
            <a:avLst/>
          </a:prstGeom>
          <a:noFill/>
        </p:spPr>
        <p:txBody>
          <a:bodyPr wrap="square"/>
          <a:lstStyle/>
          <a:p>
            <a:pPr algn="l"/>
            <a:r>
              <a:rPr sz="1400" b="1">
                <a:solidFill>
                  <a:srgbClr val="325277"/>
                </a:solidFill>
                <a:latin typeface="Arial"/>
              </a:rPr>
              <a:t>Match staffing to demand</a:t>
            </a:r>
          </a:p>
        </p:txBody>
      </p:sp>
      <p:sp>
        <p:nvSpPr>
          <p:cNvPr id="18" name="TextBox 17"/>
          <p:cNvSpPr txBox="1"/>
          <p:nvPr/>
        </p:nvSpPr>
        <p:spPr>
          <a:xfrm>
            <a:off x="4023360" y="2413920"/>
            <a:ext cx="4572000" cy="676656"/>
          </a:xfrm>
          <a:prstGeom prst="rect">
            <a:avLst/>
          </a:prstGeom>
          <a:noFill/>
        </p:spPr>
        <p:txBody>
          <a:bodyPr wrap="square"/>
          <a:lstStyle/>
          <a:p>
            <a:pPr algn="l"/>
            <a:r>
              <a:rPr sz="1100" b="0">
                <a:solidFill>
                  <a:srgbClr val="595959"/>
                </a:solidFill>
                <a:latin typeface="Arial"/>
              </a:rPr>
              <a:t>Redeploy to volume; roster to NHPPD; decide the standard for low-volume sites</a:t>
            </a:r>
          </a:p>
        </p:txBody>
      </p:sp>
      <p:sp>
        <p:nvSpPr>
          <p:cNvPr id="19" name="TextBox 18"/>
          <p:cNvSpPr txBox="1"/>
          <p:nvPr/>
        </p:nvSpPr>
        <p:spPr>
          <a:xfrm>
            <a:off x="8686800" y="2413920"/>
            <a:ext cx="2880360" cy="676656"/>
          </a:xfrm>
          <a:prstGeom prst="rect">
            <a:avLst/>
          </a:prstGeom>
          <a:noFill/>
        </p:spPr>
        <p:txBody>
          <a:bodyPr wrap="square"/>
          <a:lstStyle/>
          <a:p>
            <a:pPr algn="l"/>
            <a:r>
              <a:rPr sz="1000" b="0">
                <a:solidFill>
                  <a:srgbClr val="3B577A"/>
                </a:solidFill>
                <a:latin typeface="Arial"/>
              </a:rPr>
              <a:t>NHPPD/FTE variance ±10% (Op Plan obj. 6)</a:t>
            </a:r>
          </a:p>
        </p:txBody>
      </p:sp>
      <p:sp>
        <p:nvSpPr>
          <p:cNvPr id="20" name="Oval 19"/>
          <p:cNvSpPr/>
          <p:nvPr/>
        </p:nvSpPr>
        <p:spPr>
          <a:xfrm>
            <a:off x="548640" y="3181920"/>
            <a:ext cx="548640" cy="60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181920"/>
            <a:ext cx="548640" cy="600000"/>
          </a:xfrm>
          <a:prstGeom prst="rect">
            <a:avLst/>
          </a:prstGeom>
          <a:noFill/>
        </p:spPr>
        <p:txBody>
          <a:bodyPr wrap="square"/>
          <a:lstStyle/>
          <a:p>
            <a:pPr algn="ctr"/>
            <a:r>
              <a:rPr sz="2200" b="1">
                <a:solidFill>
                  <a:srgbClr val="FFFFFF"/>
                </a:solidFill>
                <a:latin typeface="Arial"/>
              </a:rPr>
              <a:t>3</a:t>
            </a:r>
          </a:p>
        </p:txBody>
      </p:sp>
      <p:sp>
        <p:nvSpPr>
          <p:cNvPr id="22" name="Rounded Rectangle 21"/>
          <p:cNvSpPr/>
          <p:nvPr/>
        </p:nvSpPr>
        <p:spPr>
          <a:xfrm>
            <a:off x="1143000" y="3181920"/>
            <a:ext cx="10497312" cy="676656"/>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3181920"/>
            <a:ext cx="2743200" cy="676656"/>
          </a:xfrm>
          <a:prstGeom prst="rect">
            <a:avLst/>
          </a:prstGeom>
          <a:noFill/>
        </p:spPr>
        <p:txBody>
          <a:bodyPr wrap="square"/>
          <a:lstStyle/>
          <a:p>
            <a:pPr algn="l"/>
            <a:r>
              <a:rPr sz="1400" b="1">
                <a:solidFill>
                  <a:srgbClr val="325277"/>
                </a:solidFill>
                <a:latin typeface="Arial"/>
              </a:rPr>
              <a:t>Hold patient safety at 100%</a:t>
            </a:r>
          </a:p>
        </p:txBody>
      </p:sp>
      <p:sp>
        <p:nvSpPr>
          <p:cNvPr id="24" name="TextBox 23"/>
          <p:cNvSpPr txBox="1"/>
          <p:nvPr/>
        </p:nvSpPr>
        <p:spPr>
          <a:xfrm>
            <a:off x="4023360" y="3181920"/>
            <a:ext cx="4572000" cy="676656"/>
          </a:xfrm>
          <a:prstGeom prst="rect">
            <a:avLst/>
          </a:prstGeom>
          <a:noFill/>
        </p:spPr>
        <p:txBody>
          <a:bodyPr wrap="square"/>
          <a:lstStyle/>
          <a:p>
            <a:pPr algn="l"/>
            <a:r>
              <a:rPr sz="1100" b="0">
                <a:solidFill>
                  <a:srgbClr val="595959"/>
                </a:solidFill>
                <a:latin typeface="Arial"/>
              </a:rPr>
              <a:t>PID behaviour checks and mock scenarios; OVR awareness; scale fall prevention</a:t>
            </a:r>
          </a:p>
        </p:txBody>
      </p:sp>
      <p:sp>
        <p:nvSpPr>
          <p:cNvPr id="25" name="TextBox 24"/>
          <p:cNvSpPr txBox="1"/>
          <p:nvPr/>
        </p:nvSpPr>
        <p:spPr>
          <a:xfrm>
            <a:off x="8686800" y="3181920"/>
            <a:ext cx="2880360" cy="676656"/>
          </a:xfrm>
          <a:prstGeom prst="rect">
            <a:avLst/>
          </a:prstGeom>
          <a:noFill/>
        </p:spPr>
        <p:txBody>
          <a:bodyPr wrap="square"/>
          <a:lstStyle/>
          <a:p>
            <a:pPr algn="l"/>
            <a:r>
              <a:rPr sz="1000" b="0">
                <a:solidFill>
                  <a:srgbClr val="3B577A"/>
                </a:solidFill>
                <a:latin typeface="Arial"/>
              </a:rPr>
              <a:t>PID 100% at all sites Oct–Dec 2026</a:t>
            </a:r>
          </a:p>
        </p:txBody>
      </p:sp>
      <p:sp>
        <p:nvSpPr>
          <p:cNvPr id="26" name="Oval 25"/>
          <p:cNvSpPr/>
          <p:nvPr/>
        </p:nvSpPr>
        <p:spPr>
          <a:xfrm>
            <a:off x="548640" y="3949920"/>
            <a:ext cx="548640" cy="60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949920"/>
            <a:ext cx="548640" cy="600000"/>
          </a:xfrm>
          <a:prstGeom prst="rect">
            <a:avLst/>
          </a:prstGeom>
          <a:noFill/>
        </p:spPr>
        <p:txBody>
          <a:bodyPr wrap="square"/>
          <a:lstStyle/>
          <a:p>
            <a:pPr algn="ctr"/>
            <a:r>
              <a:rPr sz="2200" b="1">
                <a:solidFill>
                  <a:srgbClr val="FFFFFF"/>
                </a:solidFill>
                <a:latin typeface="Arial"/>
              </a:rPr>
              <a:t>4</a:t>
            </a:r>
          </a:p>
        </p:txBody>
      </p:sp>
      <p:sp>
        <p:nvSpPr>
          <p:cNvPr id="28" name="Rounded Rectangle 27"/>
          <p:cNvSpPr/>
          <p:nvPr/>
        </p:nvSpPr>
        <p:spPr>
          <a:xfrm>
            <a:off x="1143000" y="3949920"/>
            <a:ext cx="10497312" cy="676656"/>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3949920"/>
            <a:ext cx="2743200" cy="676656"/>
          </a:xfrm>
          <a:prstGeom prst="rect">
            <a:avLst/>
          </a:prstGeom>
          <a:noFill/>
        </p:spPr>
        <p:txBody>
          <a:bodyPr wrap="square"/>
          <a:lstStyle/>
          <a:p>
            <a:pPr algn="l"/>
            <a:r>
              <a:rPr sz="1400" b="1">
                <a:solidFill>
                  <a:srgbClr val="325277"/>
                </a:solidFill>
                <a:latin typeface="Arial"/>
              </a:rPr>
              <a:t>Make School Health visible</a:t>
            </a:r>
          </a:p>
        </p:txBody>
      </p:sp>
      <p:sp>
        <p:nvSpPr>
          <p:cNvPr id="30" name="TextBox 29"/>
          <p:cNvSpPr txBox="1"/>
          <p:nvPr/>
        </p:nvSpPr>
        <p:spPr>
          <a:xfrm>
            <a:off x="4023360" y="3949920"/>
            <a:ext cx="4572000" cy="676656"/>
          </a:xfrm>
          <a:prstGeom prst="rect">
            <a:avLst/>
          </a:prstGeom>
          <a:noFill/>
        </p:spPr>
        <p:txBody>
          <a:bodyPr wrap="square"/>
          <a:lstStyle/>
          <a:p>
            <a:pPr algn="l"/>
            <a:r>
              <a:rPr sz="1100" b="0">
                <a:solidFill>
                  <a:srgbClr val="595959"/>
                </a:solidFill>
                <a:latin typeface="Arial"/>
              </a:rPr>
              <a:t>Add School Health KPIs to the monthly report; verify coverage denominators; decide the AN pilot</a:t>
            </a:r>
          </a:p>
        </p:txBody>
      </p:sp>
      <p:sp>
        <p:nvSpPr>
          <p:cNvPr id="31" name="TextBox 30"/>
          <p:cNvSpPr txBox="1"/>
          <p:nvPr/>
        </p:nvSpPr>
        <p:spPr>
          <a:xfrm>
            <a:off x="8686800" y="3949920"/>
            <a:ext cx="2880360" cy="676656"/>
          </a:xfrm>
          <a:prstGeom prst="rect">
            <a:avLst/>
          </a:prstGeom>
          <a:noFill/>
        </p:spPr>
        <p:txBody>
          <a:bodyPr wrap="square"/>
          <a:lstStyle/>
          <a:p>
            <a:pPr algn="l"/>
            <a:r>
              <a:rPr sz="1000" b="0">
                <a:solidFill>
                  <a:srgbClr val="3B577A"/>
                </a:solidFill>
                <a:latin typeface="Arial"/>
              </a:rPr>
              <a:t>School vaccination ≥95% per term (obj. 14)</a:t>
            </a:r>
          </a:p>
        </p:txBody>
      </p:sp>
      <p:sp>
        <p:nvSpPr>
          <p:cNvPr id="32" name="Oval 31"/>
          <p:cNvSpPr/>
          <p:nvPr/>
        </p:nvSpPr>
        <p:spPr>
          <a:xfrm>
            <a:off x="548640" y="4717920"/>
            <a:ext cx="548640" cy="600000"/>
          </a:xfrm>
          <a:prstGeom prst="ellipse">
            <a:avLst/>
          </a:prstGeom>
          <a:solidFill>
            <a:srgbClr val="3252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717920"/>
            <a:ext cx="548640" cy="600000"/>
          </a:xfrm>
          <a:prstGeom prst="rect">
            <a:avLst/>
          </a:prstGeom>
          <a:noFill/>
        </p:spPr>
        <p:txBody>
          <a:bodyPr wrap="square"/>
          <a:lstStyle/>
          <a:p>
            <a:pPr algn="ctr"/>
            <a:r>
              <a:rPr sz="2200" b="1">
                <a:solidFill>
                  <a:srgbClr val="FFFFFF"/>
                </a:solidFill>
                <a:latin typeface="Arial"/>
              </a:rPr>
              <a:t>5</a:t>
            </a:r>
          </a:p>
        </p:txBody>
      </p:sp>
      <p:sp>
        <p:nvSpPr>
          <p:cNvPr id="34" name="Rounded Rectangle 33"/>
          <p:cNvSpPr/>
          <p:nvPr/>
        </p:nvSpPr>
        <p:spPr>
          <a:xfrm>
            <a:off x="1143000" y="4717920"/>
            <a:ext cx="10497312" cy="676656"/>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80160" y="4717920"/>
            <a:ext cx="2743200" cy="676656"/>
          </a:xfrm>
          <a:prstGeom prst="rect">
            <a:avLst/>
          </a:prstGeom>
          <a:noFill/>
        </p:spPr>
        <p:txBody>
          <a:bodyPr wrap="square"/>
          <a:lstStyle/>
          <a:p>
            <a:pPr algn="l"/>
            <a:r>
              <a:rPr sz="1400" b="1">
                <a:solidFill>
                  <a:srgbClr val="325277"/>
                </a:solidFill>
                <a:latin typeface="Arial"/>
              </a:rPr>
              <a:t>Lift culture, EBP and data quality</a:t>
            </a:r>
          </a:p>
        </p:txBody>
      </p:sp>
      <p:sp>
        <p:nvSpPr>
          <p:cNvPr id="36" name="TextBox 35"/>
          <p:cNvSpPr txBox="1"/>
          <p:nvPr/>
        </p:nvSpPr>
        <p:spPr>
          <a:xfrm>
            <a:off x="4023360" y="4717920"/>
            <a:ext cx="4572000" cy="676656"/>
          </a:xfrm>
          <a:prstGeom prst="rect">
            <a:avLst/>
          </a:prstGeom>
          <a:noFill/>
        </p:spPr>
        <p:txBody>
          <a:bodyPr wrap="square"/>
          <a:lstStyle/>
          <a:p>
            <a:pPr algn="l"/>
            <a:r>
              <a:rPr sz="1100" b="0">
                <a:solidFill>
                  <a:srgbClr val="595959"/>
                </a:solidFill>
                <a:latin typeface="Arial"/>
              </a:rPr>
              <a:t>2026–27 culture plan; activate EBP council and ≥1 research topic; one target register</a:t>
            </a:r>
          </a:p>
        </p:txBody>
      </p:sp>
      <p:sp>
        <p:nvSpPr>
          <p:cNvPr id="37" name="TextBox 36"/>
          <p:cNvSpPr txBox="1"/>
          <p:nvPr/>
        </p:nvSpPr>
        <p:spPr>
          <a:xfrm>
            <a:off x="8686800" y="4717920"/>
            <a:ext cx="2880360" cy="676656"/>
          </a:xfrm>
          <a:prstGeom prst="rect">
            <a:avLst/>
          </a:prstGeom>
          <a:noFill/>
        </p:spPr>
        <p:txBody>
          <a:bodyPr wrap="square"/>
          <a:lstStyle/>
          <a:p>
            <a:pPr algn="l"/>
            <a:r>
              <a:rPr sz="1000" b="0">
                <a:solidFill>
                  <a:srgbClr val="3B577A"/>
                </a:solidFill>
                <a:latin typeface="Arial"/>
              </a:rPr>
              <a:t>Culture score up; ≥1 approved topic (obj. 26)</a:t>
            </a:r>
          </a:p>
        </p:txBody>
      </p:sp>
      <p:sp>
        <p:nvSpPr>
          <p:cNvPr id="38" name="TextBox 37"/>
          <p:cNvSpPr txBox="1"/>
          <p:nvPr/>
        </p:nvSpPr>
        <p:spPr>
          <a:xfrm>
            <a:off x="548640" y="5504688"/>
            <a:ext cx="11091672" cy="274320"/>
          </a:xfrm>
          <a:prstGeom prst="rect">
            <a:avLst/>
          </a:prstGeom>
          <a:noFill/>
        </p:spPr>
        <p:txBody>
          <a:bodyPr wrap="square"/>
          <a:lstStyle/>
          <a:p>
            <a:pPr algn="l"/>
            <a:r>
              <a:rPr sz="1000" b="0">
                <a:solidFill>
                  <a:srgbClr val="595959"/>
                </a:solidFill>
                <a:latin typeface="Arial"/>
              </a:rPr>
              <a:t>Measure column = targets already approved in the Nursing Operational Plan 2026 or the QIP charter; no new targets introduced.</a:t>
            </a:r>
          </a:p>
        </p:txBody>
      </p:sp>
      <p:sp>
        <p:nvSpPr>
          <p:cNvPr id="39" name="TextBox 38"/>
          <p:cNvSpPr txBox="1"/>
          <p:nvPr/>
        </p:nvSpPr>
        <p:spPr>
          <a:xfrm>
            <a:off x="548640" y="6217920"/>
            <a:ext cx="11094415" cy="274320"/>
          </a:xfrm>
          <a:prstGeom prst="rect">
            <a:avLst/>
          </a:prstGeom>
          <a:noFill/>
        </p:spPr>
        <p:txBody>
          <a:bodyPr wrap="square"/>
          <a:lstStyle/>
          <a:p>
            <a:pPr algn="l"/>
            <a:r>
              <a:rPr sz="900" b="0">
                <a:solidFill>
                  <a:srgbClr val="A9B4C6"/>
                </a:solidFill>
                <a:latin typeface="Arial"/>
              </a:rPr>
              <a:t>Source: Nursing Operational Plan 2026; QIP-PTID-AJM-2026; leadership completion scan (14 Sep 2026); AN School Health Pilot Proposal v3.1; Culture 2026–27 action plan.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411480"/>
            <a:ext cx="1737360" cy="749808"/>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hs_logo.png"/>
          <p:cNvPicPr>
            <a:picLocks noChangeAspect="1"/>
          </p:cNvPicPr>
          <p:nvPr/>
        </p:nvPicPr>
        <p:blipFill>
          <a:blip r:embed="rId2"/>
          <a:stretch>
            <a:fillRect/>
          </a:stretch>
        </p:blipFill>
        <p:spPr>
          <a:xfrm>
            <a:off x="576072" y="457200"/>
            <a:ext cx="1591056" cy="658368"/>
          </a:xfrm>
          <a:prstGeom prst="rect">
            <a:avLst/>
          </a:prstGeom>
        </p:spPr>
      </p:pic>
      <p:sp>
        <p:nvSpPr>
          <p:cNvPr id="4" name="TextBox 3"/>
          <p:cNvSpPr txBox="1"/>
          <p:nvPr/>
        </p:nvSpPr>
        <p:spPr>
          <a:xfrm>
            <a:off x="822960" y="1417320"/>
            <a:ext cx="10515600" cy="365760"/>
          </a:xfrm>
          <a:prstGeom prst="rect">
            <a:avLst/>
          </a:prstGeom>
          <a:noFill/>
        </p:spPr>
        <p:txBody>
          <a:bodyPr wrap="square"/>
          <a:lstStyle/>
          <a:p>
            <a:pPr algn="l"/>
            <a:r>
              <a:rPr sz="2800" b="1">
                <a:solidFill>
                  <a:srgbClr val="325277"/>
                </a:solidFill>
                <a:latin typeface="Arial"/>
              </a:rPr>
              <a:t>VISION FOR AJMAN NURSING</a:t>
            </a:r>
          </a:p>
        </p:txBody>
      </p:sp>
      <p:sp>
        <p:nvSpPr>
          <p:cNvPr id="5" name="TextBox 4"/>
          <p:cNvSpPr txBox="1"/>
          <p:nvPr/>
        </p:nvSpPr>
        <p:spPr>
          <a:xfrm>
            <a:off x="822960" y="1828800"/>
            <a:ext cx="10515600" cy="1097280"/>
          </a:xfrm>
          <a:prstGeom prst="rect">
            <a:avLst/>
          </a:prstGeom>
          <a:noFill/>
        </p:spPr>
        <p:txBody>
          <a:bodyPr wrap="square"/>
          <a:lstStyle/>
          <a:p>
            <a:pPr algn="l"/>
            <a:r>
              <a:rPr sz="1600" b="0">
                <a:solidFill>
                  <a:srgbClr val="595959"/>
                </a:solidFill>
                <a:latin typeface="Arial"/>
              </a:rPr>
              <a:t>One community nursing system that keeps Ajman well — from the school clinic to the health centre and back home.</a:t>
            </a:r>
          </a:p>
        </p:txBody>
      </p:sp>
      <p:sp>
        <p:nvSpPr>
          <p:cNvPr id="6" name="Rounded Rectangle 5"/>
          <p:cNvSpPr/>
          <p:nvPr/>
        </p:nvSpPr>
        <p:spPr>
          <a:xfrm>
            <a:off x="822960" y="3383280"/>
            <a:ext cx="256032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9960" y="3520440"/>
            <a:ext cx="2286000" cy="411480"/>
          </a:xfrm>
          <a:prstGeom prst="rect">
            <a:avLst/>
          </a:prstGeom>
          <a:noFill/>
        </p:spPr>
        <p:txBody>
          <a:bodyPr wrap="square"/>
          <a:lstStyle/>
          <a:p>
            <a:pPr algn="ctr"/>
            <a:r>
              <a:rPr sz="1800" b="1">
                <a:solidFill>
                  <a:srgbClr val="325277"/>
                </a:solidFill>
                <a:latin typeface="Arial"/>
              </a:rPr>
              <a:t>Every patient</a:t>
            </a:r>
          </a:p>
        </p:txBody>
      </p:sp>
      <p:sp>
        <p:nvSpPr>
          <p:cNvPr id="8" name="TextBox 7"/>
          <p:cNvSpPr txBox="1"/>
          <p:nvPr/>
        </p:nvSpPr>
        <p:spPr>
          <a:xfrm>
            <a:off x="959960" y="3977640"/>
            <a:ext cx="2286000" cy="685800"/>
          </a:xfrm>
          <a:prstGeom prst="rect">
            <a:avLst/>
          </a:prstGeom>
          <a:noFill/>
        </p:spPr>
        <p:txBody>
          <a:bodyPr wrap="square"/>
          <a:lstStyle/>
          <a:p>
            <a:pPr algn="ctr"/>
            <a:r>
              <a:rPr sz="1400" b="0">
                <a:solidFill>
                  <a:srgbClr val="595959"/>
                </a:solidFill>
                <a:latin typeface="Arial"/>
              </a:rPr>
              <a:t>identified correctly, every time</a:t>
            </a:r>
          </a:p>
        </p:txBody>
      </p:sp>
      <p:sp>
        <p:nvSpPr>
          <p:cNvPr id="9" name="Rounded Rectangle 8"/>
          <p:cNvSpPr/>
          <p:nvPr/>
        </p:nvSpPr>
        <p:spPr>
          <a:xfrm>
            <a:off x="3563280" y="3383280"/>
            <a:ext cx="256032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0280" y="3520440"/>
            <a:ext cx="2286000" cy="411480"/>
          </a:xfrm>
          <a:prstGeom prst="rect">
            <a:avLst/>
          </a:prstGeom>
          <a:noFill/>
        </p:spPr>
        <p:txBody>
          <a:bodyPr wrap="square"/>
          <a:lstStyle/>
          <a:p>
            <a:pPr algn="ctr"/>
            <a:r>
              <a:rPr sz="1800" b="1">
                <a:solidFill>
                  <a:srgbClr val="325277"/>
                </a:solidFill>
                <a:latin typeface="Arial"/>
              </a:rPr>
              <a:t>Every school</a:t>
            </a:r>
          </a:p>
        </p:txBody>
      </p:sp>
      <p:sp>
        <p:nvSpPr>
          <p:cNvPr id="11" name="TextBox 10"/>
          <p:cNvSpPr txBox="1"/>
          <p:nvPr/>
        </p:nvSpPr>
        <p:spPr>
          <a:xfrm>
            <a:off x="3700280" y="3977640"/>
            <a:ext cx="2286000" cy="685800"/>
          </a:xfrm>
          <a:prstGeom prst="rect">
            <a:avLst/>
          </a:prstGeom>
          <a:noFill/>
        </p:spPr>
        <p:txBody>
          <a:bodyPr wrap="square"/>
          <a:lstStyle/>
          <a:p>
            <a:pPr algn="ctr"/>
            <a:r>
              <a:rPr sz="1400" b="0">
                <a:solidFill>
                  <a:srgbClr val="595959"/>
                </a:solidFill>
                <a:latin typeface="Arial"/>
              </a:rPr>
              <a:t>covered by a prepared nurse</a:t>
            </a:r>
          </a:p>
        </p:txBody>
      </p:sp>
      <p:sp>
        <p:nvSpPr>
          <p:cNvPr id="12" name="Rounded Rectangle 11"/>
          <p:cNvSpPr/>
          <p:nvPr/>
        </p:nvSpPr>
        <p:spPr>
          <a:xfrm>
            <a:off x="6303600" y="3383280"/>
            <a:ext cx="256032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0600" y="3520440"/>
            <a:ext cx="2286000" cy="411480"/>
          </a:xfrm>
          <a:prstGeom prst="rect">
            <a:avLst/>
          </a:prstGeom>
          <a:noFill/>
        </p:spPr>
        <p:txBody>
          <a:bodyPr wrap="square"/>
          <a:lstStyle/>
          <a:p>
            <a:pPr algn="ctr"/>
            <a:r>
              <a:rPr sz="1800" b="1">
                <a:solidFill>
                  <a:srgbClr val="325277"/>
                </a:solidFill>
                <a:latin typeface="Arial"/>
              </a:rPr>
              <a:t>Every nurse</a:t>
            </a:r>
          </a:p>
        </p:txBody>
      </p:sp>
      <p:sp>
        <p:nvSpPr>
          <p:cNvPr id="14" name="TextBox 13"/>
          <p:cNvSpPr txBox="1"/>
          <p:nvPr/>
        </p:nvSpPr>
        <p:spPr>
          <a:xfrm>
            <a:off x="6440600" y="3977640"/>
            <a:ext cx="2286000" cy="685800"/>
          </a:xfrm>
          <a:prstGeom prst="rect">
            <a:avLst/>
          </a:prstGeom>
          <a:noFill/>
        </p:spPr>
        <p:txBody>
          <a:bodyPr wrap="square"/>
          <a:lstStyle/>
          <a:p>
            <a:pPr algn="ctr"/>
            <a:r>
              <a:rPr sz="1400" b="0">
                <a:solidFill>
                  <a:srgbClr val="595959"/>
                </a:solidFill>
                <a:latin typeface="Arial"/>
              </a:rPr>
              <a:t>validated, developed, heard</a:t>
            </a:r>
          </a:p>
        </p:txBody>
      </p:sp>
      <p:sp>
        <p:nvSpPr>
          <p:cNvPr id="15" name="Rounded Rectangle 14"/>
          <p:cNvSpPr/>
          <p:nvPr/>
        </p:nvSpPr>
        <p:spPr>
          <a:xfrm>
            <a:off x="9043920" y="3383280"/>
            <a:ext cx="2560320" cy="1371600"/>
          </a:xfrm>
          <a:prstGeom prst="roundRect">
            <a:avLst>
              <a:gd name="adj" fmla="val 5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0920" y="3520440"/>
            <a:ext cx="2286000" cy="411480"/>
          </a:xfrm>
          <a:prstGeom prst="rect">
            <a:avLst/>
          </a:prstGeom>
          <a:noFill/>
        </p:spPr>
        <p:txBody>
          <a:bodyPr wrap="square"/>
          <a:lstStyle/>
          <a:p>
            <a:pPr algn="ctr"/>
            <a:r>
              <a:rPr sz="1800" b="1">
                <a:solidFill>
                  <a:srgbClr val="325277"/>
                </a:solidFill>
                <a:latin typeface="Arial"/>
              </a:rPr>
              <a:t>Every number</a:t>
            </a:r>
          </a:p>
        </p:txBody>
      </p:sp>
      <p:sp>
        <p:nvSpPr>
          <p:cNvPr id="17" name="TextBox 16"/>
          <p:cNvSpPr txBox="1"/>
          <p:nvPr/>
        </p:nvSpPr>
        <p:spPr>
          <a:xfrm>
            <a:off x="9180920" y="3977640"/>
            <a:ext cx="2286000" cy="685800"/>
          </a:xfrm>
          <a:prstGeom prst="rect">
            <a:avLst/>
          </a:prstGeom>
          <a:noFill/>
        </p:spPr>
        <p:txBody>
          <a:bodyPr wrap="square"/>
          <a:lstStyle/>
          <a:p>
            <a:pPr algn="ctr"/>
            <a:r>
              <a:rPr sz="1400" b="0">
                <a:solidFill>
                  <a:srgbClr val="595959"/>
                </a:solidFill>
                <a:latin typeface="Arial"/>
              </a:rPr>
              <a:t>traceable to its source</a:t>
            </a:r>
          </a:p>
        </p:txBody>
      </p:sp>
      <p:sp>
        <p:nvSpPr>
          <p:cNvPr id="18" name="TextBox 17"/>
          <p:cNvSpPr txBox="1"/>
          <p:nvPr/>
        </p:nvSpPr>
        <p:spPr>
          <a:xfrm>
            <a:off x="822960" y="5029200"/>
            <a:ext cx="10515600" cy="320040"/>
          </a:xfrm>
          <a:prstGeom prst="rect">
            <a:avLst/>
          </a:prstGeom>
          <a:noFill/>
        </p:spPr>
        <p:txBody>
          <a:bodyPr wrap="square"/>
          <a:lstStyle/>
          <a:p>
            <a:pPr algn="ctr"/>
            <a:r>
              <a:rPr sz="1100" b="0">
                <a:solidFill>
                  <a:srgbClr val="A9B4C6"/>
                </a:solidFill>
                <a:latin typeface="Arial"/>
              </a:rPr>
              <a:t>Aspirational statement proposed for leadership endorsement — not an approved EHS vision.</a:t>
            </a:r>
          </a:p>
        </p:txBody>
      </p:sp>
      <p:sp>
        <p:nvSpPr>
          <p:cNvPr id="19" name="TextBox 18"/>
          <p:cNvSpPr txBox="1"/>
          <p:nvPr/>
        </p:nvSpPr>
        <p:spPr>
          <a:xfrm>
            <a:off x="822960" y="6035040"/>
            <a:ext cx="10515600" cy="365760"/>
          </a:xfrm>
          <a:prstGeom prst="rect">
            <a:avLst/>
          </a:prstGeom>
          <a:noFill/>
        </p:spPr>
        <p:txBody>
          <a:bodyPr wrap="square"/>
          <a:lstStyle/>
          <a:p>
            <a:pPr algn="ctr"/>
            <a:r>
              <a:rPr sz="1200" b="0">
                <a:solidFill>
                  <a:srgbClr val="595959"/>
                </a:solidFill>
                <a:latin typeface="Arial"/>
              </a:rPr>
              <a:t>Thank you  ·  Nursing Administration — Ajman PHC, PHS &amp; School Health  ·  Classification: Internal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